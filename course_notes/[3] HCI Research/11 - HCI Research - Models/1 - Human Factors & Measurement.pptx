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Amatic SC"/>
      <p:regular r:id="rId32"/>
      <p:bold r:id="rId33"/>
    </p:embeddedFont>
    <p:embeddedFont>
      <p:font typeface="Source Code Pr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AmaticSC-bold.fntdata"/><Relationship Id="rId10" Type="http://schemas.openxmlformats.org/officeDocument/2006/relationships/slide" Target="slides/slide5.xml"/><Relationship Id="rId32" Type="http://schemas.openxmlformats.org/officeDocument/2006/relationships/font" Target="fonts/AmaticSC-regular.fntdata"/><Relationship Id="rId13" Type="http://schemas.openxmlformats.org/officeDocument/2006/relationships/slide" Target="slides/slide8.xml"/><Relationship Id="rId35" Type="http://schemas.openxmlformats.org/officeDocument/2006/relationships/font" Target="fonts/SourceCodePro-bold.fntdata"/><Relationship Id="rId12" Type="http://schemas.openxmlformats.org/officeDocument/2006/relationships/slide" Target="slides/slide7.xml"/><Relationship Id="rId34" Type="http://schemas.openxmlformats.org/officeDocument/2006/relationships/font" Target="fonts/SourceCodePro-regular.fntdata"/><Relationship Id="rId15" Type="http://schemas.openxmlformats.org/officeDocument/2006/relationships/slide" Target="slides/slide10.xml"/><Relationship Id="rId37" Type="http://schemas.openxmlformats.org/officeDocument/2006/relationships/font" Target="fonts/SourceCodePro-boldItalic.fntdata"/><Relationship Id="rId14" Type="http://schemas.openxmlformats.org/officeDocument/2006/relationships/slide" Target="slides/slide9.xml"/><Relationship Id="rId36" Type="http://schemas.openxmlformats.org/officeDocument/2006/relationships/font" Target="fonts/SourceCodePro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0619238f58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0619238f58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2ccd50eb0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2ccd50eb0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cb313fa5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cb313fa5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cb313fa5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cb313fa5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cb313fa5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cb313fa5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cb313fa5b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cb313fa5b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cb313fa5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cb313fa5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cb313fa5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cb313fa5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cb313fa5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cb313fa5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cb313fa5b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cb313fa5b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cb313fa5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cb313fa5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cb313fa5b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cb313fa5b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b313fa5b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cb313fa5b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cb313fa5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cb313fa5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e11ed7f5f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e11ed7f5f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cb313fa5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cb313fa5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cb313fa5b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cb313fa5b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cb313fa5b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acb313fa5b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cb313fa5b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cb313fa5b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cb313fa5b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cb313fa5b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cb313fa5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cb313fa5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cb313fa5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cb313fa5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2ccd50eb0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2ccd50eb0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cb313fa5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cb313fa5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cb313fa5b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cb313fa5b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996300" y="4804800"/>
            <a:ext cx="115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IUM 25-26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Human Factors &amp; Measurement</a:t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4338225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roberto.figlie@phd.unipi.it</a:t>
            </a:r>
            <a:endParaRPr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4027" y="4510127"/>
            <a:ext cx="362375" cy="3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Lesson outline</a:t>
            </a:r>
            <a:endParaRPr/>
          </a:p>
        </p:txBody>
      </p:sp>
      <p:sp>
        <p:nvSpPr>
          <p:cNvPr id="65" name="Google Shape;65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Fundamentals of psychometrics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Usability scales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Mental workload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Data quality in empirical studies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800">
                <a:highlight>
                  <a:schemeClr val="accent6"/>
                </a:highlight>
              </a:rPr>
              <a:t>Human Factors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Human factors</a:t>
            </a:r>
            <a:r>
              <a:rPr lang="it"/>
              <a:t> (or ergonomics): understanding human capabilities and limits (cognitive, physical, social) and designing systems around them.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In </a:t>
            </a:r>
            <a:r>
              <a:rPr b="1" lang="it"/>
              <a:t>HCI</a:t>
            </a:r>
            <a:r>
              <a:rPr lang="it"/>
              <a:t>, human factors is about how people </a:t>
            </a:r>
            <a:r>
              <a:rPr b="1" lang="it"/>
              <a:t>perceive</a:t>
            </a:r>
            <a:r>
              <a:rPr lang="it"/>
              <a:t>, </a:t>
            </a:r>
            <a:r>
              <a:rPr b="1" lang="it"/>
              <a:t>think</a:t>
            </a:r>
            <a:r>
              <a:rPr lang="it"/>
              <a:t>, </a:t>
            </a:r>
            <a:r>
              <a:rPr b="1" lang="it"/>
              <a:t>move</a:t>
            </a:r>
            <a:r>
              <a:rPr lang="it"/>
              <a:t>, </a:t>
            </a:r>
            <a:r>
              <a:rPr b="1" lang="it"/>
              <a:t>decide</a:t>
            </a:r>
            <a:r>
              <a:rPr lang="it"/>
              <a:t>, and </a:t>
            </a:r>
            <a:r>
              <a:rPr b="1" lang="it"/>
              <a:t>fail </a:t>
            </a:r>
            <a:r>
              <a:rPr lang="it" u="sng"/>
              <a:t>when interacting with digital systems</a:t>
            </a:r>
            <a:r>
              <a:rPr lang="i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Measurement is central because: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We want to know </a:t>
            </a:r>
            <a:r>
              <a:rPr lang="it" u="sng"/>
              <a:t>how well a system fits the human</a:t>
            </a:r>
            <a:r>
              <a:rPr lang="it"/>
              <a:t> (performance, errors, workload, satisfaction).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We need numbers</a:t>
            </a:r>
            <a:r>
              <a:rPr lang="it"/>
              <a:t> (read “facts and data”) to justify design decisions and claims.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Notice how they map to ISO and Nielsen definitions of usability.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800"/>
              <a:t>Why </a:t>
            </a:r>
            <a:r>
              <a:rPr lang="it" sz="4800">
                <a:highlight>
                  <a:schemeClr val="accent6"/>
                </a:highlight>
              </a:rPr>
              <a:t>Measure</a:t>
            </a:r>
            <a:r>
              <a:rPr lang="it" sz="4800"/>
              <a:t> in </a:t>
            </a:r>
            <a:r>
              <a:rPr lang="it" sz="4800">
                <a:highlight>
                  <a:schemeClr val="accent6"/>
                </a:highlight>
              </a:rPr>
              <a:t>HCI?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Without measurement, design/research is mostly opinion, habit, or aesthetics.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We want evidence about: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Performance</a:t>
            </a:r>
            <a:r>
              <a:rPr lang="it"/>
              <a:t>: task time, error rate, throughput, learning curve.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Experience</a:t>
            </a:r>
            <a:r>
              <a:rPr lang="it"/>
              <a:t>: perceived usability, mental workload, reliance, perceived control.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Safety</a:t>
            </a:r>
            <a:r>
              <a:rPr lang="it"/>
              <a:t>: near-misses, critical incidents, recovery.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By measuring we are allowed to: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Compare </a:t>
            </a:r>
            <a:r>
              <a:rPr lang="it"/>
              <a:t>versions, devices, or interaction techniques.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Diagnose </a:t>
            </a:r>
            <a:r>
              <a:rPr lang="it"/>
              <a:t>where and why users struggle.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Build cumulative </a:t>
            </a:r>
            <a:r>
              <a:rPr b="1" lang="it"/>
              <a:t>know</a:t>
            </a:r>
            <a:r>
              <a:rPr lang="it"/>
              <a:t>ledge: results that generalize beyond one project.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4800"/>
              <a:t>From </a:t>
            </a:r>
            <a:r>
              <a:rPr lang="it" sz="4800">
                <a:highlight>
                  <a:schemeClr val="accent6"/>
                </a:highlight>
              </a:rPr>
              <a:t>Constructs</a:t>
            </a:r>
            <a:r>
              <a:rPr lang="it" sz="4800"/>
              <a:t> to </a:t>
            </a:r>
            <a:r>
              <a:rPr lang="it" sz="4800">
                <a:highlight>
                  <a:schemeClr val="accent5"/>
                </a:highlight>
              </a:rPr>
              <a:t>Indicators</a:t>
            </a:r>
            <a:endParaRPr>
              <a:highlight>
                <a:schemeClr val="accent5"/>
              </a:highlight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Most things we care about are </a:t>
            </a:r>
            <a:r>
              <a:rPr b="1" lang="it"/>
              <a:t>latent constructs</a:t>
            </a:r>
            <a:r>
              <a:rPr lang="it"/>
              <a:t>: “usability”, “mental workload”, “reliance”, “engagement”, “learning”.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We don’t observe them directly, </a:t>
            </a:r>
            <a:r>
              <a:rPr b="1" lang="it"/>
              <a:t>we observe indicators</a:t>
            </a:r>
            <a:r>
              <a:rPr lang="it"/>
              <a:t>: questionnaires, task times, error counts, clicks, eye movements, physiology.</a:t>
            </a:r>
            <a:endParaRPr/>
          </a:p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Mapping problem</a:t>
            </a:r>
            <a:r>
              <a:rPr lang="it"/>
              <a:t>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➔"/>
            </a:pPr>
            <a:r>
              <a:rPr lang="it"/>
              <a:t>Same construct can have multiple indicators.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it"/>
              <a:t>Same indicator can be influenced by different constructs (long task time = bad UI, or just unfamiliarity).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Good measurement requires</a:t>
            </a:r>
            <a:r>
              <a:rPr lang="it"/>
              <a:t>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 </a:t>
            </a:r>
            <a:r>
              <a:rPr lang="it" u="sng"/>
              <a:t>clear definition </a:t>
            </a:r>
            <a:r>
              <a:rPr lang="it"/>
              <a:t>of the </a:t>
            </a:r>
            <a:r>
              <a:rPr lang="it" u="sng"/>
              <a:t>construct</a:t>
            </a:r>
            <a:r>
              <a:rPr lang="it"/>
              <a:t>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A </a:t>
            </a:r>
            <a:r>
              <a:rPr lang="it" u="sng"/>
              <a:t>plausible link </a:t>
            </a:r>
            <a:r>
              <a:rPr lang="it"/>
              <a:t>between </a:t>
            </a:r>
            <a:r>
              <a:rPr lang="it" u="sng"/>
              <a:t>construct </a:t>
            </a:r>
            <a:r>
              <a:rPr lang="it"/>
              <a:t>and </a:t>
            </a:r>
            <a:r>
              <a:rPr lang="it" u="sng"/>
              <a:t>indicator</a:t>
            </a:r>
            <a:r>
              <a:rPr lang="it"/>
              <a:t>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 u="sng"/>
              <a:t>Awareness </a:t>
            </a:r>
            <a:r>
              <a:rPr lang="it"/>
              <a:t>of limitations and alternative explanations.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Fundamentals of Psychometrics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accent6"/>
                </a:highlight>
              </a:rPr>
              <a:t>Psychometrics</a:t>
            </a:r>
            <a:r>
              <a:rPr lang="it"/>
              <a:t> in a Nutshell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Psychometrics is the science of </a:t>
            </a:r>
            <a:r>
              <a:rPr b="1" lang="it"/>
              <a:t>designing</a:t>
            </a:r>
            <a:r>
              <a:rPr lang="it"/>
              <a:t>, </a:t>
            </a:r>
            <a:r>
              <a:rPr b="1" lang="it"/>
              <a:t>evaluating</a:t>
            </a:r>
            <a:r>
              <a:rPr lang="it"/>
              <a:t>, and </a:t>
            </a:r>
            <a:r>
              <a:rPr b="1" lang="it"/>
              <a:t>interpreting psychological measures</a:t>
            </a:r>
            <a:r>
              <a:rPr lang="i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Main goals: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Create instruments that are reliable (stable, consistent).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Ensure they are valid (actually measure the intended construct).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Understand measurement error and its impact on conclusions.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u="sng"/>
              <a:t>In HCI we borrow and adapt scales</a:t>
            </a:r>
            <a:r>
              <a:rPr lang="it"/>
              <a:t> (SUS, NASA-TLX, reliancscales, etc.).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We also sometimes build new scales for new technologies or contexts (CUS).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Measuring </a:t>
            </a:r>
            <a:r>
              <a:rPr lang="it">
                <a:highlight>
                  <a:schemeClr val="accent6"/>
                </a:highlight>
              </a:rPr>
              <a:t>the Right Construct</a:t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Validity</a:t>
            </a:r>
            <a:r>
              <a:rPr lang="it"/>
              <a:t>: are we measuring what we think we are measuring?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Main aspects: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Content </a:t>
            </a:r>
            <a:r>
              <a:rPr lang="it"/>
              <a:t>validity: items adequately cover the construct’s domain (usability = effectiveness, efficiency, satisfaction).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Construct </a:t>
            </a:r>
            <a:r>
              <a:rPr lang="it"/>
              <a:t>validity: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Convergent</a:t>
            </a:r>
            <a:r>
              <a:rPr lang="it"/>
              <a:t>: correlates with related constructs (e.g., two usability scales).</a:t>
            </a:r>
            <a:endParaRPr/>
          </a:p>
          <a:p>
            <a:pPr indent="-29749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b="1" lang="it"/>
              <a:t>Discriminant</a:t>
            </a:r>
            <a:r>
              <a:rPr lang="it"/>
              <a:t>: doesn’t correlate too strongly with unrelated constructs (e.g., usability vs personality).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Criterion </a:t>
            </a:r>
            <a:r>
              <a:rPr lang="it"/>
              <a:t>validity: predicts relevant outcomes (higher usability scores → fewer errors, faster task times).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>
                <a:highlight>
                  <a:srgbClr val="FFF2CC"/>
                </a:highlight>
              </a:rPr>
              <a:t>A scale can be highly reliable but invalid (measures something else very consistently).</a:t>
            </a:r>
            <a:endParaRPr>
              <a:highlight>
                <a:srgbClr val="FFF2C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>
                <a:highlight>
                  <a:srgbClr val="FFF2CC"/>
                </a:highlight>
              </a:rPr>
              <a:t>Popularity is not proof of validity in your specific context of use.</a:t>
            </a:r>
            <a:endParaRPr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accent6"/>
                </a:highlight>
              </a:rPr>
              <a:t>Consistency </a:t>
            </a:r>
            <a:r>
              <a:rPr lang="it"/>
              <a:t>of Measurement</a:t>
            </a:r>
            <a:endParaRPr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Reliability </a:t>
            </a:r>
            <a:r>
              <a:rPr lang="it"/>
              <a:t>≈ how much of the score is signal vs noise.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3 types:</a:t>
            </a:r>
            <a:endParaRPr/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Internal consistency</a:t>
            </a:r>
            <a:r>
              <a:rPr lang="it"/>
              <a:t>: do items that are supposed to measure the same thing correlate? (Cronbach’s alpha, omega).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Test–retest reliability</a:t>
            </a:r>
            <a:r>
              <a:rPr lang="it"/>
              <a:t>: if the underlying construct doesn’t change, do scores remain similar over time?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Inter-rater reliability</a:t>
            </a:r>
            <a:r>
              <a:rPr lang="it"/>
              <a:t>: when human raters code behavior, do they agree?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/>
              <a:t>Low reliability → more random error: </a:t>
            </a:r>
            <a:endParaRPr sz="1800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it" sz="1800"/>
              <a:t>Reduces statistical power (harder to detect real effects).</a:t>
            </a:r>
            <a:endParaRPr sz="1800"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 sz="1800"/>
              <a:t>Can mask real differences between interfaces.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 sz="1800"/>
              <a:t>Practical actions:</a:t>
            </a:r>
            <a:endParaRPr sz="1800"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 sz="1800"/>
              <a:t>Check item–total correlations; remove or revise problematic items.</a:t>
            </a:r>
            <a:endParaRPr sz="1800"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 sz="1800"/>
              <a:t>Avoid extremely vague or double-barreled items.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Measurement </a:t>
            </a:r>
            <a:r>
              <a:rPr lang="it">
                <a:highlight>
                  <a:schemeClr val="accent6"/>
                </a:highlight>
              </a:rPr>
              <a:t>Scales</a:t>
            </a:r>
            <a:r>
              <a:rPr lang="it"/>
              <a:t> &amp; </a:t>
            </a:r>
            <a:r>
              <a:rPr lang="it">
                <a:highlight>
                  <a:schemeClr val="accent6"/>
                </a:highlight>
              </a:rPr>
              <a:t>Likert</a:t>
            </a:r>
            <a:r>
              <a:rPr lang="it"/>
              <a:t> Responses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Quantitative variables differ in scale type:</a:t>
            </a:r>
            <a:endParaRPr/>
          </a:p>
          <a:p>
            <a:pPr indent="-31083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Nominal</a:t>
            </a:r>
            <a:r>
              <a:rPr lang="it"/>
              <a:t>: categories without order (</a:t>
            </a:r>
            <a:r>
              <a:rPr lang="it"/>
              <a:t>device: </a:t>
            </a:r>
            <a:r>
              <a:rPr lang="it"/>
              <a:t>phone, tablet, desktop).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Ordinal</a:t>
            </a:r>
            <a:r>
              <a:rPr lang="it"/>
              <a:t>: ordered but unknown interval size (Likert “strongly disagree”→“strongly agree”).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Interval</a:t>
            </a:r>
            <a:r>
              <a:rPr lang="it"/>
              <a:t>: equal distances, but arbitrary zero (°C, calendar years) → you </a:t>
            </a:r>
            <a:r>
              <a:rPr b="1" lang="it"/>
              <a:t>CANNOT </a:t>
            </a:r>
            <a:r>
              <a:rPr lang="it"/>
              <a:t>multiply!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Ratio</a:t>
            </a:r>
            <a:r>
              <a:rPr lang="it"/>
              <a:t>: equal distances, meaningful zero (duration in s, Kelvin, euros) → you </a:t>
            </a:r>
            <a:r>
              <a:rPr b="1" lang="it"/>
              <a:t>CAN </a:t>
            </a:r>
            <a:r>
              <a:rPr lang="it"/>
              <a:t>multiply!</a:t>
            </a:r>
            <a:endParaRPr/>
          </a:p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Likert</a:t>
            </a:r>
            <a:r>
              <a:rPr lang="it"/>
              <a:t> items: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Strictly ordinal, but often treated as approx. interval when: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We aggregate several items into sum or mean scores.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Response options are balanced and symmetric.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 u="sng"/>
              <a:t>This is extremely important when considering which the hypothesis test to employ!</a:t>
            </a:r>
            <a:endParaRPr u="sn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Usability Scales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Measuring Usability as a Construct</a:t>
            </a:r>
            <a:endParaRPr/>
          </a:p>
        </p:txBody>
      </p:sp>
      <p:sp>
        <p:nvSpPr>
          <p:cNvPr id="126" name="Google Shape;126;p24"/>
          <p:cNvSpPr txBox="1"/>
          <p:nvPr>
            <p:ph idx="2" type="body"/>
          </p:nvPr>
        </p:nvSpPr>
        <p:spPr>
          <a:xfrm>
            <a:off x="311925" y="2286675"/>
            <a:ext cx="8520600" cy="22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Questionnaires are qu</a:t>
            </a:r>
            <a:r>
              <a:rPr lang="it"/>
              <a:t>ick to administer, allow users to summarize their </a:t>
            </a:r>
            <a:r>
              <a:rPr lang="it"/>
              <a:t>experience, and p</a:t>
            </a:r>
            <a:r>
              <a:rPr lang="it"/>
              <a:t>rovide a single or few numbers to compare systems.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But perceived usability can diverge from objective performance</a:t>
            </a:r>
            <a:r>
              <a:rPr lang="it"/>
              <a:t> (people can like a system that is actually slower).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it"/>
            </a:br>
            <a:r>
              <a:rPr lang="it"/>
              <a:t>Good practice: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Combine subjective usability scores with task performance.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Select scales that match your system and research question.</a:t>
            </a:r>
            <a:endParaRPr/>
          </a:p>
        </p:txBody>
      </p:sp>
      <p:sp>
        <p:nvSpPr>
          <p:cNvPr id="127" name="Google Shape;127;p24"/>
          <p:cNvSpPr/>
          <p:nvPr/>
        </p:nvSpPr>
        <p:spPr>
          <a:xfrm>
            <a:off x="1023225" y="1413475"/>
            <a:ext cx="7108500" cy="73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65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degree to which a system can be used by specified users to achieve specified goals</a:t>
            </a:r>
            <a:r>
              <a:rPr b="1" lang="it" sz="1065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effectively, efficiently, and satisfactorily </a:t>
            </a:r>
            <a:r>
              <a:rPr lang="it" sz="1065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 a specified context of use.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8" name="Google Shape;128;p24"/>
          <p:cNvSpPr/>
          <p:nvPr/>
        </p:nvSpPr>
        <p:spPr>
          <a:xfrm>
            <a:off x="1060175" y="1093850"/>
            <a:ext cx="2242200" cy="319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65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Usability (ISO 9241-11)</a:t>
            </a:r>
            <a:endParaRPr sz="17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accent6"/>
                </a:highlight>
              </a:rPr>
              <a:t>System Usability Scale</a:t>
            </a:r>
            <a:r>
              <a:rPr lang="it"/>
              <a:t> (SUS)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it"/>
              <a:t>10 items, 5-point agreement scale, technology-agnostic.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it"/>
              <a:t>The odd-numbered questions (1, 3, 5, 7, 9) are positive statements, the even-numbered questions (2, 4, 6, 8, 10) are negative statements.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it"/>
              <a:t>Items are summed → 0-100 score.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Strengths</a:t>
            </a:r>
            <a:r>
              <a:rPr lang="it"/>
              <a:t>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Huge body of data and meta-analyses in the literature.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Works across many domains, quick to administer.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Limitations</a:t>
            </a:r>
            <a:r>
              <a:rPr lang="it"/>
              <a:t>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Some items are awkwardly worded or dated.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Mixes usability with attitudinal acceptance and perceived satisfaction.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Use when: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You need a </a:t>
            </a:r>
            <a:r>
              <a:rPr b="1" lang="it"/>
              <a:t>simple</a:t>
            </a:r>
            <a:r>
              <a:rPr lang="it"/>
              <a:t>, </a:t>
            </a:r>
            <a:r>
              <a:rPr b="1" lang="it"/>
              <a:t>comparable </a:t>
            </a:r>
            <a:r>
              <a:rPr lang="it"/>
              <a:t>global </a:t>
            </a:r>
            <a:r>
              <a:rPr b="1" lang="it"/>
              <a:t>usability score</a:t>
            </a:r>
            <a:r>
              <a:rPr lang="it"/>
              <a:t>.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You want to </a:t>
            </a:r>
            <a:r>
              <a:rPr b="1" lang="it"/>
              <a:t>benchmark against other systems </a:t>
            </a:r>
            <a:r>
              <a:rPr lang="it"/>
              <a:t>or prior studies.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accent6"/>
                </a:highlight>
              </a:rPr>
              <a:t>UMUX</a:t>
            </a:r>
            <a:r>
              <a:rPr lang="it"/>
              <a:t> and </a:t>
            </a:r>
            <a:r>
              <a:rPr lang="it">
                <a:highlight>
                  <a:schemeClr val="accent6"/>
                </a:highlight>
              </a:rPr>
              <a:t>UMUX-Lite</a:t>
            </a:r>
            <a:r>
              <a:rPr lang="it"/>
              <a:t> 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it"/>
              <a:t>UMUX (Usability Metric for User Experience): 4 items focused on ISO usability components (usefulness, ease of use, etc.).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it"/>
              <a:t>UMUX-Lite: 2 items (perceived usefulness + ease of use); extremely short.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6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Strengths</a:t>
            </a:r>
            <a:r>
              <a:rPr lang="it"/>
              <a:t>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Less burden compared to SUS.</a:t>
            </a:r>
            <a:br>
              <a:rPr lang="it"/>
            </a:b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Often correlates strongly with SUS.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Limitations</a:t>
            </a:r>
            <a:r>
              <a:rPr lang="it"/>
              <a:t>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Fewer items → more sensitive to noise or context.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Ha</a:t>
            </a:r>
            <a:r>
              <a:rPr lang="it"/>
              <a:t>rder to diagnose why usability is low.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Use when: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Survey </a:t>
            </a:r>
            <a:r>
              <a:rPr b="1" lang="it"/>
              <a:t>time is scarce</a:t>
            </a:r>
            <a:r>
              <a:rPr lang="it"/>
              <a:t> (mobile, in-the-wild studies).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You need a global usability measurement but </a:t>
            </a:r>
            <a:r>
              <a:rPr b="1" lang="it"/>
              <a:t>can’t afford 10 items</a:t>
            </a:r>
            <a:r>
              <a:rPr lang="it"/>
              <a:t> (participants’ attention, many post task surveys)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accent6"/>
                </a:highlight>
              </a:rPr>
              <a:t>Chatbot Usability Scale</a:t>
            </a:r>
            <a:r>
              <a:rPr lang="it"/>
              <a:t> (BUS-11)</a:t>
            </a:r>
            <a:endParaRPr/>
          </a:p>
        </p:txBody>
      </p:sp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it"/>
              <a:t>Dedicated scale for chatbot-specific usability / satisfaction, capturing things generic scales (SUS, UMUX) miss: conversation quality, context management, privacy, response time, not just “ease of use”.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b="1" lang="it"/>
              <a:t>BUS-11</a:t>
            </a:r>
            <a:r>
              <a:rPr lang="it"/>
              <a:t>: </a:t>
            </a:r>
            <a:r>
              <a:rPr lang="it"/>
              <a:t>11 items, 5-point Likert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it"/>
              <a:t>Provides also an heuristic approach for designers (BUS-CHECK)</a:t>
            </a:r>
            <a:endParaRPr/>
          </a:p>
        </p:txBody>
      </p:sp>
      <p:sp>
        <p:nvSpPr>
          <p:cNvPr id="149" name="Google Shape;149;p27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Strengths</a:t>
            </a:r>
            <a:r>
              <a:rPr lang="it"/>
              <a:t>:</a:t>
            </a:r>
            <a:endParaRPr/>
          </a:p>
          <a:p>
            <a:pPr indent="-2908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Specific for chatbots.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Validated across several languages and contexts (EN, DE, NL, ES, IT), suitable for cross-country studies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S</a:t>
            </a:r>
            <a:r>
              <a:rPr lang="it"/>
              <a:t>trong convergent validity with UMUX-Lite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Limitations</a:t>
            </a:r>
            <a:r>
              <a:rPr lang="it"/>
              <a:t>:</a:t>
            </a:r>
            <a:endParaRPr/>
          </a:p>
          <a:p>
            <a:pPr indent="-2908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Relatively young, evidence in literature is still thinner.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Mainly focused on satisfaction and perceived quality.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Use when:</a:t>
            </a:r>
            <a:endParaRPr/>
          </a:p>
          <a:p>
            <a:pPr indent="-2908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You want chatbot-specific insight </a:t>
            </a:r>
            <a:r>
              <a:rPr b="1" lang="it"/>
              <a:t>beyond SUS/UMUX</a:t>
            </a:r>
            <a:r>
              <a:rPr lang="it"/>
              <a:t>.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it"/>
              <a:t>You </a:t>
            </a:r>
            <a:r>
              <a:rPr b="1" lang="it"/>
              <a:t>compare </a:t>
            </a:r>
            <a:r>
              <a:rPr lang="it"/>
              <a:t>multiple </a:t>
            </a:r>
            <a:r>
              <a:rPr b="1" lang="it"/>
              <a:t>chatbots </a:t>
            </a:r>
            <a:r>
              <a:rPr lang="it"/>
              <a:t>or versions, also in </a:t>
            </a:r>
            <a:r>
              <a:rPr b="1" lang="it"/>
              <a:t>different languages</a:t>
            </a:r>
            <a:r>
              <a:rPr lang="it"/>
              <a:t>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Mental Workload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accent6"/>
                </a:highlight>
              </a:rPr>
              <a:t>Why</a:t>
            </a:r>
            <a:r>
              <a:rPr lang="it"/>
              <a:t> We Care About It?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Mental workload</a:t>
            </a:r>
            <a:r>
              <a:rPr lang="it"/>
              <a:t> can be roughly defined as the </a:t>
            </a:r>
            <a:r>
              <a:rPr b="1" lang="it"/>
              <a:t>amount of cognitive resources</a:t>
            </a:r>
            <a:r>
              <a:rPr lang="it"/>
              <a:t> required </a:t>
            </a:r>
            <a:r>
              <a:rPr b="1" lang="it"/>
              <a:t>to meet task demands</a:t>
            </a:r>
            <a:r>
              <a:rPr lang="i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Usually, it depends on: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Task complexity and time pressure.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Interface/technology (clarity, feedback, information density).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User factors (expertise, fatigue, stress).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Theoretically the expected consequences should: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Too low</a:t>
            </a:r>
            <a:r>
              <a:rPr lang="it"/>
              <a:t> → very easy tasks, higher performance, mostly automatic.</a:t>
            </a:r>
            <a:endParaRPr b="1"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Too high</a:t>
            </a:r>
            <a:r>
              <a:rPr lang="it"/>
              <a:t> → errors, slower performance, unsafe behavior, stress.</a:t>
            </a:r>
            <a:endParaRPr/>
          </a:p>
          <a:p>
            <a:pPr indent="457200" lvl="0" marL="41148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But this is not always the case, or it could be even wrong! </a:t>
            </a:r>
            <a:endParaRPr/>
          </a:p>
        </p:txBody>
      </p:sp>
      <p:sp>
        <p:nvSpPr>
          <p:cNvPr id="161" name="Google Shape;161;p29"/>
          <p:cNvSpPr/>
          <p:nvPr/>
        </p:nvSpPr>
        <p:spPr>
          <a:xfrm>
            <a:off x="7189275" y="4535050"/>
            <a:ext cx="1643100" cy="39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762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it" sz="3750">
                <a:highlight>
                  <a:schemeClr val="dk1"/>
                </a:highlight>
              </a:rPr>
              <a:t>ALl that</a:t>
            </a:r>
            <a:r>
              <a:rPr lang="it" sz="3750"/>
              <a:t> </a:t>
            </a:r>
            <a:r>
              <a:rPr lang="it" sz="3750"/>
              <a:t>Glitters Is Not </a:t>
            </a:r>
            <a:r>
              <a:rPr lang="it" sz="3750">
                <a:highlight>
                  <a:schemeClr val="accent6"/>
                </a:highlight>
              </a:rPr>
              <a:t>Gold	</a:t>
            </a:r>
            <a:r>
              <a:rPr lang="it" sz="3750"/>
              <a:t>pt.1</a:t>
            </a:r>
            <a:endParaRPr sz="3750"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There are </a:t>
            </a:r>
            <a:r>
              <a:rPr b="1" lang="it"/>
              <a:t>tens of possible definitions </a:t>
            </a:r>
            <a:r>
              <a:rPr lang="it"/>
              <a:t>of Mental Workload.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Before using it, </a:t>
            </a:r>
            <a:r>
              <a:rPr b="1" lang="it"/>
              <a:t>clarify if it make sense and how </a:t>
            </a:r>
            <a:r>
              <a:rPr lang="it"/>
              <a:t>in your study.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And remember, </a:t>
            </a:r>
            <a:r>
              <a:rPr b="1" lang="it"/>
              <a:t>Mental Workload ≠ Cognitive Load</a:t>
            </a:r>
            <a:r>
              <a:rPr lang="it"/>
              <a:t>.</a:t>
            </a:r>
            <a:endParaRPr/>
          </a:p>
        </p:txBody>
      </p:sp>
      <p:pic>
        <p:nvPicPr>
          <p:cNvPr id="168" name="Google Shape;16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9700" y="863150"/>
            <a:ext cx="6024300" cy="341719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0"/>
          <p:cNvSpPr txBox="1"/>
          <p:nvPr/>
        </p:nvSpPr>
        <p:spPr>
          <a:xfrm>
            <a:off x="3187350" y="4182550"/>
            <a:ext cx="5889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L. Longo, C. D. Wickens, G. Hancock, and P. A. Hancock, “Human Mental Workload: A Survey and a Novel Inclusive Definition,” Front. Psychol., vol. 13, June 2022, doi: 10.3389/fpsyg.2022.883321.</a:t>
            </a:r>
            <a:endParaRPr sz="11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dk1"/>
                </a:highlight>
              </a:rPr>
              <a:t>ALl that</a:t>
            </a:r>
            <a:r>
              <a:rPr lang="it"/>
              <a:t> </a:t>
            </a:r>
            <a:r>
              <a:rPr lang="it"/>
              <a:t>Glitters Is Not </a:t>
            </a:r>
            <a:r>
              <a:rPr lang="it">
                <a:highlight>
                  <a:schemeClr val="accent6"/>
                </a:highlight>
              </a:rPr>
              <a:t>Gold</a:t>
            </a:r>
            <a:r>
              <a:rPr lang="it"/>
              <a:t>	pt.2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311700" y="1228675"/>
            <a:ext cx="8520600" cy="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Moreover, the </a:t>
            </a:r>
            <a:r>
              <a:rPr b="1" lang="it"/>
              <a:t>relationship</a:t>
            </a:r>
            <a:r>
              <a:rPr lang="it"/>
              <a:t> between mental </a:t>
            </a:r>
            <a:r>
              <a:rPr b="1" lang="it"/>
              <a:t>workload </a:t>
            </a:r>
            <a:r>
              <a:rPr lang="it"/>
              <a:t>and </a:t>
            </a:r>
            <a:r>
              <a:rPr b="1" lang="it"/>
              <a:t>performance </a:t>
            </a:r>
            <a:r>
              <a:rPr lang="it"/>
              <a:t>is </a:t>
            </a:r>
            <a:r>
              <a:rPr b="1" lang="it"/>
              <a:t>unclear</a:t>
            </a:r>
            <a:r>
              <a:rPr lang="it"/>
              <a:t>: it could be that it follows the </a:t>
            </a:r>
            <a:r>
              <a:rPr b="1" lang="it"/>
              <a:t>Yerkes-Dodson Law</a:t>
            </a:r>
            <a:r>
              <a:rPr lang="it"/>
              <a:t>.</a:t>
            </a:r>
            <a:endParaRPr/>
          </a:p>
        </p:txBody>
      </p:sp>
      <p:sp>
        <p:nvSpPr>
          <p:cNvPr id="176" name="Google Shape;176;p31"/>
          <p:cNvSpPr txBox="1"/>
          <p:nvPr/>
        </p:nvSpPr>
        <p:spPr>
          <a:xfrm>
            <a:off x="311700" y="4288825"/>
            <a:ext cx="8520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L. Longo and M. Rajendran, “A Novel Parabolic Model of Instructional Efficiency Grounded on Ideal Mental Workload and Performance,” in Human Mental Workload: Models and Applications, L. Longo and M. C. Leva, Eds., Cham: Springer International Publishing, 2021, pp. 11–36. doi: 10.1007/978-3-030-91408-0_2.</a:t>
            </a:r>
            <a:endParaRPr sz="11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77" name="Google Shape;17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613" y="2304603"/>
            <a:ext cx="7656774" cy="1806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MWL Measurement: </a:t>
            </a:r>
            <a:r>
              <a:rPr lang="it">
                <a:highlight>
                  <a:schemeClr val="accent6"/>
                </a:highlight>
              </a:rPr>
              <a:t>NASA-TLX</a:t>
            </a:r>
            <a:endParaRPr>
              <a:highlight>
                <a:schemeClr val="accent6"/>
              </a:highlight>
            </a:endParaRPr>
          </a:p>
        </p:txBody>
      </p:sp>
      <p:sp>
        <p:nvSpPr>
          <p:cNvPr id="183" name="Google Shape;183;p32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Six levels</a:t>
            </a:r>
            <a:r>
              <a:rPr lang="it"/>
              <a:t>: mental, physical, temporal demand, performance, effort, frustration.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2 variants: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Original includes </a:t>
            </a:r>
            <a:r>
              <a:rPr b="1" lang="it"/>
              <a:t>weighting </a:t>
            </a:r>
            <a:r>
              <a:rPr lang="it"/>
              <a:t>between dimensions (pairwise comparisons).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/>
              <a:t>Raw TLX</a:t>
            </a:r>
            <a:r>
              <a:rPr lang="it"/>
              <a:t> uses </a:t>
            </a:r>
            <a:r>
              <a:rPr b="1" lang="it"/>
              <a:t>unweighted </a:t>
            </a:r>
            <a:r>
              <a:rPr lang="it"/>
              <a:t>average of ratings (simpler, widely used, equally valid).</a:t>
            </a:r>
            <a:endParaRPr/>
          </a:p>
        </p:txBody>
      </p:sp>
      <p:sp>
        <p:nvSpPr>
          <p:cNvPr id="184" name="Google Shape;184;p32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Advantages</a:t>
            </a:r>
            <a:r>
              <a:rPr lang="it"/>
              <a:t>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Quick </a:t>
            </a:r>
            <a:r>
              <a:rPr lang="it"/>
              <a:t>to </a:t>
            </a:r>
            <a:r>
              <a:rPr lang="it"/>
              <a:t>administer (only 6 questions).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Very common</a:t>
            </a:r>
            <a:r>
              <a:rPr lang="it"/>
              <a:t> in human factors, aviation, automotive, healthcare, HCI.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Limitations</a:t>
            </a:r>
            <a:r>
              <a:rPr lang="it"/>
              <a:t>:</a:t>
            </a:r>
            <a:endParaRPr/>
          </a:p>
          <a:p>
            <a:pPr indent="-29749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It is </a:t>
            </a:r>
            <a:r>
              <a:rPr b="1" lang="it"/>
              <a:t>subjective</a:t>
            </a:r>
            <a:r>
              <a:rPr lang="it"/>
              <a:t>.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Memory-based</a:t>
            </a:r>
            <a:r>
              <a:rPr lang="it"/>
              <a:t>: cannot capture workload in </a:t>
            </a:r>
            <a:r>
              <a:rPr lang="it"/>
              <a:t>real time</a:t>
            </a:r>
            <a:r>
              <a:rPr lang="it"/>
              <a:t>.</a:t>
            </a:r>
            <a:endParaRPr/>
          </a:p>
          <a:p>
            <a:pPr indent="-29749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It is </a:t>
            </a:r>
            <a:r>
              <a:rPr b="1" lang="it"/>
              <a:t>not linear</a:t>
            </a:r>
            <a:r>
              <a:rPr lang="it"/>
              <a:t>: the steps are not equal → you cannot say “</a:t>
            </a:r>
            <a:r>
              <a:rPr i="1" lang="it"/>
              <a:t>Condition A has 30% more workload than Condition B</a:t>
            </a:r>
            <a:r>
              <a:rPr lang="it"/>
              <a:t>”*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See it as a </a:t>
            </a:r>
            <a:r>
              <a:rPr b="1" lang="it"/>
              <a:t>comparative tool between conditions</a:t>
            </a:r>
            <a:r>
              <a:rPr lang="it"/>
              <a:t> (interfaces, tasks), not as an absolute truth about “true workload”.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464100" y="3925225"/>
            <a:ext cx="3999900" cy="9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it"/>
              <a:t>* </a:t>
            </a:r>
            <a:r>
              <a:rPr lang="it"/>
              <a:t>On limitations, see: E. Babaei, T. Dingler, B. Tag, and E. Velloso, “Should we use the NASA-TLX in HCI? A review of theoretical and methodological issues around Mental Workload Measurement,” International Journal of Human-Computer Studies, vol. 201, p. 103515, June 2025, doi: 10.1016/j.ijhcs.2025.103515.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NASA-TLX</a:t>
            </a:r>
            <a:endParaRPr/>
          </a:p>
        </p:txBody>
      </p:sp>
      <p:pic>
        <p:nvPicPr>
          <p:cNvPr id="191" name="Google Shape;19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1125" y="0"/>
            <a:ext cx="3681738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Other Subjective Workload Measures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b="1" lang="it"/>
              <a:t>SWAT (Subjective Workload Assessment Technique)</a:t>
            </a:r>
            <a:r>
              <a:rPr lang="it"/>
              <a:t>: asks about time pressure, mental effort, and stress, then the overall is converted to %.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b="1" lang="it"/>
              <a:t>RSME</a:t>
            </a:r>
            <a:r>
              <a:rPr lang="it"/>
              <a:t> (Rating Scale Mental Effort): single continuous scale for mental effort.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b="1" lang="it"/>
              <a:t>Bedford Workload Scale</a:t>
            </a:r>
            <a:r>
              <a:rPr lang="it"/>
              <a:t>: unidimensional 10-point rating scale, structured as a hierarchical decision tree.</a:t>
            </a:r>
            <a:endParaRPr/>
          </a:p>
          <a:p>
            <a:pPr indent="-30416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b="1" lang="it"/>
              <a:t>MRQ (Multiple Resources Questionnaire)</a:t>
            </a:r>
            <a:r>
              <a:rPr lang="it"/>
              <a:t>: 17-item questionnaire based on Multiple Resource Theory (visual vs auditory, spatial vs verbal, etc.) </a:t>
            </a:r>
            <a:endParaRPr/>
          </a:p>
        </p:txBody>
      </p:sp>
      <p:sp>
        <p:nvSpPr>
          <p:cNvPr id="198" name="Google Shape;198;p34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Trade-offs</a:t>
            </a:r>
            <a:r>
              <a:rPr lang="it"/>
              <a:t>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Short scales</a:t>
            </a:r>
            <a:r>
              <a:rPr lang="it"/>
              <a:t> (1–3 items)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>
                <a:highlight>
                  <a:srgbClr val="93C47D"/>
                </a:highlight>
              </a:rPr>
              <a:t>+</a:t>
            </a:r>
            <a:r>
              <a:rPr lang="it"/>
              <a:t> Very fast, low burden.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>
                <a:highlight>
                  <a:schemeClr val="accent5"/>
                </a:highlight>
              </a:rPr>
              <a:t>–</a:t>
            </a:r>
            <a:r>
              <a:rPr lang="it"/>
              <a:t> Less detailed, mainly good for simple comparisons (“A &gt; B”</a:t>
            </a:r>
            <a:r>
              <a:rPr lang="it"/>
              <a:t>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Longer</a:t>
            </a:r>
            <a:r>
              <a:rPr lang="it"/>
              <a:t> / multi-dimensional </a:t>
            </a:r>
            <a:r>
              <a:rPr b="1" lang="it"/>
              <a:t>scales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>
                <a:highlight>
                  <a:srgbClr val="93C47D"/>
                </a:highlight>
              </a:rPr>
              <a:t>+</a:t>
            </a:r>
            <a:r>
              <a:rPr lang="it"/>
              <a:t> More diagnostic: show why workload is high (time pressure? info overload? stress?).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>
                <a:highlight>
                  <a:schemeClr val="accent5"/>
                </a:highlight>
              </a:rPr>
              <a:t>–</a:t>
            </a:r>
            <a:r>
              <a:rPr lang="it"/>
              <a:t> Take longer to fill in, can cause fatigue if repeated often.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accent6"/>
                </a:highlight>
              </a:rPr>
              <a:t>Physiological Indicators</a:t>
            </a:r>
            <a:r>
              <a:rPr lang="it"/>
              <a:t> of Workload</a:t>
            </a:r>
            <a:endParaRPr/>
          </a:p>
        </p:txBody>
      </p:sp>
      <p:sp>
        <p:nvSpPr>
          <p:cNvPr id="204" name="Google Shape;204;p3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Heart rate (HR) and heart rate variability (HRV) → arousal, stress, effort.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Pupil dilation → cognitive load, but sensitive to lighting.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Skin conductance (EDA/GSR) → sympathetic arousal.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Eye tracking → fixation patterns, blink rate, gaze transitions.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EEG / fNIRS* → brain-level signals.</a:t>
            </a:r>
            <a:endParaRPr/>
          </a:p>
        </p:txBody>
      </p:sp>
      <p:sp>
        <p:nvSpPr>
          <p:cNvPr id="205" name="Google Shape;205;p3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Pros</a:t>
            </a:r>
            <a:r>
              <a:rPr lang="it"/>
              <a:t>:</a:t>
            </a:r>
            <a:endParaRPr/>
          </a:p>
          <a:p>
            <a:pPr indent="-2908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Continuous over time</a:t>
            </a:r>
            <a:r>
              <a:rPr lang="it"/>
              <a:t>: can capture dynamic changes within a task.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Less prone to self-report biases.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Cons</a:t>
            </a:r>
            <a:r>
              <a:rPr lang="it"/>
              <a:t>:</a:t>
            </a:r>
            <a:endParaRPr/>
          </a:p>
          <a:p>
            <a:pPr indent="-2908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Intrusive</a:t>
            </a:r>
            <a:r>
              <a:rPr lang="it"/>
              <a:t> or uncomfortable sensors, sensitive to artifacts (movement, environment).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it"/>
              <a:t>Interpretation is indirect</a:t>
            </a:r>
            <a:r>
              <a:rPr lang="it"/>
              <a:t>: many signals correlate with general arousal, not only workload.</a:t>
            </a:r>
            <a:endParaRPr/>
          </a:p>
          <a:p>
            <a:pPr indent="-29083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Often require a </a:t>
            </a:r>
            <a:r>
              <a:rPr b="1" lang="it"/>
              <a:t>lab</a:t>
            </a:r>
            <a:r>
              <a:rPr lang="it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Good practice</a:t>
            </a:r>
            <a:r>
              <a:rPr lang="it"/>
              <a:t>:</a:t>
            </a:r>
            <a:endParaRPr/>
          </a:p>
          <a:p>
            <a:pPr indent="-29083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Probably it is a good idea to u</a:t>
            </a:r>
            <a:r>
              <a:rPr lang="it"/>
              <a:t>se physiology to complement behavioral and subjective data, not to replace them.</a:t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311700" y="4421025"/>
            <a:ext cx="51528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it"/>
              <a:t>* EEG: electroencephalogram,</a:t>
            </a:r>
            <a:br>
              <a:rPr lang="it"/>
            </a:br>
            <a:r>
              <a:rPr lang="it"/>
              <a:t>  fNIRS: functional near-infrared spectroscopy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Data Quality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highlight>
                  <a:schemeClr val="accent6"/>
                </a:highlight>
              </a:rPr>
              <a:t>Data Quality</a:t>
            </a:r>
            <a:r>
              <a:rPr lang="it"/>
              <a:t> as a </a:t>
            </a:r>
            <a:r>
              <a:rPr lang="it">
                <a:highlight>
                  <a:schemeClr val="accent5"/>
                </a:highlight>
              </a:rPr>
              <a:t>Research Problem</a:t>
            </a:r>
            <a:endParaRPr>
              <a:highlight>
                <a:schemeClr val="accent5"/>
              </a:highlight>
            </a:endParaRPr>
          </a:p>
        </p:txBody>
      </p:sp>
      <p:sp>
        <p:nvSpPr>
          <p:cNvPr id="217" name="Google Shape;217;p3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Poor data quality = poor measurement of humans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Main threats</a:t>
            </a:r>
            <a:r>
              <a:rPr lang="it"/>
              <a:t>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Inattentive or random responding (speeding, straight-lining).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Misunderstood tasks or questions (ambiguous wording, poor examples).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Demand characteristics: participants respond according to what they think you want. Really insidious!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it"/>
              <a:t>Technical issues: logging errors, missing data, timeouts.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it"/>
              <a:t>In online HCI studies, participants multi-task, use small screens, get distracted, or run ad-blockers that break logging.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Result</a:t>
            </a:r>
            <a:r>
              <a:rPr lang="it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it"/>
              <a:t>Biased or noisy data → </a:t>
            </a:r>
            <a:r>
              <a:rPr b="1" lang="it"/>
              <a:t>false negatives</a:t>
            </a:r>
            <a:r>
              <a:rPr lang="it"/>
              <a:t> (missing real effects) or </a:t>
            </a:r>
            <a:r>
              <a:rPr b="1" lang="it"/>
              <a:t>false positives</a:t>
            </a:r>
            <a:r>
              <a:rPr lang="it"/>
              <a:t> (seeing effects that aren’t robust).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Designing for </a:t>
            </a:r>
            <a:r>
              <a:rPr lang="it">
                <a:highlight>
                  <a:schemeClr val="accent6"/>
                </a:highlight>
              </a:rPr>
              <a:t>Better Data</a:t>
            </a:r>
            <a:r>
              <a:rPr lang="it"/>
              <a:t> Quality</a:t>
            </a:r>
            <a:endParaRPr/>
          </a:p>
        </p:txBody>
      </p:sp>
      <p:sp>
        <p:nvSpPr>
          <p:cNvPr id="223" name="Google Shape;223;p38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Study design</a:t>
            </a:r>
            <a:r>
              <a:rPr lang="it"/>
              <a:t>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Clear</a:t>
            </a:r>
            <a:r>
              <a:rPr lang="it"/>
              <a:t>, </a:t>
            </a:r>
            <a:r>
              <a:rPr b="1" lang="it"/>
              <a:t>concise instructions </a:t>
            </a:r>
            <a:r>
              <a:rPr lang="it"/>
              <a:t>with examples and maybe a practice block.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Limit </a:t>
            </a:r>
            <a:r>
              <a:rPr lang="it"/>
              <a:t>total session </a:t>
            </a:r>
            <a:r>
              <a:rPr b="1" lang="it"/>
              <a:t>duration</a:t>
            </a:r>
            <a:r>
              <a:rPr lang="it"/>
              <a:t>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/>
              <a:t>Align </a:t>
            </a:r>
            <a:r>
              <a:rPr b="1" lang="it"/>
              <a:t>compensation </a:t>
            </a:r>
            <a:r>
              <a:rPr lang="it"/>
              <a:t>with effort.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it"/>
              <a:t>Instruments</a:t>
            </a:r>
            <a:r>
              <a:rPr lang="it"/>
              <a:t>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Pilot </a:t>
            </a:r>
            <a:r>
              <a:rPr lang="it"/>
              <a:t>test </a:t>
            </a:r>
            <a:r>
              <a:rPr b="1" lang="it"/>
              <a:t>questionnaires </a:t>
            </a:r>
            <a:r>
              <a:rPr lang="it"/>
              <a:t>and </a:t>
            </a:r>
            <a:r>
              <a:rPr b="1" lang="it"/>
              <a:t>tasks </a:t>
            </a:r>
            <a:r>
              <a:rPr lang="it"/>
              <a:t>with a small sample.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Avoid jargon</a:t>
            </a:r>
            <a:r>
              <a:rPr lang="it"/>
              <a:t> and </a:t>
            </a:r>
            <a:r>
              <a:rPr b="1" lang="it"/>
              <a:t>multi-barreled questions</a:t>
            </a:r>
            <a:r>
              <a:rPr lang="it"/>
              <a:t> (asking more than a topic at once).</a:t>
            </a:r>
            <a:endParaRPr/>
          </a:p>
        </p:txBody>
      </p:sp>
      <p:sp>
        <p:nvSpPr>
          <p:cNvPr id="224" name="Google Shape;224;p38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/>
              <a:t>Checks and filters</a:t>
            </a:r>
            <a:r>
              <a:rPr lang="it"/>
              <a:t>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Attention checks </a:t>
            </a:r>
            <a:r>
              <a:rPr lang="it"/>
              <a:t>(used carefully and transparently).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Comprehension checks </a:t>
            </a:r>
            <a:r>
              <a:rPr lang="it"/>
              <a:t>to test whether a participant has understood critical information.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it"/>
              <a:t>Look </a:t>
            </a:r>
            <a:r>
              <a:rPr lang="it"/>
              <a:t>out for </a:t>
            </a:r>
            <a:r>
              <a:rPr b="1" lang="it"/>
              <a:t>bots</a:t>
            </a:r>
            <a:r>
              <a:rPr lang="it"/>
              <a:t>, </a:t>
            </a:r>
            <a:r>
              <a:rPr b="1" lang="it"/>
              <a:t>cheaters </a:t>
            </a:r>
            <a:r>
              <a:rPr lang="it"/>
              <a:t>and </a:t>
            </a:r>
            <a:r>
              <a:rPr b="1" lang="it"/>
              <a:t>slackers</a:t>
            </a:r>
            <a:r>
              <a:rPr lang="it"/>
              <a:t>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Monitor task </a:t>
            </a:r>
            <a:r>
              <a:rPr b="1" lang="it"/>
              <a:t>completion times</a:t>
            </a:r>
            <a:r>
              <a:rPr lang="it"/>
              <a:t>: too fast or too slow observations may be suspect.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/>
              <a:t>Look for </a:t>
            </a:r>
            <a:r>
              <a:rPr b="1" lang="it"/>
              <a:t>patterns</a:t>
            </a:r>
            <a:r>
              <a:rPr lang="it"/>
              <a:t>: straight-lining, impossible answer combinations.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