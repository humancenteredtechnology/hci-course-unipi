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Amatic SC"/>
      <p:regular r:id="rId47"/>
      <p:bold r:id="rId48"/>
    </p:embeddedFont>
    <p:embeddedFont>
      <p:font typeface="Source Code Pro"/>
      <p:regular r:id="rId49"/>
      <p:bold r:id="rId50"/>
      <p:italic r:id="rId51"/>
      <p:boldItalic r:id="rId52"/>
    </p:embeddedFont>
    <p:embeddedFont>
      <p:font typeface="Proxima Nova Semibold"/>
      <p:regular r:id="rId53"/>
      <p:bold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maticSC-bold.fntdata"/><Relationship Id="rId47" Type="http://schemas.openxmlformats.org/officeDocument/2006/relationships/font" Target="fonts/AmaticSC-regular.fntdata"/><Relationship Id="rId49" Type="http://schemas.openxmlformats.org/officeDocument/2006/relationships/font" Target="fonts/SourceCodePr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ourceCodePro-italic.fntdata"/><Relationship Id="rId50" Type="http://schemas.openxmlformats.org/officeDocument/2006/relationships/font" Target="fonts/SourceCodePro-bold.fntdata"/><Relationship Id="rId53" Type="http://schemas.openxmlformats.org/officeDocument/2006/relationships/font" Target="fonts/ProximaNovaSemibold-regular.fntdata"/><Relationship Id="rId52" Type="http://schemas.openxmlformats.org/officeDocument/2006/relationships/font" Target="fonts/SourceCodePro-boldItalic.fntdata"/><Relationship Id="rId11" Type="http://schemas.openxmlformats.org/officeDocument/2006/relationships/slide" Target="slides/slide6.xml"/><Relationship Id="rId55" Type="http://schemas.openxmlformats.org/officeDocument/2006/relationships/font" Target="fonts/ProximaNovaSemibold-boldItalic.fntdata"/><Relationship Id="rId10" Type="http://schemas.openxmlformats.org/officeDocument/2006/relationships/slide" Target="slides/slide5.xml"/><Relationship Id="rId54" Type="http://schemas.openxmlformats.org/officeDocument/2006/relationships/font" Target="fonts/ProximaNovaSemibo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pulse/amazons-recommendation-engine-secret-sauce-mario-gavira/"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0619238f5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0619238f5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0619238f5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0619238f5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0619238f5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0619238f5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f194de5f2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f194de5f2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f194de5f2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f194de5f2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194de5f2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f194de5f2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0619238f5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0619238f5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0619238f5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0619238f5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f194de5f23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f194de5f23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0619238f5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0619238f5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0e94e65c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0e94e65c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619238f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619238f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f194de5f23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f194de5f23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f194de5f2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f194de5f2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0e94e65c17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0e94e65c17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0e94e65c17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0e94e65c17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0e94e65c17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0e94e65c17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0e94e65c17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0e94e65c17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0e94e65c1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0e94e65c1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0e94e65c1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0e94e65c1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0e94e65c17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0e94e65c17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0e94e65c17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0e94e65c17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0e94e65c17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0e94e65c17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0e94e65c17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0e94e65c17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0e94e65c17_0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0e94e65c17_0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2"/>
              </a:rPr>
              <a:t>https://www.linkedin.com/pulse/amazons-recommendation-engine-secret-sauce-mario-gavira/</a:t>
            </a:r>
            <a:r>
              <a:rPr lang="it"/>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0e94e65c17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0e94e65c17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0e94e65c1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0e94e65c1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0e94e65c17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0e94e65c17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0e94e65c1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0e94e65c1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0e94e65c1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0e94e65c1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0e94e65c17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0e94e65c17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0e94e65c17_0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0e94e65c17_0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b644ef7ad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b644ef7ad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b644ef7ad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b644ef7ad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b644ef7ad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b644ef7ad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eeb4635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eeb4635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9eeb46356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9eeb46356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eeb46356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9eeb46356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eeb46356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eeb46356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eeb46356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eeb46356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3" name="Google Shape;13;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0" name="Google Shape;20;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4" name="Google Shape;24;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40" name="Google Shape;40;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1" name="Google Shape;41;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9" name="Google Shape;49;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1"/>
              </a:buClr>
              <a:buSzPts val="1800"/>
              <a:buFont typeface="Source Code Pro"/>
              <a:buChar char="●"/>
              <a:defRPr sz="1800">
                <a:solidFill>
                  <a:schemeClr val="accent1"/>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accent1"/>
              </a:buClr>
              <a:buSzPts val="1400"/>
              <a:buFont typeface="Source Code Pro"/>
              <a:buChar char="■"/>
              <a:defRPr>
                <a:solidFill>
                  <a:schemeClr val="accent1"/>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1583850" y="4881425"/>
            <a:ext cx="5976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000">
                <a:latin typeface="Source Code Pro"/>
                <a:ea typeface="Source Code Pro"/>
                <a:cs typeface="Source Code Pro"/>
                <a:sym typeface="Source Code Pro"/>
              </a:rPr>
              <a:t>DANIELE MAZZEI, ROBERTO FIGLIE’, TOMMASO TURCHI - IUM 25-26 </a:t>
            </a:r>
            <a:r>
              <a:rPr lang="it" sz="700">
                <a:latin typeface="Source Code Pro"/>
                <a:ea typeface="Source Code Pro"/>
                <a:cs typeface="Source Code Pro"/>
                <a:sym typeface="Source Code Pro"/>
              </a:rPr>
              <a:t>(all rights reserved)</a:t>
            </a:r>
            <a:endParaRPr sz="7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interaction-design.org/literature/topics/wireframing"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www.usability.gov/how-to-and-tools/methods/wireframing.html" TargetMode="Externa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hyperlink" Target="https://www.justinmind.com/wireframe/low-fidelity-vs-high-fidelity-wireframing-is-paper-dea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interaction-design.org/literature/topics/responsive-design" TargetMode="External"/><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amazon.science/the-history-of-amazons-recommendation-algorithm" TargetMode="Externa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interaction-design.org/literature/topics/accessibilit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jpg"/><Relationship Id="rId4" Type="http://schemas.openxmlformats.org/officeDocument/2006/relationships/image" Target="../media/image7.png"/><Relationship Id="rId5"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3.png"/><Relationship Id="rId5" Type="http://schemas.openxmlformats.org/officeDocument/2006/relationships/image" Target="../media/image14.png"/><Relationship Id="rId6"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careerfoundry.com/en/blog/ux-design/what-are-user-flows/#where-do-user-flows-fit-into-the-ux-design-proces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Wireframing &amp;</a:t>
            </a:r>
            <a:endParaRPr/>
          </a:p>
          <a:p>
            <a:pPr indent="0" lvl="0" marL="0" rtl="0" algn="ctr">
              <a:spcBef>
                <a:spcPts val="0"/>
              </a:spcBef>
              <a:spcAft>
                <a:spcPts val="0"/>
              </a:spcAft>
              <a:buNone/>
            </a:pPr>
            <a:r>
              <a:rPr lang="it"/>
              <a:t>Adaptability</a:t>
            </a:r>
            <a:endParaRPr/>
          </a:p>
        </p:txBody>
      </p:sp>
      <p:sp>
        <p:nvSpPr>
          <p:cNvPr id="58" name="Google Shape;58;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it"/>
              <a:t>roberto.figlie@phd.unipi.it</a:t>
            </a:r>
            <a:endParaRPr/>
          </a:p>
        </p:txBody>
      </p:sp>
      <p:pic>
        <p:nvPicPr>
          <p:cNvPr id="59" name="Google Shape;59;p13"/>
          <p:cNvPicPr preferRelativeResize="0"/>
          <p:nvPr/>
        </p:nvPicPr>
        <p:blipFill>
          <a:blip r:embed="rId3">
            <a:alphaModFix/>
          </a:blip>
          <a:stretch>
            <a:fillRect/>
          </a:stretch>
        </p:blipFill>
        <p:spPr>
          <a:xfrm>
            <a:off x="3999477" y="4098364"/>
            <a:ext cx="362375" cy="36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Lesson Outline</a:t>
            </a:r>
            <a:endParaRPr/>
          </a:p>
        </p:txBody>
      </p:sp>
      <p:sp>
        <p:nvSpPr>
          <p:cNvPr id="65" name="Google Shape;65;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it"/>
              <a:t>Wireframing</a:t>
            </a:r>
            <a:endParaRPr/>
          </a:p>
          <a:p>
            <a:pPr indent="-342900" lvl="0" marL="457200" rtl="0" algn="l">
              <a:spcBef>
                <a:spcPts val="0"/>
              </a:spcBef>
              <a:spcAft>
                <a:spcPts val="0"/>
              </a:spcAft>
              <a:buSzPts val="1800"/>
              <a:buChar char="●"/>
            </a:pPr>
            <a:r>
              <a:rPr lang="it"/>
              <a:t>Adaptability</a:t>
            </a:r>
            <a:endParaRPr/>
          </a:p>
          <a:p>
            <a:pPr indent="-342900" lvl="0" marL="457200" rtl="0" algn="l">
              <a:spcBef>
                <a:spcPts val="0"/>
              </a:spcBef>
              <a:spcAft>
                <a:spcPts val="0"/>
              </a:spcAft>
              <a:buSzPts val="1800"/>
              <a:buChar char="●"/>
            </a:pPr>
            <a:r>
              <a:rPr lang="it"/>
              <a:t>Responsive design</a:t>
            </a:r>
            <a:endParaRPr/>
          </a:p>
          <a:p>
            <a:pPr indent="-342900" lvl="0" marL="457200" rtl="0" algn="l">
              <a:spcBef>
                <a:spcPts val="0"/>
              </a:spcBef>
              <a:spcAft>
                <a:spcPts val="0"/>
              </a:spcAft>
              <a:buSzPts val="1800"/>
              <a:buChar char="●"/>
            </a:pPr>
            <a:r>
              <a:rPr lang="it"/>
              <a:t>Accessibility</a:t>
            </a:r>
            <a:endParaRPr/>
          </a:p>
          <a:p>
            <a:pPr indent="-342900" lvl="0" marL="457200" rtl="0" algn="l">
              <a:spcBef>
                <a:spcPts val="0"/>
              </a:spcBef>
              <a:spcAft>
                <a:spcPts val="0"/>
              </a:spcAft>
              <a:buSzPts val="1800"/>
              <a:buChar char="●"/>
            </a:pPr>
            <a:r>
              <a:rPr lang="it"/>
              <a:t>Wireflows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What is a Wireframe?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Why wireframes?</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800"/>
              <a:t>Suppose you have a wonderful idea for a product (a website, an app, a </a:t>
            </a:r>
            <a:r>
              <a:rPr lang="it" sz="1800"/>
              <a:t>video game, anything</a:t>
            </a:r>
            <a:r>
              <a:rPr lang="it" sz="1800"/>
              <a:t>).</a:t>
            </a:r>
            <a:endParaRPr/>
          </a:p>
          <a:p>
            <a:pPr indent="0" lvl="0" marL="0" rtl="0" algn="l">
              <a:spcBef>
                <a:spcPts val="1200"/>
              </a:spcBef>
              <a:spcAft>
                <a:spcPts val="0"/>
              </a:spcAft>
              <a:buNone/>
            </a:pPr>
            <a:r>
              <a:rPr lang="it" sz="1800"/>
              <a:t>If </a:t>
            </a:r>
            <a:r>
              <a:rPr lang="it" sz="1800"/>
              <a:t>you</a:t>
            </a:r>
            <a:r>
              <a:rPr lang="it" sz="1800"/>
              <a:t> are not capable to convey that idea to other people, everyone will do what they think it is the best. </a:t>
            </a:r>
            <a:r>
              <a:rPr b="1" lang="it" sz="1800"/>
              <a:t>This means that everyone will go in different directions</a:t>
            </a:r>
            <a:r>
              <a:rPr lang="it"/>
              <a:t>!</a:t>
            </a:r>
            <a:endParaRPr/>
          </a:p>
          <a:p>
            <a:pPr indent="0" lvl="0" marL="0" rtl="0" algn="l">
              <a:spcBef>
                <a:spcPts val="1200"/>
              </a:spcBef>
              <a:spcAft>
                <a:spcPts val="1200"/>
              </a:spcAft>
              <a:buNone/>
            </a:pPr>
            <a:r>
              <a:rPr lang="it"/>
              <a:t>Unless you are working alone, and even in that case you may think to have a precise idea of the design you are thinking of, but in fact it is not.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Why </a:t>
            </a:r>
            <a:r>
              <a:rPr lang="it"/>
              <a:t>wireframes</a:t>
            </a:r>
            <a:r>
              <a:rPr lang="it"/>
              <a:t>?</a:t>
            </a:r>
            <a:endParaRPr/>
          </a:p>
        </p:txBody>
      </p:sp>
      <p:sp>
        <p:nvSpPr>
          <p:cNvPr id="82" name="Google Shape;82;p17"/>
          <p:cNvSpPr txBox="1"/>
          <p:nvPr>
            <p:ph idx="1" type="body"/>
          </p:nvPr>
        </p:nvSpPr>
        <p:spPr>
          <a:xfrm>
            <a:off x="311700" y="1228675"/>
            <a:ext cx="44133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What is the best way to clarify a thought process that humans discovered during the past </a:t>
            </a:r>
            <a:r>
              <a:rPr lang="it"/>
              <a:t>millennia? </a:t>
            </a:r>
            <a:endParaRPr/>
          </a:p>
          <a:p>
            <a:pPr indent="0" lvl="0" marL="0" rtl="0" algn="l">
              <a:spcBef>
                <a:spcPts val="1200"/>
              </a:spcBef>
              <a:spcAft>
                <a:spcPts val="1200"/>
              </a:spcAft>
              <a:buNone/>
            </a:pPr>
            <a:r>
              <a:rPr lang="it"/>
              <a:t>Start with </a:t>
            </a:r>
            <a:r>
              <a:rPr b="1" lang="it"/>
              <a:t>pen and paper</a:t>
            </a:r>
            <a:r>
              <a:rPr lang="it"/>
              <a:t>!</a:t>
            </a:r>
            <a:endParaRPr/>
          </a:p>
        </p:txBody>
      </p:sp>
      <p:pic>
        <p:nvPicPr>
          <p:cNvPr id="83" name="Google Shape;83;p17"/>
          <p:cNvPicPr preferRelativeResize="0"/>
          <p:nvPr/>
        </p:nvPicPr>
        <p:blipFill>
          <a:blip r:embed="rId3">
            <a:alphaModFix/>
          </a:blip>
          <a:stretch>
            <a:fillRect/>
          </a:stretch>
        </p:blipFill>
        <p:spPr>
          <a:xfrm>
            <a:off x="4725000" y="1228675"/>
            <a:ext cx="4114201" cy="29861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What is a wireframe?</a:t>
            </a:r>
            <a:endParaRPr/>
          </a:p>
        </p:txBody>
      </p:sp>
      <p:sp>
        <p:nvSpPr>
          <p:cNvPr id="89" name="Google Shape;89;p18"/>
          <p:cNvSpPr txBox="1"/>
          <p:nvPr>
            <p:ph idx="1" type="body"/>
          </p:nvPr>
        </p:nvSpPr>
        <p:spPr>
          <a:xfrm>
            <a:off x="311700" y="1228675"/>
            <a:ext cx="84027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Coming back to developing a product:</a:t>
            </a:r>
            <a:endParaRPr/>
          </a:p>
          <a:p>
            <a:pPr indent="0" lvl="0" marL="0" rtl="0" algn="l">
              <a:spcBef>
                <a:spcPts val="1200"/>
              </a:spcBef>
              <a:spcAft>
                <a:spcPts val="0"/>
              </a:spcAft>
              <a:buNone/>
            </a:pPr>
            <a:r>
              <a:rPr b="1" lang="it" sz="1800"/>
              <a:t>Wireframes are blueprints</a:t>
            </a:r>
            <a:r>
              <a:rPr lang="it" sz="1800"/>
              <a:t> that help </a:t>
            </a:r>
            <a:r>
              <a:rPr b="1" lang="it" sz="1800"/>
              <a:t>communication</a:t>
            </a:r>
            <a:r>
              <a:rPr lang="it" sz="1800"/>
              <a:t> between designers and programmers about the structure of the website or app they are developing.</a:t>
            </a:r>
            <a:endParaRPr sz="1800"/>
          </a:p>
          <a:p>
            <a:pPr indent="0" lvl="0" marL="0" rtl="0" algn="l">
              <a:spcBef>
                <a:spcPts val="1200"/>
              </a:spcBef>
              <a:spcAft>
                <a:spcPts val="0"/>
              </a:spcAft>
              <a:buNone/>
            </a:pPr>
            <a:r>
              <a:rPr lang="it"/>
              <a:t>Wireframes represent the beginning of putting information architecture into practice.</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What is a wireframe?</a:t>
            </a:r>
            <a:endParaRPr/>
          </a:p>
        </p:txBody>
      </p:sp>
      <p:sp>
        <p:nvSpPr>
          <p:cNvPr id="95" name="Google Shape;95;p19"/>
          <p:cNvSpPr txBox="1"/>
          <p:nvPr>
            <p:ph idx="1" type="body"/>
          </p:nvPr>
        </p:nvSpPr>
        <p:spPr>
          <a:xfrm>
            <a:off x="311700" y="1225000"/>
            <a:ext cx="3274500" cy="3614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a:t>The activity of wireframing indicates the </a:t>
            </a:r>
            <a:r>
              <a:rPr b="1" lang="it"/>
              <a:t>process of creating basic sketches</a:t>
            </a:r>
            <a:r>
              <a:rPr lang="it"/>
              <a:t> of a website or application's interface to </a:t>
            </a:r>
            <a:r>
              <a:rPr b="1" lang="it"/>
              <a:t>demonstrate</a:t>
            </a:r>
            <a:r>
              <a:rPr lang="it"/>
              <a:t> its </a:t>
            </a:r>
            <a:r>
              <a:rPr b="1" lang="it"/>
              <a:t>structure</a:t>
            </a:r>
            <a:r>
              <a:rPr lang="it"/>
              <a:t> and </a:t>
            </a:r>
            <a:r>
              <a:rPr b="1" lang="it"/>
              <a:t>layout</a:t>
            </a:r>
            <a:r>
              <a:rPr lang="it"/>
              <a: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sz="1200" u="sng">
                <a:solidFill>
                  <a:schemeClr val="hlink"/>
                </a:solidFill>
                <a:hlinkClick r:id="rId3"/>
              </a:rPr>
              <a:t>https://www.interaction-design.org/literature/topics/wireframing</a:t>
            </a:r>
            <a:r>
              <a:rPr lang="it" sz="1200"/>
              <a:t> </a:t>
            </a:r>
            <a:endParaRPr/>
          </a:p>
        </p:txBody>
      </p:sp>
      <p:pic>
        <p:nvPicPr>
          <p:cNvPr id="96" name="Google Shape;96;p19"/>
          <p:cNvPicPr preferRelativeResize="0"/>
          <p:nvPr/>
        </p:nvPicPr>
        <p:blipFill rotWithShape="1">
          <a:blip r:embed="rId4">
            <a:alphaModFix/>
          </a:blip>
          <a:srcRect b="8186" l="7923" r="4234" t="7418"/>
          <a:stretch/>
        </p:blipFill>
        <p:spPr>
          <a:xfrm>
            <a:off x="3647125" y="924463"/>
            <a:ext cx="5143500" cy="3294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a:t>
            </a:r>
            <a:r>
              <a:rPr lang="it"/>
              <a:t>hat is a wireframe?</a:t>
            </a:r>
            <a:endParaRPr/>
          </a:p>
          <a:p>
            <a:pPr indent="0" lvl="0" marL="0" rtl="0" algn="l">
              <a:spcBef>
                <a:spcPts val="0"/>
              </a:spcBef>
              <a:spcAft>
                <a:spcPts val="0"/>
              </a:spcAft>
              <a:buNone/>
            </a:pPr>
            <a:r>
              <a:t/>
            </a:r>
            <a:endParaRPr/>
          </a:p>
        </p:txBody>
      </p:sp>
      <p:sp>
        <p:nvSpPr>
          <p:cNvPr id="102" name="Google Shape;102;p20"/>
          <p:cNvSpPr txBox="1"/>
          <p:nvPr>
            <p:ph idx="1" type="body"/>
          </p:nvPr>
        </p:nvSpPr>
        <p:spPr>
          <a:xfrm>
            <a:off x="311700" y="1228675"/>
            <a:ext cx="3999900" cy="33402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0"/>
              </a:spcBef>
              <a:spcAft>
                <a:spcPts val="0"/>
              </a:spcAft>
              <a:buNone/>
            </a:pPr>
            <a:r>
              <a:rPr b="1" lang="it" sz="1500"/>
              <a:t>What can?</a:t>
            </a:r>
            <a:endParaRPr b="1" sz="1500"/>
          </a:p>
          <a:p>
            <a:pPr indent="-323850" lvl="0" marL="457200" rtl="0" algn="l">
              <a:lnSpc>
                <a:spcPct val="150000"/>
              </a:lnSpc>
              <a:spcBef>
                <a:spcPts val="1200"/>
              </a:spcBef>
              <a:spcAft>
                <a:spcPts val="0"/>
              </a:spcAft>
              <a:buSzPts val="1500"/>
              <a:buChar char="●"/>
            </a:pPr>
            <a:r>
              <a:rPr lang="it" sz="1500"/>
              <a:t>Give its first visual shape to an information architecture.</a:t>
            </a:r>
            <a:endParaRPr sz="1500"/>
          </a:p>
          <a:p>
            <a:pPr indent="-323850" lvl="0" marL="457200" rtl="0" algn="l">
              <a:lnSpc>
                <a:spcPct val="150000"/>
              </a:lnSpc>
              <a:spcBef>
                <a:spcPts val="0"/>
              </a:spcBef>
              <a:spcAft>
                <a:spcPts val="0"/>
              </a:spcAft>
              <a:buSzPts val="1500"/>
              <a:buChar char="●"/>
            </a:pPr>
            <a:r>
              <a:rPr lang="it" sz="1500"/>
              <a:t>Encourage discussion within the team.</a:t>
            </a:r>
            <a:endParaRPr sz="1500"/>
          </a:p>
          <a:p>
            <a:pPr indent="-323850" lvl="0" marL="457200" rtl="0" algn="l">
              <a:lnSpc>
                <a:spcPct val="150000"/>
              </a:lnSpc>
              <a:spcBef>
                <a:spcPts val="0"/>
              </a:spcBef>
              <a:spcAft>
                <a:spcPts val="0"/>
              </a:spcAft>
              <a:buSzPts val="1500"/>
              <a:buChar char="●"/>
            </a:pPr>
            <a:r>
              <a:rPr lang="it" sz="1500"/>
              <a:t>Determine the </a:t>
            </a:r>
            <a:r>
              <a:rPr lang="it" sz="1500"/>
              <a:t>functionalities</a:t>
            </a:r>
            <a:r>
              <a:rPr lang="it" sz="1500"/>
              <a:t> of the UI.</a:t>
            </a:r>
            <a:endParaRPr sz="1500"/>
          </a:p>
          <a:p>
            <a:pPr indent="0" lvl="0" marL="0" rtl="0" algn="l">
              <a:lnSpc>
                <a:spcPct val="150000"/>
              </a:lnSpc>
              <a:spcBef>
                <a:spcPts val="1200"/>
              </a:spcBef>
              <a:spcAft>
                <a:spcPts val="1200"/>
              </a:spcAft>
              <a:buNone/>
            </a:pPr>
            <a:r>
              <a:t/>
            </a:r>
            <a:endParaRPr sz="1000"/>
          </a:p>
        </p:txBody>
      </p:sp>
      <p:sp>
        <p:nvSpPr>
          <p:cNvPr id="103" name="Google Shape;103;p20"/>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it" sz="1500"/>
              <a:t>What cannot?</a:t>
            </a:r>
            <a:endParaRPr b="1" sz="1500"/>
          </a:p>
          <a:p>
            <a:pPr indent="-323850" lvl="0" marL="457200" rtl="0" algn="l">
              <a:lnSpc>
                <a:spcPct val="150000"/>
              </a:lnSpc>
              <a:spcBef>
                <a:spcPts val="1200"/>
              </a:spcBef>
              <a:spcAft>
                <a:spcPts val="0"/>
              </a:spcAft>
              <a:buSzPts val="1500"/>
              <a:buChar char="●"/>
            </a:pPr>
            <a:r>
              <a:rPr lang="it" sz="1500"/>
              <a:t>Give the feeling of the UI final look.</a:t>
            </a:r>
            <a:endParaRPr sz="1500"/>
          </a:p>
          <a:p>
            <a:pPr indent="-323850" lvl="0" marL="457200" rtl="0" algn="l">
              <a:lnSpc>
                <a:spcPct val="150000"/>
              </a:lnSpc>
              <a:spcBef>
                <a:spcPts val="0"/>
              </a:spcBef>
              <a:spcAft>
                <a:spcPts val="0"/>
              </a:spcAft>
              <a:buSzPts val="1500"/>
              <a:buChar char="●"/>
            </a:pPr>
            <a:r>
              <a:rPr lang="it" sz="1500"/>
              <a:t>Provide working functionalities.</a:t>
            </a:r>
            <a:endParaRPr sz="1500"/>
          </a:p>
          <a:p>
            <a:pPr indent="-323850" lvl="0" marL="457200" rtl="0" algn="l">
              <a:lnSpc>
                <a:spcPct val="150000"/>
              </a:lnSpc>
              <a:spcBef>
                <a:spcPts val="0"/>
              </a:spcBef>
              <a:spcAft>
                <a:spcPts val="0"/>
              </a:spcAft>
              <a:buSzPts val="1500"/>
              <a:buChar char="●"/>
            </a:pPr>
            <a:r>
              <a:rPr lang="it" sz="1500"/>
              <a:t>Guarantee you are understood :)</a:t>
            </a:r>
            <a:endParaRPr sz="1500"/>
          </a:p>
        </p:txBody>
      </p:sp>
      <p:pic>
        <p:nvPicPr>
          <p:cNvPr id="104" name="Google Shape;104;p20"/>
          <p:cNvPicPr preferRelativeResize="0"/>
          <p:nvPr/>
        </p:nvPicPr>
        <p:blipFill>
          <a:blip r:embed="rId3">
            <a:alphaModFix/>
          </a:blip>
          <a:stretch>
            <a:fillRect/>
          </a:stretch>
        </p:blipFill>
        <p:spPr>
          <a:xfrm>
            <a:off x="1794563" y="3975975"/>
            <a:ext cx="1034175" cy="1034175"/>
          </a:xfrm>
          <a:prstGeom prst="rect">
            <a:avLst/>
          </a:prstGeom>
          <a:noFill/>
          <a:ln>
            <a:noFill/>
          </a:ln>
        </p:spPr>
      </p:pic>
      <p:pic>
        <p:nvPicPr>
          <p:cNvPr id="105" name="Google Shape;105;p20"/>
          <p:cNvPicPr preferRelativeResize="0"/>
          <p:nvPr/>
        </p:nvPicPr>
        <p:blipFill>
          <a:blip r:embed="rId4">
            <a:alphaModFix/>
          </a:blip>
          <a:stretch>
            <a:fillRect/>
          </a:stretch>
        </p:blipFill>
        <p:spPr>
          <a:xfrm>
            <a:off x="6315275" y="3975975"/>
            <a:ext cx="1034150" cy="1034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What is a wireframe?</a:t>
            </a:r>
            <a:endParaRPr/>
          </a:p>
          <a:p>
            <a:pPr indent="0" lvl="0" marL="0" rtl="0" algn="l">
              <a:spcBef>
                <a:spcPts val="0"/>
              </a:spcBef>
              <a:spcAft>
                <a:spcPts val="0"/>
              </a:spcAft>
              <a:buNone/>
            </a:pPr>
            <a:r>
              <a:t/>
            </a:r>
            <a:endParaRPr/>
          </a:p>
        </p:txBody>
      </p:sp>
      <p:sp>
        <p:nvSpPr>
          <p:cNvPr id="111" name="Google Shape;111;p21"/>
          <p:cNvSpPr txBox="1"/>
          <p:nvPr>
            <p:ph idx="1" type="body"/>
          </p:nvPr>
        </p:nvSpPr>
        <p:spPr>
          <a:xfrm>
            <a:off x="637050" y="4451350"/>
            <a:ext cx="7869900" cy="5877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it" u="sng">
                <a:solidFill>
                  <a:schemeClr val="hlink"/>
                </a:solidFill>
                <a:hlinkClick r:id="rId3"/>
              </a:rPr>
              <a:t>https://www.usability.gov/how-to-and-tools/methods/wireframing.html</a:t>
            </a:r>
            <a:r>
              <a:rPr lang="it"/>
              <a:t> </a:t>
            </a:r>
            <a:endParaRPr/>
          </a:p>
        </p:txBody>
      </p:sp>
      <p:pic>
        <p:nvPicPr>
          <p:cNvPr id="112" name="Google Shape;112;p21"/>
          <p:cNvPicPr preferRelativeResize="0"/>
          <p:nvPr/>
        </p:nvPicPr>
        <p:blipFill>
          <a:blip r:embed="rId4">
            <a:alphaModFix/>
          </a:blip>
          <a:stretch>
            <a:fillRect/>
          </a:stretch>
        </p:blipFill>
        <p:spPr>
          <a:xfrm>
            <a:off x="2434850" y="1199675"/>
            <a:ext cx="4274285" cy="3052699"/>
          </a:xfrm>
          <a:prstGeom prst="rect">
            <a:avLst/>
          </a:prstGeom>
          <a:noFill/>
          <a:ln>
            <a:noFill/>
          </a:ln>
        </p:spPr>
      </p:pic>
      <p:sp>
        <p:nvSpPr>
          <p:cNvPr id="113" name="Google Shape;113;p21"/>
          <p:cNvSpPr txBox="1"/>
          <p:nvPr>
            <p:ph idx="1" type="body"/>
          </p:nvPr>
        </p:nvSpPr>
        <p:spPr>
          <a:xfrm>
            <a:off x="311700" y="1228675"/>
            <a:ext cx="2123100" cy="138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Example:</a:t>
            </a:r>
            <a:endParaRPr/>
          </a:p>
          <a:p>
            <a:pPr indent="0" lvl="0" marL="457200" rtl="0" algn="l">
              <a:spcBef>
                <a:spcPts val="1200"/>
              </a:spcBef>
              <a:spcAft>
                <a:spcPts val="1200"/>
              </a:spcAft>
              <a:buNone/>
            </a:pPr>
            <a:r>
              <a:t/>
            </a:r>
            <a:endParaRPr/>
          </a:p>
        </p:txBody>
      </p:sp>
      <p:sp>
        <p:nvSpPr>
          <p:cNvPr id="114" name="Google Shape;114;p21"/>
          <p:cNvSpPr txBox="1"/>
          <p:nvPr>
            <p:ph idx="1" type="body"/>
          </p:nvPr>
        </p:nvSpPr>
        <p:spPr>
          <a:xfrm>
            <a:off x="6923925" y="1365850"/>
            <a:ext cx="2123100" cy="2172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it"/>
              <a:t>No colors</a:t>
            </a:r>
            <a:endParaRPr/>
          </a:p>
          <a:p>
            <a:pPr indent="-317500" lvl="0" marL="457200" rtl="0" algn="l">
              <a:spcBef>
                <a:spcPts val="0"/>
              </a:spcBef>
              <a:spcAft>
                <a:spcPts val="0"/>
              </a:spcAft>
              <a:buSzPts val="1400"/>
              <a:buChar char="●"/>
            </a:pPr>
            <a:r>
              <a:rPr lang="it"/>
              <a:t>No images</a:t>
            </a:r>
            <a:endParaRPr/>
          </a:p>
          <a:p>
            <a:pPr indent="-317500" lvl="0" marL="457200" rtl="0" algn="l">
              <a:spcBef>
                <a:spcPts val="0"/>
              </a:spcBef>
              <a:spcAft>
                <a:spcPts val="0"/>
              </a:spcAft>
              <a:buSzPts val="1400"/>
              <a:buChar char="●"/>
            </a:pPr>
            <a:r>
              <a:rPr lang="it"/>
              <a:t>Basic fonts</a:t>
            </a:r>
            <a:endParaRPr/>
          </a:p>
          <a:p>
            <a:pPr indent="0" lvl="0" marL="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Types of wireframes</a:t>
            </a:r>
            <a:endParaRPr/>
          </a:p>
        </p:txBody>
      </p:sp>
      <p:sp>
        <p:nvSpPr>
          <p:cNvPr id="120" name="Google Shape;120;p22"/>
          <p:cNvSpPr txBox="1"/>
          <p:nvPr>
            <p:ph idx="1" type="body"/>
          </p:nvPr>
        </p:nvSpPr>
        <p:spPr>
          <a:xfrm>
            <a:off x="311700" y="1316300"/>
            <a:ext cx="3999900" cy="343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Low-fidelity Wireframes:</a:t>
            </a:r>
            <a:r>
              <a:rPr lang="it"/>
              <a:t> </a:t>
            </a:r>
            <a:endParaRPr/>
          </a:p>
          <a:p>
            <a:pPr indent="0" lvl="0" marL="0" rtl="0" algn="l">
              <a:spcBef>
                <a:spcPts val="1200"/>
              </a:spcBef>
              <a:spcAft>
                <a:spcPts val="0"/>
              </a:spcAft>
              <a:buNone/>
            </a:pPr>
            <a:r>
              <a:rPr lang="it"/>
              <a:t>Simple sketches of the interface, focusing on the structure and layout.</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it"/>
              <a:t>High-fidelity Wireframes: </a:t>
            </a:r>
            <a:endParaRPr b="1"/>
          </a:p>
          <a:p>
            <a:pPr indent="0" lvl="0" marL="0" rtl="0" algn="l">
              <a:spcBef>
                <a:spcPts val="1200"/>
              </a:spcBef>
              <a:spcAft>
                <a:spcPts val="1200"/>
              </a:spcAft>
              <a:buNone/>
            </a:pPr>
            <a:r>
              <a:rPr lang="it"/>
              <a:t>Detailed representation of the interface with basic typography, icons and documentation details.</a:t>
            </a:r>
            <a:endParaRPr/>
          </a:p>
        </p:txBody>
      </p:sp>
      <p:pic>
        <p:nvPicPr>
          <p:cNvPr id="121" name="Google Shape;121;p22"/>
          <p:cNvPicPr preferRelativeResize="0"/>
          <p:nvPr/>
        </p:nvPicPr>
        <p:blipFill>
          <a:blip r:embed="rId3">
            <a:alphaModFix/>
          </a:blip>
          <a:stretch>
            <a:fillRect/>
          </a:stretch>
        </p:blipFill>
        <p:spPr>
          <a:xfrm>
            <a:off x="4309675" y="623900"/>
            <a:ext cx="4834324" cy="3706295"/>
          </a:xfrm>
          <a:prstGeom prst="rect">
            <a:avLst/>
          </a:prstGeom>
          <a:noFill/>
          <a:ln>
            <a:noFill/>
          </a:ln>
        </p:spPr>
      </p:pic>
      <p:sp>
        <p:nvSpPr>
          <p:cNvPr id="122" name="Google Shape;122;p22"/>
          <p:cNvSpPr txBox="1"/>
          <p:nvPr/>
        </p:nvSpPr>
        <p:spPr>
          <a:xfrm>
            <a:off x="4765600" y="4451100"/>
            <a:ext cx="429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900" u="sng">
                <a:solidFill>
                  <a:schemeClr val="hlink"/>
                </a:solidFill>
                <a:latin typeface="Source Code Pro"/>
                <a:ea typeface="Source Code Pro"/>
                <a:cs typeface="Source Code Pro"/>
                <a:sym typeface="Source Code Pro"/>
                <a:hlinkClick r:id="rId4"/>
              </a:rPr>
              <a:t>https://www.justinmind.com/wireframe/low-fidelity-vs-high-fidelity-wireframing-is-paper-dead</a:t>
            </a:r>
            <a:r>
              <a:rPr lang="it" sz="900">
                <a:latin typeface="Source Code Pro"/>
                <a:ea typeface="Source Code Pro"/>
                <a:cs typeface="Source Code Pro"/>
                <a:sym typeface="Source Code Pro"/>
              </a:rPr>
              <a:t> </a:t>
            </a:r>
            <a:endParaRPr sz="900">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Adaptability, Responsive design &amp; Accessibility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role of context</a:t>
            </a:r>
            <a:endParaRPr/>
          </a:p>
        </p:txBody>
      </p:sp>
      <p:sp>
        <p:nvSpPr>
          <p:cNvPr id="133" name="Google Shape;133;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it"/>
              <a:t>Context plays an important role</a:t>
            </a:r>
            <a:r>
              <a:rPr lang="it"/>
              <a:t> in UX Design.</a:t>
            </a:r>
            <a:endParaRPr/>
          </a:p>
          <a:p>
            <a:pPr indent="0" lvl="0" marL="0" rtl="0" algn="l">
              <a:spcBef>
                <a:spcPts val="1200"/>
              </a:spcBef>
              <a:spcAft>
                <a:spcPts val="0"/>
              </a:spcAft>
              <a:buNone/>
            </a:pPr>
            <a:r>
              <a:rPr lang="it"/>
              <a:t>Examples of how context can affect user behavior and preferences:</a:t>
            </a:r>
            <a:endParaRPr/>
          </a:p>
          <a:p>
            <a:pPr indent="-325755" lvl="0" marL="457200" rtl="0" algn="l">
              <a:spcBef>
                <a:spcPts val="1200"/>
              </a:spcBef>
              <a:spcAft>
                <a:spcPts val="0"/>
              </a:spcAft>
              <a:buSzPct val="100000"/>
              <a:buChar char="●"/>
            </a:pPr>
            <a:r>
              <a:rPr lang="it"/>
              <a:t>A user browsing a website on a mobile device may have different needs and behaviors than a user on a desktop computer.</a:t>
            </a:r>
            <a:endParaRPr/>
          </a:p>
          <a:p>
            <a:pPr indent="-325755" lvl="0" marL="457200" rtl="0" algn="l">
              <a:spcBef>
                <a:spcPts val="0"/>
              </a:spcBef>
              <a:spcAft>
                <a:spcPts val="0"/>
              </a:spcAft>
              <a:buSzPct val="100000"/>
              <a:buChar char="●"/>
            </a:pPr>
            <a:r>
              <a:rPr lang="it"/>
              <a:t>A user with an high degree of knowledge in the domain of a website may have different needs and preferences than a user that does not have it.</a:t>
            </a:r>
            <a:endParaRPr/>
          </a:p>
          <a:p>
            <a:pPr indent="0" lvl="0" marL="0" rtl="0" algn="l">
              <a:spcBef>
                <a:spcPts val="1200"/>
              </a:spcBef>
              <a:spcAft>
                <a:spcPts val="0"/>
              </a:spcAft>
              <a:buNone/>
            </a:pPr>
            <a:r>
              <a:rPr lang="it"/>
              <a:t>Context can include a wide range of factors such as user demographics, device, location, culture, and accessibility needs.</a:t>
            </a:r>
            <a:endParaRPr/>
          </a:p>
          <a:p>
            <a:pPr indent="0" lvl="0" marL="0" rtl="0" algn="l">
              <a:spcBef>
                <a:spcPts val="1200"/>
              </a:spcBef>
              <a:spcAft>
                <a:spcPts val="1200"/>
              </a:spcAft>
              <a:buNone/>
            </a:pPr>
            <a:r>
              <a:rPr lang="it"/>
              <a:t>So it</a:t>
            </a:r>
            <a:r>
              <a:rPr lang="it"/>
              <a:t> is important to c</a:t>
            </a:r>
            <a:r>
              <a:rPr lang="it"/>
              <a:t>onduct </a:t>
            </a:r>
            <a:r>
              <a:rPr b="1" lang="it"/>
              <a:t>user research and testing</a:t>
            </a:r>
            <a:r>
              <a:rPr lang="it"/>
              <a:t> to understand the different contexts in which users will interact with the design.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Adaptability</a:t>
            </a:r>
            <a:endParaRPr/>
          </a:p>
        </p:txBody>
      </p:sp>
      <p:sp>
        <p:nvSpPr>
          <p:cNvPr id="139" name="Google Shape;139;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it"/>
              <a:t>Remember: </a:t>
            </a:r>
            <a:r>
              <a:rPr b="1" lang="it"/>
              <a:t>you are not designing for yourself!</a:t>
            </a:r>
            <a:endParaRPr b="1"/>
          </a:p>
          <a:p>
            <a:pPr indent="0" lvl="0" marL="0" rtl="0" algn="l">
              <a:spcBef>
                <a:spcPts val="1200"/>
              </a:spcBef>
              <a:spcAft>
                <a:spcPts val="0"/>
              </a:spcAft>
              <a:buNone/>
            </a:pPr>
            <a:r>
              <a:rPr lang="it"/>
              <a:t>This means two things: </a:t>
            </a:r>
            <a:endParaRPr/>
          </a:p>
          <a:p>
            <a:pPr indent="-342900" lvl="0" marL="457200" rtl="0" algn="l">
              <a:spcBef>
                <a:spcPts val="1200"/>
              </a:spcBef>
              <a:spcAft>
                <a:spcPts val="0"/>
              </a:spcAft>
              <a:buSzPts val="1800"/>
              <a:buAutoNum type="arabicPeriod"/>
            </a:pPr>
            <a:r>
              <a:rPr lang="it"/>
              <a:t>Others think differently from you (subjective and/or cultural differences, etc.).</a:t>
            </a:r>
            <a:endParaRPr/>
          </a:p>
          <a:p>
            <a:pPr indent="-342900" lvl="0" marL="457200" rtl="0" algn="l">
              <a:spcBef>
                <a:spcPts val="0"/>
              </a:spcBef>
              <a:spcAft>
                <a:spcPts val="0"/>
              </a:spcAft>
              <a:buSzPts val="1800"/>
              <a:buAutoNum type="arabicPeriod"/>
            </a:pPr>
            <a:r>
              <a:rPr lang="it"/>
              <a:t>Others have different needs and capabilities (different skills, physical capabilities,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Adaptability</a:t>
            </a:r>
            <a:endParaRPr/>
          </a:p>
        </p:txBody>
      </p:sp>
      <p:sp>
        <p:nvSpPr>
          <p:cNvPr id="145" name="Google Shape;145;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it"/>
              <a:t>Adaptability in UX design is an umbrella term and refers to the ability of a design to adjust and respond to different user needs, contexts, skills, and preferences.</a:t>
            </a:r>
            <a:endParaRPr/>
          </a:p>
          <a:p>
            <a:pPr indent="0" lvl="0" marL="0" rtl="0" algn="l">
              <a:spcBef>
                <a:spcPts val="1200"/>
              </a:spcBef>
              <a:spcAft>
                <a:spcPts val="0"/>
              </a:spcAft>
              <a:buNone/>
            </a:pPr>
            <a:r>
              <a:rPr lang="it"/>
              <a:t>Usually, it covers the notions of:</a:t>
            </a:r>
            <a:endParaRPr/>
          </a:p>
          <a:p>
            <a:pPr indent="-342900" lvl="0" marL="457200" rtl="0" algn="l">
              <a:spcBef>
                <a:spcPts val="1200"/>
              </a:spcBef>
              <a:spcAft>
                <a:spcPts val="0"/>
              </a:spcAft>
              <a:buSzPts val="1800"/>
              <a:buChar char="●"/>
            </a:pPr>
            <a:r>
              <a:rPr lang="it"/>
              <a:t>Responsive design</a:t>
            </a:r>
            <a:endParaRPr/>
          </a:p>
          <a:p>
            <a:pPr indent="-342900" lvl="0" marL="457200" rtl="0" algn="l">
              <a:spcBef>
                <a:spcPts val="0"/>
              </a:spcBef>
              <a:spcAft>
                <a:spcPts val="0"/>
              </a:spcAft>
              <a:buSzPts val="1800"/>
              <a:buChar char="●"/>
            </a:pPr>
            <a:r>
              <a:rPr lang="it"/>
              <a:t>Accessibility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a:t>
            </a:r>
            <a:endParaRPr/>
          </a:p>
        </p:txBody>
      </p:sp>
      <p:sp>
        <p:nvSpPr>
          <p:cNvPr id="151" name="Google Shape;151;p27"/>
          <p:cNvSpPr txBox="1"/>
          <p:nvPr>
            <p:ph idx="1" type="body"/>
          </p:nvPr>
        </p:nvSpPr>
        <p:spPr>
          <a:xfrm>
            <a:off x="311700" y="1228675"/>
            <a:ext cx="37386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it"/>
              <a:t>W</a:t>
            </a:r>
            <a:r>
              <a:rPr lang="it"/>
              <a:t>ith the explosion of the device market came a </a:t>
            </a:r>
            <a:r>
              <a:rPr b="1" lang="it"/>
              <a:t>fragmentation of the different display sizes</a:t>
            </a:r>
            <a:r>
              <a:rPr lang="it"/>
              <a:t> available.</a:t>
            </a:r>
            <a:endParaRPr/>
          </a:p>
          <a:p>
            <a:pPr indent="0" lvl="0" marL="0" rtl="0" algn="l">
              <a:spcBef>
                <a:spcPts val="1200"/>
              </a:spcBef>
              <a:spcAft>
                <a:spcPts val="1200"/>
              </a:spcAft>
              <a:buNone/>
            </a:pPr>
            <a:r>
              <a:rPr lang="it"/>
              <a:t>Moreover, each device has different layouts, standards, icons etc.</a:t>
            </a:r>
            <a:endParaRPr/>
          </a:p>
        </p:txBody>
      </p:sp>
      <p:sp>
        <p:nvSpPr>
          <p:cNvPr id="152" name="Google Shape;152;p27"/>
          <p:cNvSpPr txBox="1"/>
          <p:nvPr/>
        </p:nvSpPr>
        <p:spPr>
          <a:xfrm>
            <a:off x="4537350" y="3850000"/>
            <a:ext cx="3926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3"/>
              </a:rPr>
              <a:t>https://www.interaction-design.org/literature/topics/responsive-design</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pic>
        <p:nvPicPr>
          <p:cNvPr id="153" name="Google Shape;153;p27"/>
          <p:cNvPicPr preferRelativeResize="0"/>
          <p:nvPr/>
        </p:nvPicPr>
        <p:blipFill>
          <a:blip r:embed="rId4">
            <a:alphaModFix/>
          </a:blip>
          <a:stretch>
            <a:fillRect/>
          </a:stretch>
        </p:blipFill>
        <p:spPr>
          <a:xfrm>
            <a:off x="4029750" y="713143"/>
            <a:ext cx="4941302" cy="2912180"/>
          </a:xfrm>
          <a:prstGeom prst="rect">
            <a:avLst/>
          </a:prstGeom>
          <a:noFill/>
          <a:ln>
            <a:noFill/>
          </a:ln>
        </p:spPr>
      </p:pic>
      <p:sp>
        <p:nvSpPr>
          <p:cNvPr id="154" name="Google Shape;154;p27"/>
          <p:cNvSpPr/>
          <p:nvPr/>
        </p:nvSpPr>
        <p:spPr>
          <a:xfrm>
            <a:off x="8115825" y="738525"/>
            <a:ext cx="678600" cy="61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a:t>
            </a:r>
            <a:endParaRPr/>
          </a:p>
        </p:txBody>
      </p:sp>
      <p:sp>
        <p:nvSpPr>
          <p:cNvPr id="160" name="Google Shape;160;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None/>
            </a:pPr>
            <a:r>
              <a:rPr lang="it"/>
              <a:t>With the increasing use of mobile devices to access the internet, it is crucial to ensure that websites are easily readable and usable on a wide range of devices.</a:t>
            </a:r>
            <a:endParaRPr/>
          </a:p>
          <a:p>
            <a:pPr indent="0" lvl="0" marL="0" rtl="0" algn="l">
              <a:spcBef>
                <a:spcPts val="1200"/>
              </a:spcBef>
              <a:spcAft>
                <a:spcPts val="0"/>
              </a:spcAft>
              <a:buNone/>
            </a:pPr>
            <a:r>
              <a:rPr lang="it"/>
              <a:t>Responsive design comes to help as a </a:t>
            </a:r>
            <a:r>
              <a:rPr b="1" lang="it"/>
              <a:t>method of designing and coding web pages, apps</a:t>
            </a:r>
            <a:r>
              <a:rPr lang="it"/>
              <a:t>, etc., to adapt to the size and resolution of different devices.</a:t>
            </a:r>
            <a:endParaRPr/>
          </a:p>
          <a:p>
            <a:pPr indent="0" lvl="0" marL="0" rtl="0" algn="l">
              <a:spcBef>
                <a:spcPts val="1200"/>
              </a:spcBef>
              <a:spcAft>
                <a:spcPts val="1200"/>
              </a:spcAft>
              <a:buNone/>
            </a:pPr>
            <a:r>
              <a:rPr lang="it"/>
              <a:t>RD a</a:t>
            </a:r>
            <a:r>
              <a:rPr lang="it"/>
              <a:t>llows users to have a </a:t>
            </a:r>
            <a:r>
              <a:rPr b="1" lang="it"/>
              <a:t>consistent experience</a:t>
            </a:r>
            <a:r>
              <a:rPr lang="it"/>
              <a:t> whether they are accessing the website on a desktop, tablet, or mobile device. It also makes it </a:t>
            </a:r>
            <a:r>
              <a:rPr b="1" lang="it"/>
              <a:t>easier for businesses to maintain and update</a:t>
            </a:r>
            <a:r>
              <a:rPr lang="it"/>
              <a:t> their website, as they only need to maintain one version of the site.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Techniques</a:t>
            </a:r>
            <a:endParaRPr/>
          </a:p>
        </p:txBody>
      </p:sp>
      <p:sp>
        <p:nvSpPr>
          <p:cNvPr id="166" name="Google Shape;166;p29"/>
          <p:cNvSpPr txBox="1"/>
          <p:nvPr>
            <p:ph idx="1" type="body"/>
          </p:nvPr>
        </p:nvSpPr>
        <p:spPr>
          <a:xfrm>
            <a:off x="311700" y="1228675"/>
            <a:ext cx="8520600" cy="1087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b="1" lang="it"/>
              <a:t>Flexible grid</a:t>
            </a:r>
            <a:r>
              <a:rPr lang="it"/>
              <a:t>: A flexible grid allows elements to adjust to the size of the screen. This can be achieved in many ways, depending on the framework you are using.</a:t>
            </a:r>
            <a:endParaRPr/>
          </a:p>
        </p:txBody>
      </p:sp>
      <p:pic>
        <p:nvPicPr>
          <p:cNvPr id="167" name="Google Shape;167;p29"/>
          <p:cNvPicPr preferRelativeResize="0"/>
          <p:nvPr/>
        </p:nvPicPr>
        <p:blipFill>
          <a:blip r:embed="rId3">
            <a:alphaModFix/>
          </a:blip>
          <a:stretch>
            <a:fillRect/>
          </a:stretch>
        </p:blipFill>
        <p:spPr>
          <a:xfrm>
            <a:off x="1721413" y="2316075"/>
            <a:ext cx="5701174" cy="2537025"/>
          </a:xfrm>
          <a:prstGeom prst="rect">
            <a:avLst/>
          </a:prstGeom>
          <a:noFill/>
          <a:ln>
            <a:noFill/>
          </a:ln>
        </p:spPr>
      </p:pic>
      <p:sp>
        <p:nvSpPr>
          <p:cNvPr id="168" name="Google Shape;168;p29"/>
          <p:cNvSpPr/>
          <p:nvPr/>
        </p:nvSpPr>
        <p:spPr>
          <a:xfrm>
            <a:off x="1805800" y="2503275"/>
            <a:ext cx="844500" cy="1826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9"/>
          <p:cNvSpPr/>
          <p:nvPr/>
        </p:nvSpPr>
        <p:spPr>
          <a:xfrm>
            <a:off x="2696475" y="2503275"/>
            <a:ext cx="1566900" cy="2176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0" name="Google Shape;170;p29"/>
          <p:cNvSpPr/>
          <p:nvPr/>
        </p:nvSpPr>
        <p:spPr>
          <a:xfrm>
            <a:off x="4363450" y="2503275"/>
            <a:ext cx="1566900" cy="1506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9"/>
          <p:cNvSpPr/>
          <p:nvPr/>
        </p:nvSpPr>
        <p:spPr>
          <a:xfrm>
            <a:off x="5930350" y="2503275"/>
            <a:ext cx="1422300" cy="1506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9"/>
          <p:cNvSpPr/>
          <p:nvPr/>
        </p:nvSpPr>
        <p:spPr>
          <a:xfrm>
            <a:off x="4363450" y="4009875"/>
            <a:ext cx="2989200" cy="669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Techniques</a:t>
            </a:r>
            <a:endParaRPr/>
          </a:p>
        </p:txBody>
      </p:sp>
      <p:sp>
        <p:nvSpPr>
          <p:cNvPr id="178" name="Google Shape;178;p30"/>
          <p:cNvSpPr txBox="1"/>
          <p:nvPr>
            <p:ph idx="1" type="body"/>
          </p:nvPr>
        </p:nvSpPr>
        <p:spPr>
          <a:xfrm>
            <a:off x="311700" y="1228675"/>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it"/>
              <a:t>Flexible images</a:t>
            </a:r>
            <a:r>
              <a:rPr lang="it"/>
              <a:t>: Make images scale and adjust to the size of the screen.</a:t>
            </a:r>
            <a:endParaRPr/>
          </a:p>
        </p:txBody>
      </p:sp>
      <p:pic>
        <p:nvPicPr>
          <p:cNvPr id="179" name="Google Shape;179;p30"/>
          <p:cNvPicPr preferRelativeResize="0"/>
          <p:nvPr/>
        </p:nvPicPr>
        <p:blipFill>
          <a:blip r:embed="rId3">
            <a:alphaModFix/>
          </a:blip>
          <a:stretch>
            <a:fillRect/>
          </a:stretch>
        </p:blipFill>
        <p:spPr>
          <a:xfrm>
            <a:off x="1826500" y="2008700"/>
            <a:ext cx="4744650" cy="3012850"/>
          </a:xfrm>
          <a:prstGeom prst="rect">
            <a:avLst/>
          </a:prstGeom>
          <a:noFill/>
          <a:ln>
            <a:noFill/>
          </a:ln>
        </p:spPr>
      </p:pic>
      <p:sp>
        <p:nvSpPr>
          <p:cNvPr id="180" name="Google Shape;180;p30"/>
          <p:cNvSpPr/>
          <p:nvPr/>
        </p:nvSpPr>
        <p:spPr>
          <a:xfrm>
            <a:off x="1957975" y="3553250"/>
            <a:ext cx="585900" cy="327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0"/>
          <p:cNvSpPr/>
          <p:nvPr/>
        </p:nvSpPr>
        <p:spPr>
          <a:xfrm>
            <a:off x="2749500" y="4177400"/>
            <a:ext cx="1089300" cy="608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0"/>
          <p:cNvSpPr/>
          <p:nvPr/>
        </p:nvSpPr>
        <p:spPr>
          <a:xfrm>
            <a:off x="4728000" y="3066725"/>
            <a:ext cx="197400" cy="212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Techniques</a:t>
            </a:r>
            <a:endParaRPr/>
          </a:p>
        </p:txBody>
      </p:sp>
      <p:sp>
        <p:nvSpPr>
          <p:cNvPr id="188" name="Google Shape;188;p31"/>
          <p:cNvSpPr txBox="1"/>
          <p:nvPr>
            <p:ph idx="1" type="body"/>
          </p:nvPr>
        </p:nvSpPr>
        <p:spPr>
          <a:xfrm>
            <a:off x="311700" y="1228675"/>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it"/>
              <a:t>Media queries &amp; breakpoints</a:t>
            </a:r>
            <a:r>
              <a:rPr lang="it"/>
              <a:t>: Allows different styles to be applied based on the characteristics of the device.</a:t>
            </a:r>
            <a:endParaRPr/>
          </a:p>
        </p:txBody>
      </p:sp>
      <p:pic>
        <p:nvPicPr>
          <p:cNvPr id="189" name="Google Shape;189;p31"/>
          <p:cNvPicPr preferRelativeResize="0"/>
          <p:nvPr/>
        </p:nvPicPr>
        <p:blipFill>
          <a:blip r:embed="rId3">
            <a:alphaModFix/>
          </a:blip>
          <a:stretch>
            <a:fillRect/>
          </a:stretch>
        </p:blipFill>
        <p:spPr>
          <a:xfrm>
            <a:off x="1721413" y="2316075"/>
            <a:ext cx="5701174" cy="2537025"/>
          </a:xfrm>
          <a:prstGeom prst="rect">
            <a:avLst/>
          </a:prstGeom>
          <a:noFill/>
          <a:ln>
            <a:noFill/>
          </a:ln>
        </p:spPr>
      </p:pic>
      <p:sp>
        <p:nvSpPr>
          <p:cNvPr id="190" name="Google Shape;190;p31"/>
          <p:cNvSpPr/>
          <p:nvPr/>
        </p:nvSpPr>
        <p:spPr>
          <a:xfrm>
            <a:off x="1805800" y="2503275"/>
            <a:ext cx="844500" cy="1826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1"/>
          <p:cNvSpPr/>
          <p:nvPr/>
        </p:nvSpPr>
        <p:spPr>
          <a:xfrm>
            <a:off x="2696475" y="2503275"/>
            <a:ext cx="1566900" cy="21762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92" name="Google Shape;192;p31"/>
          <p:cNvSpPr/>
          <p:nvPr/>
        </p:nvSpPr>
        <p:spPr>
          <a:xfrm>
            <a:off x="4363450" y="2503275"/>
            <a:ext cx="1566900" cy="1506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1"/>
          <p:cNvSpPr/>
          <p:nvPr/>
        </p:nvSpPr>
        <p:spPr>
          <a:xfrm>
            <a:off x="5930350" y="2503275"/>
            <a:ext cx="1422300" cy="1506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1"/>
          <p:cNvSpPr/>
          <p:nvPr/>
        </p:nvSpPr>
        <p:spPr>
          <a:xfrm>
            <a:off x="4363450" y="4009875"/>
            <a:ext cx="2989200" cy="669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1"/>
          <p:cNvSpPr/>
          <p:nvPr/>
        </p:nvSpPr>
        <p:spPr>
          <a:xfrm>
            <a:off x="6075150" y="2761975"/>
            <a:ext cx="790500" cy="989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1"/>
          <p:cNvSpPr/>
          <p:nvPr/>
        </p:nvSpPr>
        <p:spPr>
          <a:xfrm>
            <a:off x="3001450" y="3043950"/>
            <a:ext cx="999300" cy="8745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1"/>
          <p:cNvSpPr/>
          <p:nvPr/>
        </p:nvSpPr>
        <p:spPr>
          <a:xfrm>
            <a:off x="2019400" y="3272425"/>
            <a:ext cx="417300" cy="1134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Mobile first</a:t>
            </a:r>
            <a:endParaRPr/>
          </a:p>
        </p:txBody>
      </p:sp>
      <p:sp>
        <p:nvSpPr>
          <p:cNvPr id="203" name="Google Shape;203;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a:t>Mobile-first design is a design philosophy that </a:t>
            </a:r>
            <a:r>
              <a:rPr b="1" lang="it"/>
              <a:t>prioritizes mobile over desktop</a:t>
            </a:r>
            <a:r>
              <a:rPr lang="it"/>
              <a:t>. This approach ensures that the mobile experience is optimized before designing for larger screens.</a:t>
            </a:r>
            <a:endParaRPr/>
          </a:p>
          <a:p>
            <a:pPr indent="0" lvl="0" marL="0" rtl="0" algn="l">
              <a:spcBef>
                <a:spcPts val="1200"/>
              </a:spcBef>
              <a:spcAft>
                <a:spcPts val="0"/>
              </a:spcAft>
              <a:buNone/>
            </a:pPr>
            <a:r>
              <a:rPr lang="it"/>
              <a:t>By designing for mobile first, designers </a:t>
            </a:r>
            <a:r>
              <a:rPr b="1" lang="it"/>
              <a:t>ensure that the most important content and functionality is easily accessible</a:t>
            </a:r>
            <a:r>
              <a:rPr lang="it"/>
              <a:t> on small screens, and that the site is easy to navigate with touch-based controls. </a:t>
            </a:r>
            <a:endParaRPr/>
          </a:p>
          <a:p>
            <a:pPr indent="0" lvl="0" marL="0" rtl="0" algn="l">
              <a:spcBef>
                <a:spcPts val="1200"/>
              </a:spcBef>
              <a:spcAft>
                <a:spcPts val="1200"/>
              </a:spcAft>
              <a:buNone/>
            </a:pPr>
            <a:r>
              <a:rPr lang="it"/>
              <a:t>This approach also helps to ensure that the site loads quickly on mobile devices with slower internet connections. Additionally, mobile-first design can help improve search engine optimization (SEO) by making sure the site is optimized for smaller screens.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Mobile first</a:t>
            </a:r>
            <a:endParaRPr/>
          </a:p>
        </p:txBody>
      </p:sp>
      <p:sp>
        <p:nvSpPr>
          <p:cNvPr id="209" name="Google Shape;209;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it"/>
              <a:t>Mobile-first allows for a “</a:t>
            </a:r>
            <a:r>
              <a:rPr b="1" lang="it"/>
              <a:t>progress advancement</a:t>
            </a:r>
            <a:r>
              <a:rPr lang="it"/>
              <a:t>” design, meaning that the </a:t>
            </a:r>
            <a:r>
              <a:rPr b="1" lang="it"/>
              <a:t>design starts from the minimum functions and basic interactions</a:t>
            </a:r>
            <a:r>
              <a:rPr lang="it"/>
              <a:t> (usually found in smartphones), then building up adding more </a:t>
            </a:r>
            <a:r>
              <a:rPr lang="it"/>
              <a:t>interactions</a:t>
            </a:r>
            <a:r>
              <a:rPr lang="it"/>
              <a:t> and effects (usually found in desktop).</a:t>
            </a:r>
            <a:endParaRPr/>
          </a:p>
          <a:p>
            <a:pPr indent="0" lvl="0" marL="0" rtl="0" algn="l">
              <a:spcBef>
                <a:spcPts val="1200"/>
              </a:spcBef>
              <a:spcAft>
                <a:spcPts val="0"/>
              </a:spcAft>
              <a:buNone/>
            </a:pPr>
            <a:r>
              <a:rPr lang="it"/>
              <a:t>This is opposed to “</a:t>
            </a:r>
            <a:r>
              <a:rPr b="1" lang="it"/>
              <a:t>graceful degradation</a:t>
            </a:r>
            <a:r>
              <a:rPr lang="it"/>
              <a:t>”, that is starting with a complete design based on advanced devices, then cutting features to </a:t>
            </a:r>
            <a:r>
              <a:rPr lang="it"/>
              <a:t>accommodate</a:t>
            </a:r>
            <a:r>
              <a:rPr lang="it"/>
              <a:t> for smaller and less capable devices.</a:t>
            </a:r>
            <a:endParaRPr/>
          </a:p>
          <a:p>
            <a:pPr indent="0" lvl="0" marL="0" rtl="0" algn="l">
              <a:spcBef>
                <a:spcPts val="1200"/>
              </a:spcBef>
              <a:spcAft>
                <a:spcPts val="1200"/>
              </a:spcAft>
              <a:buNone/>
            </a:pPr>
            <a:r>
              <a:rPr lang="it"/>
              <a:t>Examples?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Responsive design: other best practices</a:t>
            </a:r>
            <a:endParaRPr/>
          </a:p>
        </p:txBody>
      </p:sp>
      <p:sp>
        <p:nvSpPr>
          <p:cNvPr id="215" name="Google Shape;215;p34"/>
          <p:cNvSpPr txBox="1"/>
          <p:nvPr>
            <p:ph idx="1" type="body"/>
          </p:nvPr>
        </p:nvSpPr>
        <p:spPr>
          <a:xfrm>
            <a:off x="311700" y="1228675"/>
            <a:ext cx="8520600" cy="35571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b="1" lang="it"/>
              <a:t>Keep it simple</a:t>
            </a:r>
            <a:r>
              <a:rPr lang="it"/>
              <a:t>: Avoid using complex layouts and keep the design minimalistic.</a:t>
            </a:r>
            <a:endParaRPr/>
          </a:p>
          <a:p>
            <a:pPr indent="-325755" lvl="0" marL="457200" rtl="0" algn="l">
              <a:spcBef>
                <a:spcPts val="0"/>
              </a:spcBef>
              <a:spcAft>
                <a:spcPts val="0"/>
              </a:spcAft>
              <a:buSzPct val="100000"/>
              <a:buChar char="●"/>
            </a:pPr>
            <a:r>
              <a:rPr b="1" lang="it"/>
              <a:t>Prioritize the content</a:t>
            </a:r>
            <a:r>
              <a:rPr lang="it"/>
              <a:t>: The content should be the most important element on the page, and it should be easily readable on all devices.</a:t>
            </a:r>
            <a:endParaRPr/>
          </a:p>
          <a:p>
            <a:pPr indent="-325755" lvl="0" marL="457200" rtl="0" algn="l">
              <a:spcBef>
                <a:spcPts val="0"/>
              </a:spcBef>
              <a:spcAft>
                <a:spcPts val="0"/>
              </a:spcAft>
              <a:buSzPct val="100000"/>
              <a:buChar char="●"/>
            </a:pPr>
            <a:r>
              <a:rPr b="1" lang="it"/>
              <a:t>Design for touch</a:t>
            </a:r>
            <a:r>
              <a:rPr lang="it"/>
              <a:t>: Make sure buttons and links are large enough to be easily tapped with a finger.</a:t>
            </a:r>
            <a:endParaRPr/>
          </a:p>
          <a:p>
            <a:pPr indent="-325755" lvl="0" marL="457200" rtl="0" algn="l">
              <a:spcBef>
                <a:spcPts val="0"/>
              </a:spcBef>
              <a:spcAft>
                <a:spcPts val="0"/>
              </a:spcAft>
              <a:buSzPct val="100000"/>
              <a:buChar char="●"/>
            </a:pPr>
            <a:r>
              <a:rPr b="1" lang="it"/>
              <a:t>Optimize for load time</a:t>
            </a:r>
            <a:r>
              <a:rPr lang="it"/>
              <a:t>: Large images and other heavy elements can slow down a site's load time, especially on mobile devices. Optimizing these elements can improve the user experience.</a:t>
            </a:r>
            <a:endParaRPr/>
          </a:p>
          <a:p>
            <a:pPr indent="-325755" lvl="0" marL="457200" rtl="0" algn="l">
              <a:spcBef>
                <a:spcPts val="0"/>
              </a:spcBef>
              <a:spcAft>
                <a:spcPts val="0"/>
              </a:spcAft>
              <a:buSzPct val="100000"/>
              <a:buChar char="●"/>
            </a:pPr>
            <a:r>
              <a:rPr b="1" lang="it"/>
              <a:t>Test, test, test</a:t>
            </a:r>
            <a:r>
              <a:rPr lang="it"/>
              <a:t>: Test the website on a variety of devices to ensure that it looks and functions correctly (possibly outside your “laboratory”).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Adaptive design</a:t>
            </a:r>
            <a:endParaRPr/>
          </a:p>
        </p:txBody>
      </p:sp>
      <p:sp>
        <p:nvSpPr>
          <p:cNvPr id="221" name="Google Shape;221;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Other then responsive design there is another way to make the interface automatically adaptable to the user: adaptive design.</a:t>
            </a:r>
            <a:endParaRPr/>
          </a:p>
          <a:p>
            <a:pPr indent="-334328" lvl="0" marL="457200" rtl="0" algn="l">
              <a:spcBef>
                <a:spcPts val="1200"/>
              </a:spcBef>
              <a:spcAft>
                <a:spcPts val="0"/>
              </a:spcAft>
              <a:buSzPct val="100000"/>
              <a:buChar char="●"/>
            </a:pPr>
            <a:r>
              <a:rPr lang="it"/>
              <a:t>Responsive design is a type of adaptation to the device in a fluid and flexible way.</a:t>
            </a:r>
            <a:endParaRPr/>
          </a:p>
          <a:p>
            <a:pPr indent="-334328" lvl="0" marL="457200" rtl="0" algn="l">
              <a:spcBef>
                <a:spcPts val="0"/>
              </a:spcBef>
              <a:spcAft>
                <a:spcPts val="0"/>
              </a:spcAft>
              <a:buSzPct val="100000"/>
              <a:buChar char="●"/>
            </a:pPr>
            <a:r>
              <a:rPr b="1" lang="it"/>
              <a:t>Adaptive design, usually stands for creating different layouts for each device.</a:t>
            </a:r>
            <a:r>
              <a:rPr lang="it"/>
              <a:t> It is more expensive, but sometimes is better (e.g., big companies that have to make their website better for mobile, without spending time in retrofitting the desktop version)</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Adaptive design</a:t>
            </a:r>
            <a:endParaRPr/>
          </a:p>
        </p:txBody>
      </p:sp>
      <p:grpSp>
        <p:nvGrpSpPr>
          <p:cNvPr id="227" name="Google Shape;227;p36"/>
          <p:cNvGrpSpPr/>
          <p:nvPr/>
        </p:nvGrpSpPr>
        <p:grpSpPr>
          <a:xfrm>
            <a:off x="3392302" y="134311"/>
            <a:ext cx="4875779" cy="4874871"/>
            <a:chOff x="2961500" y="961400"/>
            <a:chExt cx="3221100" cy="3220500"/>
          </a:xfrm>
        </p:grpSpPr>
        <p:sp>
          <p:nvSpPr>
            <p:cNvPr id="228" name="Google Shape;228;p36"/>
            <p:cNvSpPr/>
            <p:nvPr/>
          </p:nvSpPr>
          <p:spPr>
            <a:xfrm>
              <a:off x="2961500" y="961400"/>
              <a:ext cx="3221100" cy="3220500"/>
            </a:xfrm>
            <a:prstGeom prst="ellipse">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latin typeface="Proxima Nova Semibold"/>
                <a:ea typeface="Proxima Nova Semibold"/>
                <a:cs typeface="Proxima Nova Semibold"/>
                <a:sym typeface="Proxima Nova Semibold"/>
              </a:endParaRPr>
            </a:p>
          </p:txBody>
        </p:sp>
        <p:sp>
          <p:nvSpPr>
            <p:cNvPr id="229" name="Google Shape;229;p36"/>
            <p:cNvSpPr txBox="1"/>
            <p:nvPr/>
          </p:nvSpPr>
          <p:spPr>
            <a:xfrm>
              <a:off x="3782900" y="1200950"/>
              <a:ext cx="1578000" cy="56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600">
                  <a:solidFill>
                    <a:srgbClr val="FFFFFF"/>
                  </a:solidFill>
                  <a:latin typeface="Proxima Nova Semibold"/>
                  <a:ea typeface="Proxima Nova Semibold"/>
                  <a:cs typeface="Proxima Nova Semibold"/>
                  <a:sym typeface="Proxima Nova Semibold"/>
                </a:rPr>
                <a:t>Design for adaptability</a:t>
              </a:r>
              <a:endParaRPr sz="1600">
                <a:solidFill>
                  <a:srgbClr val="FFFFFF"/>
                </a:solidFill>
                <a:latin typeface="Proxima Nova Semibold"/>
                <a:ea typeface="Proxima Nova Semibold"/>
                <a:cs typeface="Proxima Nova Semibold"/>
                <a:sym typeface="Proxima Nova Semibold"/>
              </a:endParaRPr>
            </a:p>
          </p:txBody>
        </p:sp>
      </p:grpSp>
      <p:grpSp>
        <p:nvGrpSpPr>
          <p:cNvPr id="230" name="Google Shape;230;p36"/>
          <p:cNvGrpSpPr/>
          <p:nvPr/>
        </p:nvGrpSpPr>
        <p:grpSpPr>
          <a:xfrm>
            <a:off x="3388272" y="1350856"/>
            <a:ext cx="2441948" cy="2441948"/>
            <a:chOff x="3401686" y="1841492"/>
            <a:chExt cx="2340600" cy="2340600"/>
          </a:xfrm>
        </p:grpSpPr>
        <p:sp>
          <p:nvSpPr>
            <p:cNvPr id="231" name="Google Shape;231;p36"/>
            <p:cNvSpPr/>
            <p:nvPr/>
          </p:nvSpPr>
          <p:spPr>
            <a:xfrm>
              <a:off x="3401686" y="1841492"/>
              <a:ext cx="2340600" cy="2340600"/>
            </a:xfrm>
            <a:prstGeom prst="ellipse">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latin typeface="Proxima Nova Semibold"/>
                <a:ea typeface="Proxima Nova Semibold"/>
                <a:cs typeface="Proxima Nova Semibold"/>
                <a:sym typeface="Proxima Nova Semibold"/>
              </a:endParaRPr>
            </a:p>
          </p:txBody>
        </p:sp>
        <p:sp>
          <p:nvSpPr>
            <p:cNvPr id="232" name="Google Shape;232;p36"/>
            <p:cNvSpPr txBox="1"/>
            <p:nvPr/>
          </p:nvSpPr>
          <p:spPr>
            <a:xfrm>
              <a:off x="3833274" y="2126800"/>
              <a:ext cx="1477200" cy="53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600">
                  <a:solidFill>
                    <a:srgbClr val="FFFFFF"/>
                  </a:solidFill>
                  <a:latin typeface="Proxima Nova Semibold"/>
                  <a:ea typeface="Proxima Nova Semibold"/>
                  <a:cs typeface="Proxima Nova Semibold"/>
                  <a:sym typeface="Proxima Nova Semibold"/>
                </a:rPr>
                <a:t>User</a:t>
              </a:r>
              <a:endParaRPr sz="1600">
                <a:solidFill>
                  <a:srgbClr val="FFFFFF"/>
                </a:solidFill>
                <a:latin typeface="Proxima Nova Semibold"/>
                <a:ea typeface="Proxima Nova Semibold"/>
                <a:cs typeface="Proxima Nova Semibold"/>
                <a:sym typeface="Proxima Nova Semibold"/>
              </a:endParaRPr>
            </a:p>
          </p:txBody>
        </p:sp>
      </p:grpSp>
      <p:grpSp>
        <p:nvGrpSpPr>
          <p:cNvPr id="233" name="Google Shape;233;p36"/>
          <p:cNvGrpSpPr/>
          <p:nvPr/>
        </p:nvGrpSpPr>
        <p:grpSpPr>
          <a:xfrm>
            <a:off x="5830486" y="1350866"/>
            <a:ext cx="2441948" cy="2441948"/>
            <a:chOff x="3401686" y="1723330"/>
            <a:chExt cx="2340600" cy="2340600"/>
          </a:xfrm>
        </p:grpSpPr>
        <p:sp>
          <p:nvSpPr>
            <p:cNvPr id="234" name="Google Shape;234;p36"/>
            <p:cNvSpPr/>
            <p:nvPr/>
          </p:nvSpPr>
          <p:spPr>
            <a:xfrm>
              <a:off x="3401686" y="1723330"/>
              <a:ext cx="2340600" cy="2340600"/>
            </a:xfrm>
            <a:prstGeom prst="ellipse">
              <a:avLst/>
            </a:prstGeom>
            <a:solidFill>
              <a:srgbClr val="0B7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latin typeface="Proxima Nova Semibold"/>
                <a:ea typeface="Proxima Nova Semibold"/>
                <a:cs typeface="Proxima Nova Semibold"/>
                <a:sym typeface="Proxima Nova Semibold"/>
              </a:endParaRPr>
            </a:p>
          </p:txBody>
        </p:sp>
        <p:sp>
          <p:nvSpPr>
            <p:cNvPr id="235" name="Google Shape;235;p36"/>
            <p:cNvSpPr txBox="1"/>
            <p:nvPr/>
          </p:nvSpPr>
          <p:spPr>
            <a:xfrm>
              <a:off x="3833384" y="2052730"/>
              <a:ext cx="1477200" cy="53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600">
                  <a:solidFill>
                    <a:srgbClr val="FFFFFF"/>
                  </a:solidFill>
                  <a:latin typeface="Proxima Nova Semibold"/>
                  <a:ea typeface="Proxima Nova Semibold"/>
                  <a:cs typeface="Proxima Nova Semibold"/>
                  <a:sym typeface="Proxima Nova Semibold"/>
                </a:rPr>
                <a:t>Device</a:t>
              </a:r>
              <a:endParaRPr sz="1600">
                <a:solidFill>
                  <a:srgbClr val="FFFFFF"/>
                </a:solidFill>
                <a:latin typeface="Proxima Nova Semibold"/>
                <a:ea typeface="Proxima Nova Semibold"/>
                <a:cs typeface="Proxima Nova Semibold"/>
                <a:sym typeface="Proxima Nova Semibold"/>
              </a:endParaRPr>
            </a:p>
          </p:txBody>
        </p:sp>
      </p:grpSp>
      <p:grpSp>
        <p:nvGrpSpPr>
          <p:cNvPr id="236" name="Google Shape;236;p36"/>
          <p:cNvGrpSpPr/>
          <p:nvPr/>
        </p:nvGrpSpPr>
        <p:grpSpPr>
          <a:xfrm>
            <a:off x="6056936" y="2588417"/>
            <a:ext cx="994682" cy="994682"/>
            <a:chOff x="3615890" y="2899116"/>
            <a:chExt cx="953400" cy="953400"/>
          </a:xfrm>
        </p:grpSpPr>
        <p:sp>
          <p:nvSpPr>
            <p:cNvPr id="237" name="Google Shape;237;p36"/>
            <p:cNvSpPr/>
            <p:nvPr/>
          </p:nvSpPr>
          <p:spPr>
            <a:xfrm>
              <a:off x="3615890" y="2899116"/>
              <a:ext cx="953400" cy="953400"/>
            </a:xfrm>
            <a:prstGeom prst="ellips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Proxima Nova Semibold"/>
                <a:ea typeface="Proxima Nova Semibold"/>
                <a:cs typeface="Proxima Nova Semibold"/>
                <a:sym typeface="Proxima Nova Semibold"/>
              </a:endParaRPr>
            </a:p>
          </p:txBody>
        </p:sp>
        <p:sp>
          <p:nvSpPr>
            <p:cNvPr id="238" name="Google Shape;238;p36"/>
            <p:cNvSpPr txBox="1"/>
            <p:nvPr/>
          </p:nvSpPr>
          <p:spPr>
            <a:xfrm>
              <a:off x="3695554" y="3181981"/>
              <a:ext cx="794100" cy="41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900">
                  <a:solidFill>
                    <a:srgbClr val="FFFFFF"/>
                  </a:solidFill>
                  <a:latin typeface="Proxima Nova Semibold"/>
                  <a:ea typeface="Proxima Nova Semibold"/>
                  <a:cs typeface="Proxima Nova Semibold"/>
                  <a:sym typeface="Proxima Nova Semibold"/>
                </a:rPr>
                <a:t>Responsive design</a:t>
              </a:r>
              <a:endParaRPr sz="900">
                <a:solidFill>
                  <a:srgbClr val="FFFFFF"/>
                </a:solidFill>
                <a:latin typeface="Proxima Nova Semibold"/>
                <a:ea typeface="Proxima Nova Semibold"/>
                <a:cs typeface="Proxima Nova Semibold"/>
                <a:sym typeface="Proxima Nova Semibold"/>
              </a:endParaRPr>
            </a:p>
          </p:txBody>
        </p:sp>
      </p:grpSp>
      <p:cxnSp>
        <p:nvCxnSpPr>
          <p:cNvPr id="239" name="Google Shape;239;p36"/>
          <p:cNvCxnSpPr>
            <a:stCxn id="226" idx="0"/>
            <a:endCxn id="226" idx="0"/>
          </p:cNvCxnSpPr>
          <p:nvPr/>
        </p:nvCxnSpPr>
        <p:spPr>
          <a:xfrm>
            <a:off x="4572000" y="292850"/>
            <a:ext cx="0" cy="0"/>
          </a:xfrm>
          <a:prstGeom prst="straightConnector1">
            <a:avLst/>
          </a:prstGeom>
          <a:noFill/>
          <a:ln cap="flat" cmpd="sng" w="9525">
            <a:solidFill>
              <a:schemeClr val="dk2"/>
            </a:solidFill>
            <a:prstDash val="solid"/>
            <a:round/>
            <a:headEnd len="med" w="med" type="none"/>
            <a:tailEnd len="med" w="med" type="none"/>
          </a:ln>
        </p:spPr>
      </p:cxnSp>
      <p:grpSp>
        <p:nvGrpSpPr>
          <p:cNvPr id="240" name="Google Shape;240;p36"/>
          <p:cNvGrpSpPr/>
          <p:nvPr/>
        </p:nvGrpSpPr>
        <p:grpSpPr>
          <a:xfrm>
            <a:off x="7051463" y="2588417"/>
            <a:ext cx="994682" cy="994682"/>
            <a:chOff x="4401412" y="2899116"/>
            <a:chExt cx="953400" cy="953400"/>
          </a:xfrm>
        </p:grpSpPr>
        <p:sp>
          <p:nvSpPr>
            <p:cNvPr id="241" name="Google Shape;241;p36"/>
            <p:cNvSpPr/>
            <p:nvPr/>
          </p:nvSpPr>
          <p:spPr>
            <a:xfrm>
              <a:off x="4401412" y="2899116"/>
              <a:ext cx="953400" cy="953400"/>
            </a:xfrm>
            <a:prstGeom prst="ellips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Proxima Nova Semibold"/>
                <a:ea typeface="Proxima Nova Semibold"/>
                <a:cs typeface="Proxima Nova Semibold"/>
                <a:sym typeface="Proxima Nova Semibold"/>
              </a:endParaRPr>
            </a:p>
          </p:txBody>
        </p:sp>
        <p:sp>
          <p:nvSpPr>
            <p:cNvPr id="242" name="Google Shape;242;p36"/>
            <p:cNvSpPr txBox="1"/>
            <p:nvPr/>
          </p:nvSpPr>
          <p:spPr>
            <a:xfrm>
              <a:off x="4481075" y="3181981"/>
              <a:ext cx="794100" cy="41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rgbClr val="FFFFFF"/>
                  </a:solidFill>
                  <a:latin typeface="Proxima Nova Semibold"/>
                  <a:ea typeface="Proxima Nova Semibold"/>
                  <a:cs typeface="Proxima Nova Semibold"/>
                  <a:sym typeface="Proxima Nova Semibold"/>
                </a:rPr>
                <a:t>Adaptive design</a:t>
              </a:r>
              <a:endParaRPr sz="1100">
                <a:solidFill>
                  <a:srgbClr val="FFFFFF"/>
                </a:solidFill>
                <a:latin typeface="Proxima Nova Semibold"/>
                <a:ea typeface="Proxima Nova Semibold"/>
                <a:cs typeface="Proxima Nova Semibold"/>
                <a:sym typeface="Proxima Nova Semibold"/>
              </a:endParaRPr>
            </a:p>
          </p:txBody>
        </p:sp>
      </p:grpSp>
      <p:grpSp>
        <p:nvGrpSpPr>
          <p:cNvPr id="243" name="Google Shape;243;p36"/>
          <p:cNvGrpSpPr/>
          <p:nvPr/>
        </p:nvGrpSpPr>
        <p:grpSpPr>
          <a:xfrm>
            <a:off x="3614644" y="2588417"/>
            <a:ext cx="994682" cy="994682"/>
            <a:chOff x="3615890" y="2899116"/>
            <a:chExt cx="953400" cy="953400"/>
          </a:xfrm>
        </p:grpSpPr>
        <p:sp>
          <p:nvSpPr>
            <p:cNvPr id="244" name="Google Shape;244;p36"/>
            <p:cNvSpPr/>
            <p:nvPr/>
          </p:nvSpPr>
          <p:spPr>
            <a:xfrm>
              <a:off x="3615890" y="2899116"/>
              <a:ext cx="953400" cy="953400"/>
            </a:xfrm>
            <a:prstGeom prst="ellips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Proxima Nova Semibold"/>
                <a:ea typeface="Proxima Nova Semibold"/>
                <a:cs typeface="Proxima Nova Semibold"/>
                <a:sym typeface="Proxima Nova Semibold"/>
              </a:endParaRPr>
            </a:p>
          </p:txBody>
        </p:sp>
        <p:sp>
          <p:nvSpPr>
            <p:cNvPr id="245" name="Google Shape;245;p36"/>
            <p:cNvSpPr txBox="1"/>
            <p:nvPr/>
          </p:nvSpPr>
          <p:spPr>
            <a:xfrm>
              <a:off x="3695554" y="3181981"/>
              <a:ext cx="794100" cy="41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900">
                  <a:solidFill>
                    <a:srgbClr val="FFFFFF"/>
                  </a:solidFill>
                  <a:latin typeface="Proxima Nova Semibold"/>
                  <a:ea typeface="Proxima Nova Semibold"/>
                  <a:cs typeface="Proxima Nova Semibold"/>
                  <a:sym typeface="Proxima Nova Semibold"/>
                </a:rPr>
                <a:t>Accessibility</a:t>
              </a:r>
              <a:endParaRPr sz="900">
                <a:solidFill>
                  <a:srgbClr val="FFFFFF"/>
                </a:solidFill>
                <a:latin typeface="Proxima Nova Semibold"/>
                <a:ea typeface="Proxima Nova Semibold"/>
                <a:cs typeface="Proxima Nova Semibold"/>
                <a:sym typeface="Proxima Nova Semibold"/>
              </a:endParaRPr>
            </a:p>
          </p:txBody>
        </p:sp>
      </p:grpSp>
      <p:grpSp>
        <p:nvGrpSpPr>
          <p:cNvPr id="246" name="Google Shape;246;p36"/>
          <p:cNvGrpSpPr/>
          <p:nvPr/>
        </p:nvGrpSpPr>
        <p:grpSpPr>
          <a:xfrm>
            <a:off x="4609170" y="2588417"/>
            <a:ext cx="994682" cy="994682"/>
            <a:chOff x="4401412" y="2899116"/>
            <a:chExt cx="953400" cy="953400"/>
          </a:xfrm>
        </p:grpSpPr>
        <p:sp>
          <p:nvSpPr>
            <p:cNvPr id="247" name="Google Shape;247;p36"/>
            <p:cNvSpPr/>
            <p:nvPr/>
          </p:nvSpPr>
          <p:spPr>
            <a:xfrm>
              <a:off x="4401412" y="2899116"/>
              <a:ext cx="953400" cy="953400"/>
            </a:xfrm>
            <a:prstGeom prst="ellips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latin typeface="Proxima Nova Semibold"/>
                <a:ea typeface="Proxima Nova Semibold"/>
                <a:cs typeface="Proxima Nova Semibold"/>
                <a:sym typeface="Proxima Nova Semibold"/>
              </a:endParaRPr>
            </a:p>
          </p:txBody>
        </p:sp>
        <p:sp>
          <p:nvSpPr>
            <p:cNvPr id="248" name="Google Shape;248;p36"/>
            <p:cNvSpPr txBox="1"/>
            <p:nvPr/>
          </p:nvSpPr>
          <p:spPr>
            <a:xfrm>
              <a:off x="4481075" y="3181981"/>
              <a:ext cx="794100" cy="41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solidFill>
                    <a:srgbClr val="FFFFFF"/>
                  </a:solidFill>
                  <a:latin typeface="Proxima Nova Semibold"/>
                  <a:ea typeface="Proxima Nova Semibold"/>
                  <a:cs typeface="Proxima Nova Semibold"/>
                  <a:sym typeface="Proxima Nova Semibold"/>
                </a:rPr>
                <a:t>Adaptive UX</a:t>
              </a:r>
              <a:endParaRPr sz="1100">
                <a:solidFill>
                  <a:srgbClr val="FFFFFF"/>
                </a:solidFill>
                <a:latin typeface="Proxima Nova Semibold"/>
                <a:ea typeface="Proxima Nova Semibold"/>
                <a:cs typeface="Proxima Nova Semibold"/>
                <a:sym typeface="Proxima Nova Semibold"/>
              </a:endParaRPr>
            </a:p>
          </p:txBody>
        </p:sp>
      </p:grpSp>
      <p:sp>
        <p:nvSpPr>
          <p:cNvPr id="249" name="Google Shape;249;p36"/>
          <p:cNvSpPr txBox="1"/>
          <p:nvPr/>
        </p:nvSpPr>
        <p:spPr>
          <a:xfrm>
            <a:off x="311700" y="1350875"/>
            <a:ext cx="2850000" cy="35622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None/>
            </a:pPr>
            <a:r>
              <a:rPr lang="it" sz="1800">
                <a:solidFill>
                  <a:schemeClr val="accent1"/>
                </a:solidFill>
                <a:latin typeface="Source Code Pro"/>
                <a:ea typeface="Source Code Pro"/>
                <a:cs typeface="Source Code Pro"/>
                <a:sym typeface="Source Code Pro"/>
              </a:rPr>
              <a:t>But there can  be another way in which the system can be adaptive to the user.</a:t>
            </a:r>
            <a:endParaRPr sz="1800">
              <a:solidFill>
                <a:schemeClr val="accent1"/>
              </a:solidFill>
              <a:latin typeface="Source Code Pro"/>
              <a:ea typeface="Source Code Pro"/>
              <a:cs typeface="Source Code Pro"/>
              <a:sym typeface="Source Code Pro"/>
            </a:endParaRPr>
          </a:p>
          <a:p>
            <a:pPr indent="0" lvl="0" marL="0" rtl="0" algn="l">
              <a:lnSpc>
                <a:spcPct val="115000"/>
              </a:lnSpc>
              <a:spcBef>
                <a:spcPts val="1200"/>
              </a:spcBef>
              <a:spcAft>
                <a:spcPts val="0"/>
              </a:spcAft>
              <a:buNone/>
            </a:pPr>
            <a:r>
              <a:rPr lang="it" sz="1800">
                <a:solidFill>
                  <a:schemeClr val="accent1"/>
                </a:solidFill>
                <a:latin typeface="Source Code Pro"/>
                <a:ea typeface="Source Code Pro"/>
                <a:cs typeface="Source Code Pro"/>
                <a:sym typeface="Source Code Pro"/>
              </a:rPr>
              <a:t>The difference lays in the </a:t>
            </a:r>
            <a:r>
              <a:rPr b="1" lang="it" sz="1800">
                <a:solidFill>
                  <a:schemeClr val="accent1"/>
                </a:solidFill>
                <a:latin typeface="Source Code Pro"/>
                <a:ea typeface="Source Code Pro"/>
                <a:cs typeface="Source Code Pro"/>
                <a:sym typeface="Source Code Pro"/>
              </a:rPr>
              <a:t>context of use</a:t>
            </a:r>
            <a:r>
              <a:rPr lang="it" sz="1800">
                <a:solidFill>
                  <a:schemeClr val="accent1"/>
                </a:solidFill>
                <a:latin typeface="Source Code Pro"/>
                <a:ea typeface="Source Code Pro"/>
                <a:cs typeface="Source Code Pro"/>
                <a:sym typeface="Source Code Pro"/>
              </a:rPr>
              <a:t>:</a:t>
            </a:r>
            <a:endParaRPr sz="1800">
              <a:solidFill>
                <a:schemeClr val="accent1"/>
              </a:solidFill>
              <a:latin typeface="Source Code Pro"/>
              <a:ea typeface="Source Code Pro"/>
              <a:cs typeface="Source Code Pro"/>
              <a:sym typeface="Source Code Pro"/>
            </a:endParaRPr>
          </a:p>
          <a:p>
            <a:pPr indent="-334328" lvl="0" marL="457200" rtl="0" algn="l">
              <a:lnSpc>
                <a:spcPct val="115000"/>
              </a:lnSpc>
              <a:spcBef>
                <a:spcPts val="1200"/>
              </a:spcBef>
              <a:spcAft>
                <a:spcPts val="0"/>
              </a:spcAft>
              <a:buClr>
                <a:schemeClr val="accent1"/>
              </a:buClr>
              <a:buSzPct val="100000"/>
              <a:buFont typeface="Source Code Pro"/>
              <a:buChar char="●"/>
            </a:pPr>
            <a:r>
              <a:rPr lang="it" sz="1800">
                <a:solidFill>
                  <a:schemeClr val="accent1"/>
                </a:solidFill>
                <a:latin typeface="Source Code Pro"/>
                <a:ea typeface="Source Code Pro"/>
                <a:cs typeface="Source Code Pro"/>
                <a:sym typeface="Source Code Pro"/>
              </a:rPr>
              <a:t>depends on the device used</a:t>
            </a:r>
            <a:endParaRPr sz="1800">
              <a:solidFill>
                <a:schemeClr val="accent1"/>
              </a:solidFill>
              <a:latin typeface="Source Code Pro"/>
              <a:ea typeface="Source Code Pro"/>
              <a:cs typeface="Source Code Pro"/>
              <a:sym typeface="Source Code Pro"/>
            </a:endParaRPr>
          </a:p>
          <a:p>
            <a:pPr indent="-334328" lvl="0" marL="457200" rtl="0" algn="l">
              <a:lnSpc>
                <a:spcPct val="115000"/>
              </a:lnSpc>
              <a:spcBef>
                <a:spcPts val="0"/>
              </a:spcBef>
              <a:spcAft>
                <a:spcPts val="0"/>
              </a:spcAft>
              <a:buClr>
                <a:schemeClr val="accent1"/>
              </a:buClr>
              <a:buSzPct val="100000"/>
              <a:buFont typeface="Source Code Pro"/>
              <a:buChar char="●"/>
            </a:pPr>
            <a:r>
              <a:rPr b="1" lang="it" sz="1800">
                <a:solidFill>
                  <a:schemeClr val="accent1"/>
                </a:solidFill>
                <a:latin typeface="Source Code Pro"/>
                <a:ea typeface="Source Code Pro"/>
                <a:cs typeface="Source Code Pro"/>
                <a:sym typeface="Source Code Pro"/>
              </a:rPr>
              <a:t>depends on the users themselves</a:t>
            </a:r>
            <a:r>
              <a:rPr lang="it" sz="1800">
                <a:solidFill>
                  <a:schemeClr val="accent1"/>
                </a:solidFill>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Adaptive UX</a:t>
            </a:r>
            <a:endParaRPr/>
          </a:p>
        </p:txBody>
      </p:sp>
      <p:sp>
        <p:nvSpPr>
          <p:cNvPr id="255" name="Google Shape;255;p37"/>
          <p:cNvSpPr txBox="1"/>
          <p:nvPr>
            <p:ph idx="1" type="body"/>
          </p:nvPr>
        </p:nvSpPr>
        <p:spPr>
          <a:xfrm>
            <a:off x="311700" y="1228675"/>
            <a:ext cx="8520600" cy="1213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How can a system adapt to a user?</a:t>
            </a:r>
            <a:endParaRPr/>
          </a:p>
          <a:p>
            <a:pPr indent="0" lvl="0" marL="0" rtl="0" algn="l">
              <a:spcBef>
                <a:spcPts val="1200"/>
              </a:spcBef>
              <a:spcAft>
                <a:spcPts val="1200"/>
              </a:spcAft>
              <a:buNone/>
            </a:pPr>
            <a:r>
              <a:rPr lang="it"/>
              <a:t>Having a basic information on the user (position through GPS, collaborative filtering, or even a user model from analytics) you can leverage them to adapt the the interface to the user.</a:t>
            </a:r>
            <a:endParaRPr/>
          </a:p>
        </p:txBody>
      </p:sp>
      <p:sp>
        <p:nvSpPr>
          <p:cNvPr id="256" name="Google Shape;256;p37"/>
          <p:cNvSpPr txBox="1"/>
          <p:nvPr/>
        </p:nvSpPr>
        <p:spPr>
          <a:xfrm>
            <a:off x="382975" y="2366325"/>
            <a:ext cx="3819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Source Code Pro"/>
                <a:ea typeface="Source Code Pro"/>
                <a:cs typeface="Source Code Pro"/>
                <a:sym typeface="Source Code Pro"/>
              </a:rPr>
              <a:t>In the case of collaborative filtering:</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lang="it">
                <a:latin typeface="Source Code Pro"/>
                <a:ea typeface="Source Code Pro"/>
                <a:cs typeface="Source Code Pro"/>
                <a:sym typeface="Source Code Pro"/>
              </a:rPr>
              <a:t>user A </a:t>
            </a:r>
            <a:r>
              <a:rPr lang="it">
                <a:latin typeface="Source Code Pro"/>
                <a:ea typeface="Source Code Pro"/>
                <a:cs typeface="Source Code Pro"/>
                <a:sym typeface="Source Code Pro"/>
              </a:rPr>
              <a:t>likes </a:t>
            </a:r>
            <a:r>
              <a:rPr lang="it">
                <a:latin typeface="Source Code Pro"/>
                <a:ea typeface="Source Code Pro"/>
                <a:cs typeface="Source Code Pro"/>
                <a:sym typeface="Source Code Pro"/>
              </a:rPr>
              <a:t>X and Y</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lang="it">
                <a:latin typeface="Source Code Pro"/>
                <a:ea typeface="Source Code Pro"/>
                <a:cs typeface="Source Code Pro"/>
                <a:sym typeface="Source Code Pro"/>
              </a:rPr>
              <a:t>and user B </a:t>
            </a:r>
            <a:r>
              <a:rPr lang="it">
                <a:latin typeface="Source Code Pro"/>
                <a:ea typeface="Source Code Pro"/>
                <a:cs typeface="Source Code Pro"/>
                <a:sym typeface="Source Code Pro"/>
              </a:rPr>
              <a:t>likes </a:t>
            </a:r>
            <a:r>
              <a:rPr lang="it">
                <a:latin typeface="Source Code Pro"/>
                <a:ea typeface="Source Code Pro"/>
                <a:cs typeface="Source Code Pro"/>
                <a:sym typeface="Source Code Pro"/>
              </a:rPr>
              <a:t>X</a:t>
            </a:r>
            <a:endParaRPr>
              <a:latin typeface="Source Code Pro"/>
              <a:ea typeface="Source Code Pro"/>
              <a:cs typeface="Source Code Pro"/>
              <a:sym typeface="Source Code Pro"/>
            </a:endParaRPr>
          </a:p>
          <a:p>
            <a:pPr indent="-317500" lvl="0" marL="457200" rtl="0" algn="l">
              <a:spcBef>
                <a:spcPts val="0"/>
              </a:spcBef>
              <a:spcAft>
                <a:spcPts val="0"/>
              </a:spcAft>
              <a:buSzPts val="1400"/>
              <a:buFont typeface="Source Code Pro"/>
              <a:buChar char="●"/>
            </a:pPr>
            <a:r>
              <a:rPr lang="it">
                <a:latin typeface="Source Code Pro"/>
                <a:ea typeface="Source Code Pro"/>
                <a:cs typeface="Source Code Pro"/>
                <a:sym typeface="Source Code Pro"/>
              </a:rPr>
              <a:t>so user B may be interested in Y</a:t>
            </a:r>
            <a:endParaRPr>
              <a:latin typeface="Source Code Pro"/>
              <a:ea typeface="Source Code Pro"/>
              <a:cs typeface="Source Code Pro"/>
              <a:sym typeface="Source Code Pro"/>
            </a:endParaRPr>
          </a:p>
        </p:txBody>
      </p:sp>
      <p:sp>
        <p:nvSpPr>
          <p:cNvPr id="257" name="Google Shape;257;p37"/>
          <p:cNvSpPr txBox="1"/>
          <p:nvPr/>
        </p:nvSpPr>
        <p:spPr>
          <a:xfrm>
            <a:off x="489500" y="4298925"/>
            <a:ext cx="3933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3"/>
              </a:rPr>
              <a:t>https://www.amazon.science/the-history-of-amazons-recommendation-algorithm</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pic>
        <p:nvPicPr>
          <p:cNvPr id="258" name="Google Shape;258;p37"/>
          <p:cNvPicPr preferRelativeResize="0"/>
          <p:nvPr/>
        </p:nvPicPr>
        <p:blipFill>
          <a:blip r:embed="rId4">
            <a:alphaModFix/>
          </a:blip>
          <a:stretch>
            <a:fillRect/>
          </a:stretch>
        </p:blipFill>
        <p:spPr>
          <a:xfrm>
            <a:off x="4361199" y="2537300"/>
            <a:ext cx="4683874" cy="1669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Adaptive UX</a:t>
            </a:r>
            <a:endParaRPr/>
          </a:p>
        </p:txBody>
      </p:sp>
      <p:sp>
        <p:nvSpPr>
          <p:cNvPr id="264" name="Google Shape;264;p38"/>
          <p:cNvSpPr txBox="1"/>
          <p:nvPr>
            <p:ph idx="1" type="body"/>
          </p:nvPr>
        </p:nvSpPr>
        <p:spPr>
          <a:xfrm>
            <a:off x="311700" y="1228675"/>
            <a:ext cx="32973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Together with collaborative filtering, </a:t>
            </a:r>
            <a:r>
              <a:rPr b="1" lang="it"/>
              <a:t>content-based filtering</a:t>
            </a:r>
            <a:r>
              <a:rPr lang="it"/>
              <a:t> is another possibility, </a:t>
            </a:r>
            <a:r>
              <a:rPr lang="it"/>
              <a:t>but it</a:t>
            </a:r>
            <a:r>
              <a:rPr b="1" lang="it"/>
              <a:t> is not based on the users</a:t>
            </a:r>
            <a:r>
              <a:rPr lang="it"/>
              <a:t>, rather on the contents themselves.</a:t>
            </a:r>
            <a:endParaRPr/>
          </a:p>
        </p:txBody>
      </p:sp>
      <p:pic>
        <p:nvPicPr>
          <p:cNvPr id="265" name="Google Shape;265;p38"/>
          <p:cNvPicPr preferRelativeResize="0"/>
          <p:nvPr/>
        </p:nvPicPr>
        <p:blipFill>
          <a:blip r:embed="rId3">
            <a:alphaModFix/>
          </a:blip>
          <a:stretch>
            <a:fillRect/>
          </a:stretch>
        </p:blipFill>
        <p:spPr>
          <a:xfrm>
            <a:off x="3609000" y="1056425"/>
            <a:ext cx="5401925" cy="331020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Accessibility</a:t>
            </a:r>
            <a:endParaRPr/>
          </a:p>
        </p:txBody>
      </p:sp>
      <p:sp>
        <p:nvSpPr>
          <p:cNvPr id="271" name="Google Shape;271;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Accessibility in UXD is crucial</a:t>
            </a:r>
            <a:r>
              <a:rPr lang="it"/>
              <a:t> because it ensures that all users can access and interact with the digital products, regardless of their abilities.</a:t>
            </a:r>
            <a:endParaRPr/>
          </a:p>
          <a:p>
            <a:pPr indent="0" lvl="0" marL="0" rtl="0" algn="l">
              <a:spcBef>
                <a:spcPts val="1200"/>
              </a:spcBef>
              <a:spcAft>
                <a:spcPts val="1200"/>
              </a:spcAft>
              <a:buNone/>
            </a:pPr>
            <a:r>
              <a:rPr lang="it"/>
              <a:t>With the increasing use of digital products and services, it is essential that designers consider accessibility to make sure that everyone can use them.</a:t>
            </a:r>
            <a:endParaRPr/>
          </a:p>
        </p:txBody>
      </p:sp>
      <p:sp>
        <p:nvSpPr>
          <p:cNvPr id="272" name="Google Shape;272;p39"/>
          <p:cNvSpPr txBox="1"/>
          <p:nvPr/>
        </p:nvSpPr>
        <p:spPr>
          <a:xfrm>
            <a:off x="1105800" y="4146750"/>
            <a:ext cx="6437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200" u="sng">
                <a:solidFill>
                  <a:schemeClr val="hlink"/>
                </a:solidFill>
                <a:latin typeface="Source Code Pro"/>
                <a:ea typeface="Source Code Pro"/>
                <a:cs typeface="Source Code Pro"/>
                <a:sym typeface="Source Code Pro"/>
                <a:hlinkClick r:id="rId3"/>
              </a:rPr>
              <a:t>https://www.interaction-design.org/literature/topics/accessibility</a:t>
            </a:r>
            <a:r>
              <a:rPr lang="it" sz="1200">
                <a:latin typeface="Source Code Pro"/>
                <a:ea typeface="Source Code Pro"/>
                <a:cs typeface="Source Code Pro"/>
                <a:sym typeface="Source Code Pro"/>
              </a:rPr>
              <a:t> </a:t>
            </a:r>
            <a:endParaRPr sz="1200">
              <a:latin typeface="Source Code Pro"/>
              <a:ea typeface="Source Code Pro"/>
              <a:cs typeface="Source Code Pro"/>
              <a:sym typeface="Source Code Pr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Accessibility</a:t>
            </a:r>
            <a:endParaRPr/>
          </a:p>
        </p:txBody>
      </p:sp>
      <p:sp>
        <p:nvSpPr>
          <p:cNvPr id="278" name="Google Shape;278;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it"/>
              <a:t>Remember: </a:t>
            </a:r>
            <a:endParaRPr/>
          </a:p>
          <a:p>
            <a:pPr indent="0" lvl="0" marL="0" rtl="0" algn="l">
              <a:spcBef>
                <a:spcPts val="1200"/>
              </a:spcBef>
              <a:spcAft>
                <a:spcPts val="0"/>
              </a:spcAft>
              <a:buNone/>
            </a:pPr>
            <a:r>
              <a:rPr b="1" lang="it"/>
              <a:t>Accessibility helps everyone!</a:t>
            </a:r>
            <a:endParaRPr b="1"/>
          </a:p>
          <a:p>
            <a:pPr indent="0" lvl="0" marL="0" rtl="0" algn="l">
              <a:spcBef>
                <a:spcPts val="1200"/>
              </a:spcBef>
              <a:spcAft>
                <a:spcPts val="0"/>
              </a:spcAft>
              <a:buNone/>
            </a:pPr>
            <a:r>
              <a:rPr lang="it"/>
              <a:t>Having a product that provides accessibility, is not only the right thing to do, but is more usable to the whole range of users.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Some examples?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Accessibility</a:t>
            </a:r>
            <a:endParaRPr/>
          </a:p>
        </p:txBody>
      </p:sp>
      <p:pic>
        <p:nvPicPr>
          <p:cNvPr id="284" name="Google Shape;284;p41"/>
          <p:cNvPicPr preferRelativeResize="0"/>
          <p:nvPr/>
        </p:nvPicPr>
        <p:blipFill>
          <a:blip r:embed="rId3">
            <a:alphaModFix/>
          </a:blip>
          <a:stretch>
            <a:fillRect/>
          </a:stretch>
        </p:blipFill>
        <p:spPr>
          <a:xfrm>
            <a:off x="311700" y="1238625"/>
            <a:ext cx="3535348" cy="3744850"/>
          </a:xfrm>
          <a:prstGeom prst="rect">
            <a:avLst/>
          </a:prstGeom>
          <a:noFill/>
          <a:ln>
            <a:noFill/>
          </a:ln>
        </p:spPr>
      </p:pic>
      <p:pic>
        <p:nvPicPr>
          <p:cNvPr id="285" name="Google Shape;285;p41"/>
          <p:cNvPicPr preferRelativeResize="0"/>
          <p:nvPr/>
        </p:nvPicPr>
        <p:blipFill>
          <a:blip r:embed="rId4">
            <a:alphaModFix/>
          </a:blip>
          <a:stretch>
            <a:fillRect/>
          </a:stretch>
        </p:blipFill>
        <p:spPr>
          <a:xfrm>
            <a:off x="4830700" y="140337"/>
            <a:ext cx="3936875" cy="2077800"/>
          </a:xfrm>
          <a:prstGeom prst="rect">
            <a:avLst/>
          </a:prstGeom>
          <a:noFill/>
          <a:ln>
            <a:noFill/>
          </a:ln>
        </p:spPr>
      </p:pic>
      <p:pic>
        <p:nvPicPr>
          <p:cNvPr id="286" name="Google Shape;286;p41"/>
          <p:cNvPicPr preferRelativeResize="0"/>
          <p:nvPr/>
        </p:nvPicPr>
        <p:blipFill>
          <a:blip r:embed="rId5">
            <a:alphaModFix/>
          </a:blip>
          <a:stretch>
            <a:fillRect/>
          </a:stretch>
        </p:blipFill>
        <p:spPr>
          <a:xfrm>
            <a:off x="4830700" y="2818862"/>
            <a:ext cx="3936875" cy="2077800"/>
          </a:xfrm>
          <a:prstGeom prst="rect">
            <a:avLst/>
          </a:prstGeom>
          <a:noFill/>
          <a:ln>
            <a:noFill/>
          </a:ln>
        </p:spPr>
      </p:pic>
      <p:sp>
        <p:nvSpPr>
          <p:cNvPr id="287" name="Google Shape;287;p41"/>
          <p:cNvSpPr txBox="1"/>
          <p:nvPr/>
        </p:nvSpPr>
        <p:spPr>
          <a:xfrm>
            <a:off x="6593625" y="2318388"/>
            <a:ext cx="41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latin typeface="Source Code Pro"/>
                <a:ea typeface="Source Code Pro"/>
                <a:cs typeface="Source Code Pro"/>
                <a:sym typeface="Source Code Pro"/>
              </a:rPr>
              <a:t>VS</a:t>
            </a:r>
            <a:endParaRPr>
              <a:latin typeface="Source Code Pro"/>
              <a:ea typeface="Source Code Pro"/>
              <a:cs typeface="Source Code Pro"/>
              <a:sym typeface="Source Code P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Recap: How to design for adaptability?</a:t>
            </a:r>
            <a:endParaRPr/>
          </a:p>
        </p:txBody>
      </p:sp>
      <p:sp>
        <p:nvSpPr>
          <p:cNvPr id="293" name="Google Shape;293;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it"/>
              <a:t>You cannot think about adaptability only at the end of the design process. </a:t>
            </a:r>
            <a:endParaRPr/>
          </a:p>
          <a:p>
            <a:pPr indent="0" lvl="0" marL="0" rtl="0" algn="l">
              <a:spcBef>
                <a:spcPts val="1200"/>
              </a:spcBef>
              <a:spcAft>
                <a:spcPts val="0"/>
              </a:spcAft>
              <a:buNone/>
            </a:pPr>
            <a:r>
              <a:rPr b="1" lang="it"/>
              <a:t>Designing for adaptability should be integrated throughout the design process</a:t>
            </a:r>
            <a:r>
              <a:rPr lang="it"/>
              <a:t>, starting from the research phase to the testing and implementation phase.</a:t>
            </a:r>
            <a:endParaRPr/>
          </a:p>
          <a:p>
            <a:pPr indent="0" lvl="0" marL="0" rtl="0" algn="l">
              <a:spcBef>
                <a:spcPts val="1200"/>
              </a:spcBef>
              <a:spcAft>
                <a:spcPts val="1200"/>
              </a:spcAft>
              <a:buNone/>
            </a:pPr>
            <a:r>
              <a:rPr lang="it"/>
              <a:t>Especially when you start to build wireframes, you already should know for whom you are designing and what are their needs.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Recap: How to design for adaptability?</a:t>
            </a:r>
            <a:endParaRPr/>
          </a:p>
        </p:txBody>
      </p:sp>
      <p:pic>
        <p:nvPicPr>
          <p:cNvPr id="299" name="Google Shape;299;p43"/>
          <p:cNvPicPr preferRelativeResize="0"/>
          <p:nvPr/>
        </p:nvPicPr>
        <p:blipFill>
          <a:blip r:embed="rId3">
            <a:alphaModFix/>
          </a:blip>
          <a:stretch>
            <a:fillRect/>
          </a:stretch>
        </p:blipFill>
        <p:spPr>
          <a:xfrm>
            <a:off x="311700" y="1344400"/>
            <a:ext cx="1547475" cy="1547475"/>
          </a:xfrm>
          <a:prstGeom prst="rect">
            <a:avLst/>
          </a:prstGeom>
          <a:noFill/>
          <a:ln>
            <a:noFill/>
          </a:ln>
        </p:spPr>
      </p:pic>
      <p:sp>
        <p:nvSpPr>
          <p:cNvPr id="300" name="Google Shape;300;p43"/>
          <p:cNvSpPr txBox="1"/>
          <p:nvPr/>
        </p:nvSpPr>
        <p:spPr>
          <a:xfrm>
            <a:off x="273675" y="2929375"/>
            <a:ext cx="15855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300">
                <a:latin typeface="Source Code Pro"/>
                <a:ea typeface="Source Code Pro"/>
                <a:cs typeface="Source Code Pro"/>
                <a:sym typeface="Source Code Pro"/>
              </a:rPr>
              <a:t>User research</a:t>
            </a:r>
            <a:r>
              <a:rPr lang="it" sz="1300">
                <a:latin typeface="Source Code Pro"/>
                <a:ea typeface="Source Code Pro"/>
                <a:cs typeface="Source Code Pro"/>
                <a:sym typeface="Source Code Pro"/>
              </a:rPr>
              <a:t>: understanding the user needs, behaviors and preferences in different contexts.</a:t>
            </a:r>
            <a:endParaRPr sz="1300">
              <a:latin typeface="Source Code Pro"/>
              <a:ea typeface="Source Code Pro"/>
              <a:cs typeface="Source Code Pro"/>
              <a:sym typeface="Source Code Pro"/>
            </a:endParaRPr>
          </a:p>
        </p:txBody>
      </p:sp>
      <p:sp>
        <p:nvSpPr>
          <p:cNvPr id="301" name="Google Shape;301;p43"/>
          <p:cNvSpPr txBox="1"/>
          <p:nvPr/>
        </p:nvSpPr>
        <p:spPr>
          <a:xfrm>
            <a:off x="2571733" y="2929375"/>
            <a:ext cx="15855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300">
                <a:latin typeface="Source Code Pro"/>
                <a:ea typeface="Source Code Pro"/>
                <a:cs typeface="Source Code Pro"/>
                <a:sym typeface="Source Code Pro"/>
              </a:rPr>
              <a:t>Responsive design</a:t>
            </a:r>
            <a:r>
              <a:rPr lang="it" sz="1300">
                <a:latin typeface="Source Code Pro"/>
                <a:ea typeface="Source Code Pro"/>
                <a:cs typeface="Source Code Pro"/>
                <a:sym typeface="Source Code Pro"/>
              </a:rPr>
              <a:t>: creating designs that adapt to different screen sizes and devices.</a:t>
            </a:r>
            <a:endParaRPr sz="1300">
              <a:latin typeface="Source Code Pro"/>
              <a:ea typeface="Source Code Pro"/>
              <a:cs typeface="Source Code Pro"/>
              <a:sym typeface="Source Code Pro"/>
            </a:endParaRPr>
          </a:p>
        </p:txBody>
      </p:sp>
      <p:sp>
        <p:nvSpPr>
          <p:cNvPr id="302" name="Google Shape;302;p43"/>
          <p:cNvSpPr txBox="1"/>
          <p:nvPr/>
        </p:nvSpPr>
        <p:spPr>
          <a:xfrm>
            <a:off x="4869792" y="2929375"/>
            <a:ext cx="15855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300">
                <a:latin typeface="Source Code Pro"/>
                <a:ea typeface="Source Code Pro"/>
                <a:cs typeface="Source Code Pro"/>
                <a:sym typeface="Source Code Pro"/>
              </a:rPr>
              <a:t>Accessibility</a:t>
            </a:r>
            <a:r>
              <a:rPr lang="it" sz="1300">
                <a:latin typeface="Source Code Pro"/>
                <a:ea typeface="Source Code Pro"/>
                <a:cs typeface="Source Code Pro"/>
                <a:sym typeface="Source Code Pro"/>
              </a:rPr>
              <a:t>: ensuring that the design is usable for people with disabilities.</a:t>
            </a:r>
            <a:endParaRPr sz="1300">
              <a:latin typeface="Source Code Pro"/>
              <a:ea typeface="Source Code Pro"/>
              <a:cs typeface="Source Code Pro"/>
              <a:sym typeface="Source Code Pro"/>
            </a:endParaRPr>
          </a:p>
        </p:txBody>
      </p:sp>
      <p:sp>
        <p:nvSpPr>
          <p:cNvPr id="303" name="Google Shape;303;p43"/>
          <p:cNvSpPr txBox="1"/>
          <p:nvPr/>
        </p:nvSpPr>
        <p:spPr>
          <a:xfrm>
            <a:off x="7167850" y="2929375"/>
            <a:ext cx="15855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300">
                <a:latin typeface="Source Code Pro"/>
                <a:ea typeface="Source Code Pro"/>
                <a:cs typeface="Source Code Pro"/>
                <a:sym typeface="Source Code Pro"/>
              </a:rPr>
              <a:t>Testing</a:t>
            </a:r>
            <a:r>
              <a:rPr lang="it" sz="1300">
                <a:latin typeface="Source Code Pro"/>
                <a:ea typeface="Source Code Pro"/>
                <a:cs typeface="Source Code Pro"/>
                <a:sym typeface="Source Code Pro"/>
              </a:rPr>
              <a:t>: validating the design in different contexts and making adjustments accordingly.</a:t>
            </a:r>
            <a:endParaRPr sz="1300">
              <a:latin typeface="Source Code Pro"/>
              <a:ea typeface="Source Code Pro"/>
              <a:cs typeface="Source Code Pro"/>
              <a:sym typeface="Source Code Pro"/>
            </a:endParaRPr>
          </a:p>
        </p:txBody>
      </p:sp>
      <p:pic>
        <p:nvPicPr>
          <p:cNvPr id="304" name="Google Shape;304;p43"/>
          <p:cNvPicPr preferRelativeResize="0"/>
          <p:nvPr/>
        </p:nvPicPr>
        <p:blipFill>
          <a:blip r:embed="rId4">
            <a:alphaModFix/>
          </a:blip>
          <a:stretch>
            <a:fillRect/>
          </a:stretch>
        </p:blipFill>
        <p:spPr>
          <a:xfrm>
            <a:off x="2590750" y="1344400"/>
            <a:ext cx="1547475" cy="1547475"/>
          </a:xfrm>
          <a:prstGeom prst="rect">
            <a:avLst/>
          </a:prstGeom>
          <a:noFill/>
          <a:ln>
            <a:noFill/>
          </a:ln>
        </p:spPr>
      </p:pic>
      <p:pic>
        <p:nvPicPr>
          <p:cNvPr id="305" name="Google Shape;305;p43"/>
          <p:cNvPicPr preferRelativeResize="0"/>
          <p:nvPr/>
        </p:nvPicPr>
        <p:blipFill>
          <a:blip r:embed="rId5">
            <a:alphaModFix/>
          </a:blip>
          <a:stretch>
            <a:fillRect/>
          </a:stretch>
        </p:blipFill>
        <p:spPr>
          <a:xfrm>
            <a:off x="7186863" y="1298763"/>
            <a:ext cx="1547475" cy="1547475"/>
          </a:xfrm>
          <a:prstGeom prst="rect">
            <a:avLst/>
          </a:prstGeom>
          <a:noFill/>
          <a:ln>
            <a:noFill/>
          </a:ln>
        </p:spPr>
      </p:pic>
      <p:pic>
        <p:nvPicPr>
          <p:cNvPr id="306" name="Google Shape;306;p43"/>
          <p:cNvPicPr preferRelativeResize="0"/>
          <p:nvPr/>
        </p:nvPicPr>
        <p:blipFill>
          <a:blip r:embed="rId6">
            <a:alphaModFix/>
          </a:blip>
          <a:stretch>
            <a:fillRect/>
          </a:stretch>
        </p:blipFill>
        <p:spPr>
          <a:xfrm>
            <a:off x="4888813" y="1350476"/>
            <a:ext cx="1547475" cy="15474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4"/>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From wireframes to wireflows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User flows</a:t>
            </a:r>
            <a:endParaRPr/>
          </a:p>
        </p:txBody>
      </p:sp>
      <p:sp>
        <p:nvSpPr>
          <p:cNvPr id="317" name="Google Shape;317;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a:t>We said that wireframes are used to visually </a:t>
            </a:r>
            <a:r>
              <a:rPr lang="it"/>
              <a:t>describe the user interface by means of static blueprints. But </a:t>
            </a:r>
            <a:r>
              <a:rPr b="1" lang="it"/>
              <a:t>the real actions that the user will have on that interface are not static!</a:t>
            </a:r>
            <a:endParaRPr b="1"/>
          </a:p>
          <a:p>
            <a:pPr indent="0" lvl="0" marL="0" rtl="0" algn="l">
              <a:spcBef>
                <a:spcPts val="1200"/>
              </a:spcBef>
              <a:spcAft>
                <a:spcPts val="0"/>
              </a:spcAft>
              <a:buNone/>
            </a:pPr>
            <a:r>
              <a:rPr lang="it"/>
              <a:t>This is why we can use user flows.</a:t>
            </a:r>
            <a:endParaRPr/>
          </a:p>
          <a:p>
            <a:pPr indent="0" lvl="0" marL="0" rtl="0" algn="l">
              <a:spcBef>
                <a:spcPts val="1200"/>
              </a:spcBef>
              <a:spcAft>
                <a:spcPts val="0"/>
              </a:spcAft>
              <a:buNone/>
            </a:pPr>
            <a:r>
              <a:rPr b="1" lang="it"/>
              <a:t>User flows help to describe the possible actions available to the a particular user in our interface. </a:t>
            </a:r>
            <a:r>
              <a:rPr lang="it"/>
              <a:t>It helps to map out all the possible steps and the movement of the user in our app/website.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sz="1151" u="sng">
                <a:solidFill>
                  <a:schemeClr val="hlink"/>
                </a:solidFill>
                <a:hlinkClick r:id="rId3"/>
              </a:rPr>
              <a:t>https://careerfoundry.com/en/blog/ux-design/what-are-user-flows/#where-do-user-flows-fit-into-the-ux-design-process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a:t>
            </a:r>
            <a:r>
              <a:rPr lang="it"/>
              <a:t>ser flows: flowchart</a:t>
            </a:r>
            <a:endParaRPr/>
          </a:p>
        </p:txBody>
      </p:sp>
      <p:sp>
        <p:nvSpPr>
          <p:cNvPr id="323" name="Google Shape;323;p46"/>
          <p:cNvSpPr txBox="1"/>
          <p:nvPr>
            <p:ph idx="1" type="body"/>
          </p:nvPr>
        </p:nvSpPr>
        <p:spPr>
          <a:xfrm>
            <a:off x="311700" y="1126100"/>
            <a:ext cx="3129900" cy="34428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When defining the flow the better way is to start from the personas, the requirements, scenarios and (even better) the user journey.</a:t>
            </a:r>
            <a:endParaRPr/>
          </a:p>
          <a:p>
            <a:pPr indent="0" lvl="0" marL="0" rtl="0" algn="l">
              <a:spcBef>
                <a:spcPts val="1200"/>
              </a:spcBef>
              <a:spcAft>
                <a:spcPts val="1200"/>
              </a:spcAft>
              <a:buNone/>
            </a:pPr>
            <a:r>
              <a:rPr lang="it"/>
              <a:t>Thinking about the possible </a:t>
            </a:r>
            <a:r>
              <a:rPr b="1" lang="it"/>
              <a:t>touchpoints that the user will have</a:t>
            </a:r>
            <a:r>
              <a:rPr lang="it"/>
              <a:t> with the system we can define an abstract </a:t>
            </a:r>
            <a:r>
              <a:rPr b="1" lang="it"/>
              <a:t>flowchart</a:t>
            </a:r>
            <a:r>
              <a:rPr lang="it"/>
              <a:t>.</a:t>
            </a:r>
            <a:endParaRPr/>
          </a:p>
        </p:txBody>
      </p:sp>
      <p:pic>
        <p:nvPicPr>
          <p:cNvPr id="324" name="Google Shape;324;p46"/>
          <p:cNvPicPr preferRelativeResize="0"/>
          <p:nvPr/>
        </p:nvPicPr>
        <p:blipFill>
          <a:blip r:embed="rId3">
            <a:alphaModFix/>
          </a:blip>
          <a:stretch>
            <a:fillRect/>
          </a:stretch>
        </p:blipFill>
        <p:spPr>
          <a:xfrm>
            <a:off x="3441672" y="789950"/>
            <a:ext cx="5537377" cy="35635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User flows: wireflows</a:t>
            </a:r>
            <a:endParaRPr/>
          </a:p>
        </p:txBody>
      </p:sp>
      <p:sp>
        <p:nvSpPr>
          <p:cNvPr id="330" name="Google Shape;330;p47"/>
          <p:cNvSpPr txBox="1"/>
          <p:nvPr>
            <p:ph idx="1" type="body"/>
          </p:nvPr>
        </p:nvSpPr>
        <p:spPr>
          <a:xfrm>
            <a:off x="311700" y="1228675"/>
            <a:ext cx="8520600" cy="94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Wireflows further express a </a:t>
            </a:r>
            <a:r>
              <a:rPr lang="it"/>
              <a:t>flowchart</a:t>
            </a:r>
            <a:r>
              <a:rPr lang="it"/>
              <a:t> by using wireframes instead of abstract descriptions.</a:t>
            </a:r>
            <a:endParaRPr/>
          </a:p>
        </p:txBody>
      </p:sp>
      <p:pic>
        <p:nvPicPr>
          <p:cNvPr id="331" name="Google Shape;331;p47"/>
          <p:cNvPicPr preferRelativeResize="0"/>
          <p:nvPr/>
        </p:nvPicPr>
        <p:blipFill>
          <a:blip r:embed="rId3">
            <a:alphaModFix/>
          </a:blip>
          <a:stretch>
            <a:fillRect/>
          </a:stretch>
        </p:blipFill>
        <p:spPr>
          <a:xfrm>
            <a:off x="1819750" y="2009175"/>
            <a:ext cx="5504499" cy="30962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User flows and wireflows</a:t>
            </a:r>
            <a:endParaRPr/>
          </a:p>
        </p:txBody>
      </p:sp>
      <p:sp>
        <p:nvSpPr>
          <p:cNvPr id="337" name="Google Shape;337;p48"/>
          <p:cNvSpPr txBox="1"/>
          <p:nvPr>
            <p:ph idx="1" type="body"/>
          </p:nvPr>
        </p:nvSpPr>
        <p:spPr>
          <a:xfrm>
            <a:off x="311700" y="1228675"/>
            <a:ext cx="3769200" cy="3437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A wireflow can be also used to describe a particular user flow. </a:t>
            </a:r>
            <a:endParaRPr/>
          </a:p>
          <a:p>
            <a:pPr indent="0" lvl="0" marL="0" rtl="0" algn="l">
              <a:spcBef>
                <a:spcPts val="1200"/>
              </a:spcBef>
              <a:spcAft>
                <a:spcPts val="0"/>
              </a:spcAft>
              <a:buNone/>
            </a:pPr>
            <a:r>
              <a:rPr lang="it"/>
              <a:t>When you take the course of action that a specific persona can take in your system and describe it through a </a:t>
            </a:r>
            <a:r>
              <a:rPr lang="it"/>
              <a:t>particular flow chart you have a </a:t>
            </a:r>
            <a:r>
              <a:rPr b="1" lang="it"/>
              <a:t>user flow</a:t>
            </a:r>
            <a:r>
              <a:rPr lang="it"/>
              <a:t>. </a:t>
            </a:r>
            <a:endParaRPr/>
          </a:p>
          <a:p>
            <a:pPr indent="0" lvl="0" marL="0" rtl="0" algn="l">
              <a:spcBef>
                <a:spcPts val="1200"/>
              </a:spcBef>
              <a:spcAft>
                <a:spcPts val="1200"/>
              </a:spcAft>
              <a:buNone/>
            </a:pPr>
            <a:r>
              <a:rPr lang="it"/>
              <a:t>A user flow expressed with the use of wireframes, as a wireflow, narrates better the use of the interface.</a:t>
            </a:r>
            <a:endParaRPr/>
          </a:p>
        </p:txBody>
      </p:sp>
      <p:pic>
        <p:nvPicPr>
          <p:cNvPr id="338" name="Google Shape;338;p48"/>
          <p:cNvPicPr preferRelativeResize="0"/>
          <p:nvPr/>
        </p:nvPicPr>
        <p:blipFill>
          <a:blip r:embed="rId3">
            <a:alphaModFix/>
          </a:blip>
          <a:stretch>
            <a:fillRect/>
          </a:stretch>
        </p:blipFill>
        <p:spPr>
          <a:xfrm>
            <a:off x="4019950" y="477538"/>
            <a:ext cx="5124050" cy="418843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Mockups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p:txBody>
      </p:sp>
      <p:sp>
        <p:nvSpPr>
          <p:cNvPr id="349" name="Google Shape;349;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 mockup is a high-fidelity representation of the product that includes more visual detail and design elements than a wireframe: it is a more polished and refined version and it is used to test and refine the look and feel.</a:t>
            </a:r>
            <a:endParaRPr/>
          </a:p>
          <a:p>
            <a:pPr indent="0" lvl="0" marL="0" rtl="0" algn="l">
              <a:spcBef>
                <a:spcPts val="1200"/>
              </a:spcBef>
              <a:spcAft>
                <a:spcPts val="1200"/>
              </a:spcAft>
              <a:buNone/>
            </a:pPr>
            <a:r>
              <a:rPr lang="it"/>
              <a:t>A realistic </a:t>
            </a:r>
            <a:r>
              <a:rPr b="1" lang="it"/>
              <a:t>visual design</a:t>
            </a:r>
            <a:r>
              <a:rPr lang="it"/>
              <a:t> that resembles </a:t>
            </a:r>
            <a:r>
              <a:rPr b="1" lang="it"/>
              <a:t>what</a:t>
            </a:r>
            <a:r>
              <a:rPr lang="it"/>
              <a:t> the new product or functionality </a:t>
            </a:r>
            <a:r>
              <a:rPr b="1" lang="it"/>
              <a:t>will</a:t>
            </a:r>
            <a:r>
              <a:rPr lang="it"/>
              <a:t> </a:t>
            </a:r>
            <a:r>
              <a:rPr b="1" lang="it"/>
              <a:t>look like</a:t>
            </a:r>
            <a:r>
              <a:rPr lang="it"/>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p:txBody>
      </p:sp>
      <p:sp>
        <p:nvSpPr>
          <p:cNvPr id="355" name="Google Shape;355;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Creating a mockup involves adding visual details and design elements to a wireframe, such as typography, color schemes, and images. Mockups can be created only digitally using design  software, such as Sketch, Adobe XD (or Photoshop, just like the good old times), or Figma.</a:t>
            </a:r>
            <a:endParaRPr/>
          </a:p>
          <a:p>
            <a:pPr indent="0" lvl="0" marL="0" rtl="0" algn="l">
              <a:spcBef>
                <a:spcPts val="1200"/>
              </a:spcBef>
              <a:spcAft>
                <a:spcPts val="1200"/>
              </a:spcAft>
              <a:buNone/>
            </a:pPr>
            <a:r>
              <a:rPr lang="it"/>
              <a:t>So, mockups can be used to </a:t>
            </a:r>
            <a:r>
              <a:rPr b="1" lang="it"/>
              <a:t>refine </a:t>
            </a:r>
            <a:r>
              <a:rPr lang="it"/>
              <a:t>and </a:t>
            </a:r>
            <a:r>
              <a:rPr b="1" lang="it"/>
              <a:t>showcase visual design elements</a:t>
            </a:r>
            <a:r>
              <a:rPr lang="it"/>
              <a:t>, from the placement of images and icons to the overall style and branding of a product or service. But is essential to note that while mockups may resemble the final product, </a:t>
            </a:r>
            <a:r>
              <a:rPr lang="it" u="sng"/>
              <a:t>they lack the functionality required to perform meaningful testing or gather insightful feedback</a:t>
            </a:r>
            <a:r>
              <a:rPr lang="it"/>
              <a:t>. This is because mockups are static representations of the design and lack the interactive elements that are necessary for usability testing.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Wireframes vs Mockups</a:t>
            </a:r>
            <a:endParaRPr/>
          </a:p>
        </p:txBody>
      </p:sp>
      <p:pic>
        <p:nvPicPr>
          <p:cNvPr id="361" name="Google Shape;361;p52"/>
          <p:cNvPicPr preferRelativeResize="0"/>
          <p:nvPr/>
        </p:nvPicPr>
        <p:blipFill>
          <a:blip r:embed="rId3">
            <a:alphaModFix/>
          </a:blip>
          <a:stretch>
            <a:fillRect/>
          </a:stretch>
        </p:blipFill>
        <p:spPr>
          <a:xfrm>
            <a:off x="2628662" y="1172425"/>
            <a:ext cx="3886675" cy="35414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Mockups</a:t>
            </a:r>
            <a:endParaRPr/>
          </a:p>
          <a:p>
            <a:pPr indent="0" lvl="0" marL="0" rtl="0" algn="l">
              <a:spcBef>
                <a:spcPts val="0"/>
              </a:spcBef>
              <a:spcAft>
                <a:spcPts val="0"/>
              </a:spcAft>
              <a:buNone/>
            </a:pPr>
            <a:r>
              <a:t/>
            </a:r>
            <a:endParaRPr/>
          </a:p>
        </p:txBody>
      </p:sp>
      <p:sp>
        <p:nvSpPr>
          <p:cNvPr id="367" name="Google Shape;367;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When and why?</a:t>
            </a:r>
            <a:endParaRPr b="1"/>
          </a:p>
          <a:p>
            <a:pPr indent="0" lvl="0" marL="0" rtl="0" algn="l">
              <a:spcBef>
                <a:spcPts val="1200"/>
              </a:spcBef>
              <a:spcAft>
                <a:spcPts val="1200"/>
              </a:spcAft>
              <a:buNone/>
            </a:pPr>
            <a:r>
              <a:rPr lang="it"/>
              <a:t>UX/UI teams commonly rely on mockups during the design process to showcase their ideas to stakeholders and clients. These mockups serve as visual aids that help UX professionals </a:t>
            </a:r>
            <a:r>
              <a:rPr lang="it" u="sng"/>
              <a:t>communicate their design concepts and features more effectively</a:t>
            </a:r>
            <a:r>
              <a:rPr lang="it"/>
              <a:t>. In addition, mockups are helpful for certain types of usability studies where feedback is needed on the overall look and feel of the design (5-seconds test, first-click test).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