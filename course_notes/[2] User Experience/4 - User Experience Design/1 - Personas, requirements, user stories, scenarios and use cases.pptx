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7083f086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7083f086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6309181e3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6309181e3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6309181e3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6309181e3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6309181e3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6309181e3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6309181e35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6309181e35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6309181e35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6309181e35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0fdf3c3cc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0fdf3c3cc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6309181e3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6309181e3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6309181e35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6309181e35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b65a443cc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b65a443cc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dd70e231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dd70e231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dd70e231f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dd70e231f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dd70e231f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dd70e231f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0fdf3c3cc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0fdf3c3cc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a17083f086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a17083f086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a17083f08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a17083f08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a17083f08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a17083f08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a17083f08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a17083f08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b65a443cc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b65a443cc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a17083f08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a17083f08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a17083f086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a17083f086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a17083f08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a17083f08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a17083f086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a17083f08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a17083f086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a17083f086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6309181e35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6309181e35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6309181e35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6309181e35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6309181e35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6309181e3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6309181e35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6309181e35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6309181e35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6309181e35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6309181e35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6309181e35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6309181e35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6309181e35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6309181e35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6309181e35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6309181e35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6309181e35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6309181e35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6309181e35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a17083f08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a17083f086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6309181e35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6309181e35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6309181e35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6309181e35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6309181e35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6309181e35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6309181e35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6309181e35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6309181e35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6309181e35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6309181e35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6309181e35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6309181e35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6309181e35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6309181e35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6309181e35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6309181e35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6309181e35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a17083f086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a17083f086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6309181e35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6309181e35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6309181e35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6309181e35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6309181e35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6309181e35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6309181e35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6309181e35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6309181e35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6309181e35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6309181e35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6309181e35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6309181e35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6309181e35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a17083f086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a17083f086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6309181e35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6309181e35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656451d201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656451d201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6309181e35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6309181e35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656451d20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656451d20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1175593f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21175593f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IUM 25-26</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justinmind.com/blog/user-personas-scenarios-user-stories-and-storyboards-whats-the-differenc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nngroup.com/articles/persona-typ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forbes.com/sites/forbesagencycouncil/2018/03/14/how-to-craft-the-ideal-user-persona-for-your-brand/#7bc1f8ed6ea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simplicable.com/new/user-persona" TargetMode="External"/><Relationship Id="rId4" Type="http://schemas.openxmlformats.org/officeDocument/2006/relationships/hyperlink" Target="https://www.justinmind.com/blog/user-personas-which-game-of-thrones-character-is-your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nngroup.com/articles/personas-archetype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youtube.com/watch?v=fal4Wylyt3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smaply.com/blog/persona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hyperlink" Target="https://usabilitygeek.com/requirements-gathering-user-experience-pt1/"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www.youtube.com/watch?v=xamf6hpD5nw"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aycl.uie.com/virtual_seminars/designing_with_scenarios_putting_personas_to_work"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uxknowledgebase.com/scenarios-43e05671b07"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www.usability.gov/how-to-and-tools/methods/scenarios.htm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www.interaction-design.org/literature/topics/user-scenario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hyperlink" Target="https://www.youtube.com/watch?v=Ct-lOOUqmyY&amp;ab_channel=NowI%27veSeenEverything"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www.usability.gov/how-to-and-tools/methods/use-cases.html"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s://www.usability.gov/how-to-and-tools/methods/use-cases.html"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s://uxplanet.org/5-examples-of-brilliant-ux-design-8e847bf0bcc0" TargetMode="External"/><Relationship Id="rId4" Type="http://schemas.openxmlformats.org/officeDocument/2006/relationships/hyperlink" Target="https://uxdesign.cc/fitbit-a-usability-case-study-b23e4c539c3c" TargetMode="External"/><Relationship Id="rId5" Type="http://schemas.openxmlformats.org/officeDocument/2006/relationships/hyperlink" Target="https://uxplanet.org/foodmix-cooking-app-ux-case-study-d046c1f5896b"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Personas, </a:t>
            </a:r>
            <a:r>
              <a:rPr lang="it"/>
              <a:t>Requirements, </a:t>
            </a:r>
            <a:r>
              <a:rPr lang="it"/>
              <a:t>user stories, </a:t>
            </a:r>
            <a:r>
              <a:rPr lang="it"/>
              <a:t>scenarios</a:t>
            </a:r>
            <a:r>
              <a:rPr lang="it"/>
              <a:t> and use cases</a:t>
            </a:r>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 scenarios, user stories and use case</a:t>
            </a:r>
            <a:endParaRPr/>
          </a:p>
        </p:txBody>
      </p:sp>
      <p:sp>
        <p:nvSpPr>
          <p:cNvPr id="62" name="Google Shape;62;p1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source: </a:t>
            </a:r>
            <a:r>
              <a:rPr lang="it" sz="1100" u="sng">
                <a:solidFill>
                  <a:schemeClr val="accent5"/>
                </a:solidFill>
                <a:hlinkClick r:id="rId3">
                  <a:extLst>
                    <a:ext uri="{A12FA001-AC4F-418D-AE19-62706E023703}">
                      <ahyp:hlinkClr val="tx"/>
                    </a:ext>
                  </a:extLst>
                </a:hlinkClick>
              </a:rPr>
              <a:t>https://www.justinmind.com/blog/user-personas-scenarios-user-stories-and-storyboards-whats-the-difference/</a:t>
            </a:r>
            <a:endParaRPr sz="1400">
              <a:solidFill>
                <a:schemeClr val="dk1"/>
              </a:solidFill>
            </a:endParaRPr>
          </a:p>
          <a:p>
            <a:pPr indent="0" lvl="0" marL="0" rtl="0" algn="l">
              <a:spcBef>
                <a:spcPts val="1600"/>
              </a:spcBef>
              <a:spcAft>
                <a:spcPts val="0"/>
              </a:spcAft>
              <a:buNone/>
            </a:pPr>
            <a:r>
              <a:t/>
            </a:r>
            <a:endParaRPr sz="1400">
              <a:solidFill>
                <a:schemeClr val="dk1"/>
              </a:solidFill>
            </a:endParaRPr>
          </a:p>
          <a:p>
            <a:pPr indent="0" lvl="0" marL="0" rtl="0" algn="l">
              <a:lnSpc>
                <a:spcPct val="150000"/>
              </a:lnSpc>
              <a:spcBef>
                <a:spcPts val="1600"/>
              </a:spcBef>
              <a:spcAft>
                <a:spcPts val="0"/>
              </a:spcAft>
              <a:buNone/>
            </a:pPr>
            <a:r>
              <a:rPr lang="it" sz="1700">
                <a:solidFill>
                  <a:srgbClr val="2B2B2B"/>
                </a:solidFill>
              </a:rPr>
              <a:t>4 user research methods to help you create reliable and realistic representations of your target users and design accordingly</a:t>
            </a:r>
            <a:endParaRPr sz="1700">
              <a:solidFill>
                <a:srgbClr val="2B2B2B"/>
              </a:solidFill>
            </a:endParaRPr>
          </a:p>
          <a:p>
            <a:pPr indent="0" lvl="0" marL="0" rtl="0" algn="l">
              <a:lnSpc>
                <a:spcPct val="150000"/>
              </a:lnSpc>
              <a:spcBef>
                <a:spcPts val="0"/>
              </a:spcBef>
              <a:spcAft>
                <a:spcPts val="0"/>
              </a:spcAft>
              <a:buClr>
                <a:schemeClr val="dk1"/>
              </a:buClr>
              <a:buSzPts val="1100"/>
              <a:buFont typeface="Arial"/>
              <a:buNone/>
            </a:pPr>
            <a:r>
              <a:t/>
            </a:r>
            <a:endParaRPr sz="1700" u="sng">
              <a:solidFill>
                <a:srgbClr val="2B2B2B"/>
              </a:solidFill>
            </a:endParaRPr>
          </a:p>
          <a:p>
            <a:pPr indent="0" lvl="0" marL="0" rtl="0" algn="l">
              <a:lnSpc>
                <a:spcPct val="150000"/>
              </a:lnSpc>
              <a:spcBef>
                <a:spcPts val="0"/>
              </a:spcBef>
              <a:spcAft>
                <a:spcPts val="0"/>
              </a:spcAft>
              <a:buClr>
                <a:schemeClr val="dk1"/>
              </a:buClr>
              <a:buSzPts val="1100"/>
              <a:buFont typeface="Arial"/>
              <a:buNone/>
            </a:pPr>
            <a:r>
              <a:rPr lang="it" sz="1700" u="sng">
                <a:solidFill>
                  <a:srgbClr val="2B2B2B"/>
                </a:solidFill>
              </a:rPr>
              <a:t>USER CENTERED DESIGN!</a:t>
            </a:r>
            <a:endParaRPr sz="1700" u="sng">
              <a:solidFill>
                <a:srgbClr val="2B2B2B"/>
              </a:solidFill>
            </a:endParaRPr>
          </a:p>
          <a:p>
            <a:pPr indent="0" lvl="0" marL="0" rtl="0" algn="l">
              <a:spcBef>
                <a:spcPts val="0"/>
              </a:spcBef>
              <a:spcAft>
                <a:spcPts val="0"/>
              </a:spcAft>
              <a:buNone/>
            </a:pPr>
            <a:r>
              <a:t/>
            </a:r>
            <a:endParaRPr sz="1400">
              <a:solidFill>
                <a:schemeClr val="dk1"/>
              </a:solidFill>
            </a:endParaRPr>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PERSONAS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PERSONAS</a:t>
            </a:r>
            <a:endParaRPr/>
          </a:p>
        </p:txBody>
      </p:sp>
      <p:sp>
        <p:nvSpPr>
          <p:cNvPr id="73" name="Google Shape;73;p16"/>
          <p:cNvSpPr txBox="1"/>
          <p:nvPr>
            <p:ph idx="1" type="body"/>
          </p:nvPr>
        </p:nvSpPr>
        <p:spPr>
          <a:xfrm>
            <a:off x="311700" y="619075"/>
            <a:ext cx="8520600" cy="173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a:t>
            </a:r>
            <a:r>
              <a:rPr b="1" lang="it"/>
              <a:t>user persona</a:t>
            </a:r>
            <a:r>
              <a:rPr lang="it"/>
              <a:t> is a </a:t>
            </a:r>
            <a:r>
              <a:rPr b="1" lang="it"/>
              <a:t>character</a:t>
            </a:r>
            <a:r>
              <a:rPr lang="it"/>
              <a:t> that represents a potential user of your website or app. </a:t>
            </a:r>
            <a:endParaRPr/>
          </a:p>
          <a:p>
            <a:pPr indent="0" lvl="0" marL="0" rtl="0" algn="l">
              <a:spcBef>
                <a:spcPts val="1600"/>
              </a:spcBef>
              <a:spcAft>
                <a:spcPts val="0"/>
              </a:spcAft>
              <a:buClr>
                <a:schemeClr val="dk1"/>
              </a:buClr>
              <a:buSzPts val="1100"/>
              <a:buFont typeface="Arial"/>
              <a:buNone/>
            </a:pPr>
            <a:r>
              <a:rPr lang="it"/>
              <a:t>In user centered-design, personas </a:t>
            </a:r>
            <a:r>
              <a:rPr lang="it" u="sng"/>
              <a:t>help the design team to target</a:t>
            </a:r>
            <a:r>
              <a:rPr lang="it"/>
              <a:t> their designs around users.</a:t>
            </a:r>
            <a:endParaRPr/>
          </a:p>
          <a:p>
            <a:pPr indent="0" lvl="0" marL="0" rtl="0" algn="l">
              <a:spcBef>
                <a:spcPts val="1600"/>
              </a:spcBef>
              <a:spcAft>
                <a:spcPts val="1600"/>
              </a:spcAft>
              <a:buNone/>
            </a:pPr>
            <a:r>
              <a:t/>
            </a:r>
            <a:endParaRPr/>
          </a:p>
        </p:txBody>
      </p:sp>
      <p:pic>
        <p:nvPicPr>
          <p:cNvPr id="74" name="Google Shape;74;p16"/>
          <p:cNvPicPr preferRelativeResize="0"/>
          <p:nvPr/>
        </p:nvPicPr>
        <p:blipFill>
          <a:blip r:embed="rId3">
            <a:alphaModFix/>
          </a:blip>
          <a:stretch>
            <a:fillRect/>
          </a:stretch>
        </p:blipFill>
        <p:spPr>
          <a:xfrm>
            <a:off x="5016970" y="2157775"/>
            <a:ext cx="4127030" cy="2730825"/>
          </a:xfrm>
          <a:prstGeom prst="rect">
            <a:avLst/>
          </a:prstGeom>
          <a:noFill/>
          <a:ln>
            <a:noFill/>
          </a:ln>
        </p:spPr>
      </p:pic>
      <p:sp>
        <p:nvSpPr>
          <p:cNvPr id="75" name="Google Shape;75;p16"/>
          <p:cNvSpPr txBox="1"/>
          <p:nvPr/>
        </p:nvSpPr>
        <p:spPr>
          <a:xfrm>
            <a:off x="311700" y="2409400"/>
            <a:ext cx="4371000" cy="247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it" sz="1800">
                <a:solidFill>
                  <a:schemeClr val="dk2"/>
                </a:solidFill>
              </a:rPr>
              <a:t>they are an integral part of the user experience research phase of software development. </a:t>
            </a:r>
            <a:endParaRPr sz="1800">
              <a:solidFill>
                <a:schemeClr val="dk2"/>
              </a:solidFill>
            </a:endParaRPr>
          </a:p>
          <a:p>
            <a:pPr indent="0" lvl="0" marL="0" rtl="0" algn="l">
              <a:lnSpc>
                <a:spcPct val="115000"/>
              </a:lnSpc>
              <a:spcBef>
                <a:spcPts val="1600"/>
              </a:spcBef>
              <a:spcAft>
                <a:spcPts val="0"/>
              </a:spcAft>
              <a:buClr>
                <a:schemeClr val="dk1"/>
              </a:buClr>
              <a:buSzPts val="1100"/>
              <a:buFont typeface="Arial"/>
              <a:buNone/>
            </a:pPr>
            <a:r>
              <a:rPr lang="it" sz="1800">
                <a:solidFill>
                  <a:schemeClr val="dk2"/>
                </a:solidFill>
              </a:rPr>
              <a:t>In user research, UXers will gather data related to the </a:t>
            </a:r>
            <a:r>
              <a:rPr b="1" lang="it" sz="1800">
                <a:solidFill>
                  <a:schemeClr val="dk2"/>
                </a:solidFill>
              </a:rPr>
              <a:t>goals and frustrations</a:t>
            </a:r>
            <a:r>
              <a:rPr lang="it" sz="1800">
                <a:solidFill>
                  <a:schemeClr val="dk2"/>
                </a:solidFill>
              </a:rPr>
              <a:t> of their potential users. Then, they create personas to put that data into context.</a:t>
            </a:r>
            <a:endParaRPr sz="1800">
              <a:solidFill>
                <a:schemeClr val="dk2"/>
              </a:solidFill>
            </a:endParaRPr>
          </a:p>
          <a:p>
            <a:pPr indent="0" lvl="0" marL="0" rtl="0" algn="l">
              <a:lnSpc>
                <a:spcPct val="115000"/>
              </a:lnSpc>
              <a:spcBef>
                <a:spcPts val="1600"/>
              </a:spcBef>
              <a:spcAft>
                <a:spcPts val="0"/>
              </a:spcAft>
              <a:buClr>
                <a:schemeClr val="dk1"/>
              </a:buClr>
              <a:buSzPts val="1100"/>
              <a:buFont typeface="Arial"/>
              <a:buNone/>
            </a:pPr>
            <a:r>
              <a:t/>
            </a:r>
            <a:endParaRPr sz="1800">
              <a:solidFill>
                <a:schemeClr val="dk2"/>
              </a:solidFill>
            </a:endParaRPr>
          </a:p>
          <a:p>
            <a:pPr indent="0" lvl="0" marL="0" rtl="0" algn="l">
              <a:spcBef>
                <a:spcPts val="16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a:t>
            </a:r>
            <a:endParaRPr/>
          </a:p>
        </p:txBody>
      </p:sp>
      <p:sp>
        <p:nvSpPr>
          <p:cNvPr id="81" name="Google Shape;81;p1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There is usually more than one type of user who will interact with your website or app, and creating personas </a:t>
            </a:r>
            <a:r>
              <a:rPr b="1" lang="it"/>
              <a:t>helps to scope out the range of users</a:t>
            </a:r>
            <a:r>
              <a:rPr lang="it"/>
              <a:t>. </a:t>
            </a:r>
            <a:endParaRPr/>
          </a:p>
          <a:p>
            <a:pPr indent="0" lvl="0" marL="0" rtl="0" algn="l">
              <a:spcBef>
                <a:spcPts val="1600"/>
              </a:spcBef>
              <a:spcAft>
                <a:spcPts val="0"/>
              </a:spcAft>
              <a:buNone/>
            </a:pPr>
            <a:r>
              <a:rPr lang="it"/>
              <a:t>For UX teams, introducing persona development into the design process helps them learn about the spectrum of goals and needs of their users. </a:t>
            </a:r>
            <a:endParaRPr/>
          </a:p>
          <a:p>
            <a:pPr indent="0" lvl="0" marL="0" rtl="0" algn="l">
              <a:spcBef>
                <a:spcPts val="1600"/>
              </a:spcBef>
              <a:spcAft>
                <a:spcPts val="0"/>
              </a:spcAft>
              <a:buClr>
                <a:schemeClr val="dk1"/>
              </a:buClr>
              <a:buSzPts val="1100"/>
              <a:buFont typeface="Arial"/>
              <a:buNone/>
            </a:pPr>
            <a:r>
              <a:rPr b="1" lang="it"/>
              <a:t>A designer’s checklist if you like.</a:t>
            </a:r>
            <a:endParaRPr b="1"/>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a:t>
            </a:r>
            <a:endParaRPr/>
          </a:p>
        </p:txBody>
      </p:sp>
      <p:sp>
        <p:nvSpPr>
          <p:cNvPr id="87" name="Google Shape;87;p1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User persona development helps us </a:t>
            </a:r>
            <a:r>
              <a:rPr b="1" lang="it"/>
              <a:t>bridge the gap between the company and its users</a:t>
            </a:r>
            <a:r>
              <a:rPr lang="it"/>
              <a:t> by allowing us to measure true user behavior and figure out what their end goals might be. </a:t>
            </a:r>
            <a:endParaRPr/>
          </a:p>
          <a:p>
            <a:pPr indent="0" lvl="0" marL="0" rtl="0" algn="l">
              <a:spcBef>
                <a:spcPts val="1600"/>
              </a:spcBef>
              <a:spcAft>
                <a:spcPts val="0"/>
              </a:spcAft>
              <a:buNone/>
            </a:pPr>
            <a:r>
              <a:rPr lang="it"/>
              <a:t>It </a:t>
            </a:r>
            <a:r>
              <a:rPr b="1" lang="it"/>
              <a:t>drives design decisions</a:t>
            </a:r>
            <a:r>
              <a:rPr lang="it"/>
              <a:t> by allowing software teams to get a deeper </a:t>
            </a:r>
            <a:r>
              <a:rPr b="1" lang="it"/>
              <a:t>understanding of the users</a:t>
            </a:r>
            <a:r>
              <a:rPr lang="it"/>
              <a:t> who will be using the systems they are building. </a:t>
            </a:r>
            <a:endParaRPr/>
          </a:p>
          <a:p>
            <a:pPr indent="0" lvl="0" marL="0" rtl="0" algn="l">
              <a:spcBef>
                <a:spcPts val="1600"/>
              </a:spcBef>
              <a:spcAft>
                <a:spcPts val="1600"/>
              </a:spcAft>
              <a:buNone/>
            </a:pPr>
            <a:r>
              <a:rPr lang="it"/>
              <a:t>But while they might be useful, creating user personas isn’t always fun and games.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a:t>
            </a:r>
            <a:endParaRPr/>
          </a:p>
        </p:txBody>
      </p:sp>
      <p:sp>
        <p:nvSpPr>
          <p:cNvPr id="93" name="Google Shape;93;p1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Creating a user persona starts with user research. </a:t>
            </a:r>
            <a:endParaRPr/>
          </a:p>
          <a:p>
            <a:pPr indent="0" lvl="0" marL="0" rtl="0" algn="l">
              <a:spcBef>
                <a:spcPts val="1600"/>
              </a:spcBef>
              <a:spcAft>
                <a:spcPts val="0"/>
              </a:spcAft>
              <a:buNone/>
            </a:pPr>
            <a:r>
              <a:rPr lang="it"/>
              <a:t>By observing users, UXers can </a:t>
            </a:r>
            <a:r>
              <a:rPr b="1" lang="it"/>
              <a:t>understand their behavior and motivations</a:t>
            </a:r>
            <a:r>
              <a:rPr lang="it"/>
              <a:t>, and then design accordingly. </a:t>
            </a:r>
            <a:endParaRPr/>
          </a:p>
          <a:p>
            <a:pPr indent="0" lvl="0" marL="0" rtl="0" algn="l">
              <a:spcBef>
                <a:spcPts val="1600"/>
              </a:spcBef>
              <a:spcAft>
                <a:spcPts val="0"/>
              </a:spcAft>
              <a:buClr>
                <a:schemeClr val="dk1"/>
              </a:buClr>
              <a:buSzPts val="1100"/>
              <a:buFont typeface="Arial"/>
              <a:buNone/>
            </a:pPr>
            <a:r>
              <a:rPr lang="it"/>
              <a:t>There are plenty of user research techniques that help UXers capture this information, such as:</a:t>
            </a:r>
            <a:endParaRPr/>
          </a:p>
          <a:p>
            <a:pPr indent="-342900" lvl="0" marL="457200" rtl="0" algn="l">
              <a:spcBef>
                <a:spcPts val="1600"/>
              </a:spcBef>
              <a:spcAft>
                <a:spcPts val="0"/>
              </a:spcAft>
              <a:buSzPts val="1800"/>
              <a:buChar char="●"/>
            </a:pPr>
            <a:r>
              <a:rPr lang="it"/>
              <a:t>task analysis (card sorting, first click testing etc.)</a:t>
            </a:r>
            <a:endParaRPr/>
          </a:p>
          <a:p>
            <a:pPr indent="-342900" lvl="0" marL="457200" rtl="0" algn="l">
              <a:spcBef>
                <a:spcPts val="1600"/>
              </a:spcBef>
              <a:spcAft>
                <a:spcPts val="0"/>
              </a:spcAft>
              <a:buSzPts val="1800"/>
              <a:buChar char="●"/>
            </a:pPr>
            <a:r>
              <a:rPr lang="it"/>
              <a:t>feedback (contextual interviews and focus groups)</a:t>
            </a:r>
            <a:endParaRPr/>
          </a:p>
          <a:p>
            <a:pPr indent="-342900" lvl="0" marL="457200" rtl="0" algn="l">
              <a:spcBef>
                <a:spcPts val="1600"/>
              </a:spcBef>
              <a:spcAft>
                <a:spcPts val="0"/>
              </a:spcAft>
              <a:buSzPts val="1800"/>
              <a:buChar char="●"/>
            </a:pPr>
            <a:r>
              <a:rPr lang="it"/>
              <a:t>prototyping (experimenting with ideas prior to developing them)</a:t>
            </a:r>
            <a:endParaRPr/>
          </a:p>
          <a:p>
            <a:pPr indent="0" lvl="0" marL="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a:t>
            </a:r>
            <a:endParaRPr/>
          </a:p>
        </p:txBody>
      </p:sp>
      <p:sp>
        <p:nvSpPr>
          <p:cNvPr id="99" name="Google Shape;99;p2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Depending on how many data you have, you can define 3 types of personas:</a:t>
            </a:r>
            <a:endParaRPr/>
          </a:p>
          <a:p>
            <a:pPr indent="-342900" lvl="0" marL="457200" rtl="0" algn="l">
              <a:spcBef>
                <a:spcPts val="1600"/>
              </a:spcBef>
              <a:spcAft>
                <a:spcPts val="0"/>
              </a:spcAft>
              <a:buSzPts val="1800"/>
              <a:buChar char="●"/>
            </a:pPr>
            <a:r>
              <a:rPr b="1" lang="it"/>
              <a:t>Proto-personas</a:t>
            </a:r>
            <a:r>
              <a:rPr lang="it"/>
              <a:t>, a </a:t>
            </a:r>
            <a:r>
              <a:rPr lang="it"/>
              <a:t>lightweight</a:t>
            </a:r>
            <a:r>
              <a:rPr lang="it"/>
              <a:t> form of ad-hoc personas created with </a:t>
            </a:r>
            <a:r>
              <a:rPr lang="it"/>
              <a:t>no new research</a:t>
            </a:r>
            <a:r>
              <a:rPr lang="it"/>
              <a:t> that designers can define in a </a:t>
            </a:r>
            <a:r>
              <a:rPr lang="it"/>
              <a:t>few hours</a:t>
            </a:r>
            <a:r>
              <a:rPr lang="it"/>
              <a:t> workshop.</a:t>
            </a:r>
            <a:endParaRPr/>
          </a:p>
          <a:p>
            <a:pPr indent="-342900" lvl="0" marL="457200" rtl="0" algn="l">
              <a:spcBef>
                <a:spcPts val="0"/>
              </a:spcBef>
              <a:spcAft>
                <a:spcPts val="0"/>
              </a:spcAft>
              <a:buSzPts val="1800"/>
              <a:buChar char="●"/>
            </a:pPr>
            <a:r>
              <a:rPr b="1" lang="it"/>
              <a:t>Qualitative personas</a:t>
            </a:r>
            <a:r>
              <a:rPr lang="it"/>
              <a:t>, created </a:t>
            </a:r>
            <a:r>
              <a:rPr lang="it"/>
              <a:t>by running solid exploratory qualitative research (such as interviewing users) with a small-to-medium sample size (5-30), and then segmenting users.</a:t>
            </a:r>
            <a:endParaRPr/>
          </a:p>
          <a:p>
            <a:pPr indent="-342900" lvl="0" marL="457200" rtl="0" algn="l">
              <a:spcBef>
                <a:spcPts val="0"/>
              </a:spcBef>
              <a:spcAft>
                <a:spcPts val="0"/>
              </a:spcAft>
              <a:buSzPts val="1800"/>
              <a:buChar char="●"/>
            </a:pPr>
            <a:r>
              <a:rPr b="1" lang="it"/>
              <a:t>Statistical personas</a:t>
            </a:r>
            <a:r>
              <a:rPr lang="it"/>
              <a:t>, collecting data via a survey sent to a large sample of your user base and then using statistical analysis to find clusters of similar responses. </a:t>
            </a:r>
            <a:r>
              <a:rPr lang="it" u="sng"/>
              <a:t>In reality they don’t work alone as they come from a previous qualitative research expanded with statistical research.</a:t>
            </a:r>
            <a:endParaRPr u="sng"/>
          </a:p>
          <a:p>
            <a:pPr indent="0" lvl="0" marL="0" rtl="0" algn="l">
              <a:spcBef>
                <a:spcPts val="1600"/>
              </a:spcBef>
              <a:spcAft>
                <a:spcPts val="0"/>
              </a:spcAft>
              <a:buNone/>
            </a:pPr>
            <a:r>
              <a:rPr lang="it" u="sng">
                <a:solidFill>
                  <a:schemeClr val="hlink"/>
                </a:solidFill>
                <a:hlinkClick r:id="rId3"/>
              </a:rPr>
              <a:t>https://www.nngroup.com/articles/persona-types/</a:t>
            </a:r>
            <a:r>
              <a:rPr lang="it"/>
              <a:t> </a:t>
            </a:r>
            <a:endParaRPr/>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a:t>
            </a:r>
            <a:endParaRPr/>
          </a:p>
        </p:txBody>
      </p:sp>
      <p:sp>
        <p:nvSpPr>
          <p:cNvPr id="105" name="Google Shape;105;p2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How many personas should I define?</a:t>
            </a:r>
            <a:endParaRPr/>
          </a:p>
          <a:p>
            <a:pPr indent="0" lvl="0" marL="0" rtl="0" algn="l">
              <a:spcBef>
                <a:spcPts val="1600"/>
              </a:spcBef>
              <a:spcAft>
                <a:spcPts val="0"/>
              </a:spcAft>
              <a:buNone/>
            </a:pPr>
            <a:r>
              <a:rPr lang="it"/>
              <a:t>user personas design should ideally be </a:t>
            </a:r>
            <a:r>
              <a:rPr lang="it" u="sng">
                <a:solidFill>
                  <a:schemeClr val="hlink"/>
                </a:solidFill>
                <a:hlinkClick r:id="rId3"/>
              </a:rPr>
              <a:t>based around the Pareto Principle</a:t>
            </a:r>
            <a:r>
              <a:rPr lang="it"/>
              <a:t>.</a:t>
            </a:r>
            <a:endParaRPr/>
          </a:p>
          <a:p>
            <a:pPr indent="0" lvl="0" marL="0" rtl="0" algn="l">
              <a:spcBef>
                <a:spcPts val="1600"/>
              </a:spcBef>
              <a:spcAft>
                <a:spcPts val="0"/>
              </a:spcAft>
              <a:buNone/>
            </a:pPr>
            <a:r>
              <a:rPr lang="it"/>
              <a:t>Focus on </a:t>
            </a:r>
            <a:r>
              <a:rPr b="1" lang="it"/>
              <a:t>that 20% of your user-base that will use/buy 80% of your features/products, or that will account for 80% of your revenue.</a:t>
            </a:r>
            <a:endParaRPr b="1"/>
          </a:p>
          <a:p>
            <a:pPr indent="0" lvl="0" marL="0" rtl="0" algn="l">
              <a:spcBef>
                <a:spcPts val="1600"/>
              </a:spcBef>
              <a:spcAft>
                <a:spcPts val="0"/>
              </a:spcAft>
              <a:buNone/>
            </a:pPr>
            <a:r>
              <a:t/>
            </a:r>
            <a:endParaRPr b="1"/>
          </a:p>
          <a:p>
            <a:pPr indent="0" lvl="0" marL="0" rtl="0" algn="l">
              <a:spcBef>
                <a:spcPts val="1600"/>
              </a:spcBef>
              <a:spcAft>
                <a:spcPts val="1600"/>
              </a:spcAft>
              <a:buNone/>
            </a:pPr>
            <a:r>
              <a:rPr b="1" i="1" lang="it"/>
              <a:t>Pareto </a:t>
            </a:r>
            <a:r>
              <a:rPr b="1" i="1" lang="it"/>
              <a:t>principle</a:t>
            </a:r>
            <a:r>
              <a:rPr i="1" lang="it"/>
              <a:t> states that, for many events, roughly 80% of the effects come from 20% of the causes</a:t>
            </a:r>
            <a:endParaRPr b="1" i="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PERSONAS</a:t>
            </a:r>
            <a:endParaRPr/>
          </a:p>
        </p:txBody>
      </p:sp>
      <p:sp>
        <p:nvSpPr>
          <p:cNvPr id="111" name="Google Shape;111;p2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Upon observing users, UX designers split up the test data into possible user archetypes, or user personas. </a:t>
            </a:r>
            <a:endParaRPr/>
          </a:p>
          <a:p>
            <a:pPr indent="0" lvl="0" marL="0" rtl="0" algn="l">
              <a:spcBef>
                <a:spcPts val="1600"/>
              </a:spcBef>
              <a:spcAft>
                <a:spcPts val="0"/>
              </a:spcAft>
              <a:buNone/>
            </a:pPr>
            <a:r>
              <a:rPr lang="it"/>
              <a:t>Then all this information is put into context in a </a:t>
            </a:r>
            <a:r>
              <a:rPr b="1" lang="it"/>
              <a:t>user persona template</a:t>
            </a:r>
            <a:r>
              <a:rPr lang="it"/>
              <a:t>. </a:t>
            </a:r>
            <a:endParaRPr/>
          </a:p>
          <a:p>
            <a:pPr indent="0" lvl="0" marL="0" rtl="0" algn="l">
              <a:spcBef>
                <a:spcPts val="1600"/>
              </a:spcBef>
              <a:spcAft>
                <a:spcPts val="0"/>
              </a:spcAft>
              <a:buNone/>
            </a:pPr>
            <a:r>
              <a:rPr lang="it" u="sng"/>
              <a:t>Designers can only respond to their users’ needs once they know what those needs are.</a:t>
            </a:r>
            <a:endParaRPr u="sng"/>
          </a:p>
          <a:p>
            <a:pPr indent="0" lvl="0" marL="0" rtl="0" algn="l">
              <a:spcBef>
                <a:spcPts val="1600"/>
              </a:spcBef>
              <a:spcAft>
                <a:spcPts val="0"/>
              </a:spcAft>
              <a:buNone/>
            </a:pPr>
            <a:r>
              <a:rPr lang="it" u="sng"/>
              <a:t>examples:</a:t>
            </a:r>
            <a:endParaRPr u="sng"/>
          </a:p>
          <a:p>
            <a:pPr indent="0" lvl="0" marL="0" rtl="0" algn="l">
              <a:spcBef>
                <a:spcPts val="1600"/>
              </a:spcBef>
              <a:spcAft>
                <a:spcPts val="0"/>
              </a:spcAft>
              <a:buNone/>
            </a:pPr>
            <a:r>
              <a:rPr lang="it" sz="1100" u="sng">
                <a:solidFill>
                  <a:schemeClr val="hlink"/>
                </a:solidFill>
                <a:hlinkClick r:id="rId3"/>
              </a:rPr>
              <a:t>https://simplicable.com/new/user-persona</a:t>
            </a:r>
            <a:endParaRPr/>
          </a:p>
          <a:p>
            <a:pPr indent="0" lvl="0" marL="0" rtl="0" algn="l">
              <a:spcBef>
                <a:spcPts val="1600"/>
              </a:spcBef>
              <a:spcAft>
                <a:spcPts val="0"/>
              </a:spcAft>
              <a:buClr>
                <a:schemeClr val="dk1"/>
              </a:buClr>
              <a:buSzPts val="1100"/>
              <a:buFont typeface="Arial"/>
              <a:buNone/>
            </a:pPr>
            <a:r>
              <a:rPr lang="it" sz="1100" u="sng">
                <a:solidFill>
                  <a:schemeClr val="hlink"/>
                </a:solidFill>
                <a:hlinkClick r:id="rId4"/>
              </a:rPr>
              <a:t>https://www.justinmind.com/blog/user-personas-which-game-of-thrones-character-is-yours/</a:t>
            </a:r>
            <a:endParaRPr u="sng"/>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Types of information in a user persona</a:t>
            </a:r>
            <a:endParaRPr/>
          </a:p>
        </p:txBody>
      </p:sp>
      <p:sp>
        <p:nvSpPr>
          <p:cNvPr id="117" name="Google Shape;117;p23"/>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it"/>
              <a:t>Demographic details</a:t>
            </a:r>
            <a:r>
              <a:rPr lang="it"/>
              <a:t>, such as age, marital status, or income</a:t>
            </a:r>
            <a:endParaRPr/>
          </a:p>
          <a:p>
            <a:pPr indent="-342900" lvl="0" marL="457200" rtl="0" algn="l">
              <a:spcBef>
                <a:spcPts val="0"/>
              </a:spcBef>
              <a:spcAft>
                <a:spcPts val="0"/>
              </a:spcAft>
              <a:buSzPts val="1800"/>
              <a:buChar char="●"/>
            </a:pPr>
            <a:r>
              <a:rPr b="1" lang="it"/>
              <a:t>Personal details</a:t>
            </a:r>
            <a:r>
              <a:rPr lang="it"/>
              <a:t>, such as a short biography, photograph, and name</a:t>
            </a:r>
            <a:endParaRPr/>
          </a:p>
          <a:p>
            <a:pPr indent="-342900" lvl="0" marL="457200" rtl="0" algn="l">
              <a:spcBef>
                <a:spcPts val="0"/>
              </a:spcBef>
              <a:spcAft>
                <a:spcPts val="0"/>
              </a:spcAft>
              <a:buSzPts val="1800"/>
              <a:buChar char="●"/>
            </a:pPr>
            <a:r>
              <a:rPr b="1" lang="it"/>
              <a:t>Attitudinal and/or cognitive details</a:t>
            </a:r>
            <a:r>
              <a:rPr lang="it"/>
              <a:t>, such as information about the persona’s mental model, pain points, and feelings about the tasks that need to be accomplished</a:t>
            </a:r>
            <a:endParaRPr/>
          </a:p>
          <a:p>
            <a:pPr indent="-342900" lvl="0" marL="457200" rtl="0" algn="l">
              <a:spcBef>
                <a:spcPts val="0"/>
              </a:spcBef>
              <a:spcAft>
                <a:spcPts val="0"/>
              </a:spcAft>
              <a:buSzPts val="1800"/>
              <a:buChar char="●"/>
            </a:pPr>
            <a:r>
              <a:rPr b="1" lang="it"/>
              <a:t>Goals and motivations</a:t>
            </a:r>
            <a:r>
              <a:rPr lang="it"/>
              <a:t> for using the product</a:t>
            </a:r>
            <a:endParaRPr/>
          </a:p>
          <a:p>
            <a:pPr indent="-342900" lvl="0" marL="457200" rtl="0" algn="l">
              <a:spcBef>
                <a:spcPts val="0"/>
              </a:spcBef>
              <a:spcAft>
                <a:spcPts val="0"/>
              </a:spcAft>
              <a:buSzPts val="1800"/>
              <a:buChar char="●"/>
            </a:pPr>
            <a:r>
              <a:rPr b="1" lang="it"/>
              <a:t>Behavioral details</a:t>
            </a:r>
            <a:r>
              <a:rPr lang="it"/>
              <a:t> about how the persona tends to act when using the product</a:t>
            </a:r>
            <a:endParaRPr/>
          </a:p>
          <a:p>
            <a:pPr indent="0" lvl="0" marL="0" rtl="0" algn="l">
              <a:spcBef>
                <a:spcPts val="160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PERSONAS &amp; ARCHETYPES</a:t>
            </a:r>
            <a:endParaRPr/>
          </a:p>
        </p:txBody>
      </p:sp>
      <p:sp>
        <p:nvSpPr>
          <p:cNvPr id="123" name="Google Shape;123;p2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 the future you will be tempted to define a persona that is more abstract: this is called an </a:t>
            </a:r>
            <a:r>
              <a:rPr b="1" lang="it"/>
              <a:t>Archetype</a:t>
            </a:r>
            <a:r>
              <a:rPr lang="it"/>
              <a:t>.</a:t>
            </a:r>
            <a:endParaRPr/>
          </a:p>
          <a:p>
            <a:pPr indent="0" lvl="0" marL="0" rtl="0" algn="l">
              <a:spcBef>
                <a:spcPts val="1600"/>
              </a:spcBef>
              <a:spcAft>
                <a:spcPts val="0"/>
              </a:spcAft>
              <a:buNone/>
            </a:pPr>
            <a:r>
              <a:rPr lang="it"/>
              <a:t>Both personas and archetypes r</a:t>
            </a:r>
            <a:r>
              <a:rPr b="1" lang="it"/>
              <a:t>epresent the same user type and contain the same core insights </a:t>
            </a:r>
            <a:r>
              <a:rPr lang="it"/>
              <a:t>about this user type’s needs, behaviors, goals, pain points, and even motivations. Both can serve to compare different user priorities and motivations (e.g., the reliability-focused comparison shopper vs. the interior designer that wants to deliver a harmonious look for clients). </a:t>
            </a:r>
            <a:r>
              <a:rPr b="1" lang="it"/>
              <a:t>But archetypes are abstract, while personas wear a human face.</a:t>
            </a:r>
            <a:endParaRPr b="1"/>
          </a:p>
          <a:p>
            <a:pPr indent="0" lvl="0" marL="0" rtl="0" algn="l">
              <a:spcBef>
                <a:spcPts val="1600"/>
              </a:spcBef>
              <a:spcAft>
                <a:spcPts val="0"/>
              </a:spcAft>
              <a:buNone/>
            </a:pPr>
            <a:r>
              <a:t/>
            </a:r>
            <a:endParaRPr b="1"/>
          </a:p>
          <a:p>
            <a:pPr indent="0" lvl="0" marL="0" rtl="0" algn="l">
              <a:spcBef>
                <a:spcPts val="1600"/>
              </a:spcBef>
              <a:spcAft>
                <a:spcPts val="1600"/>
              </a:spcAft>
              <a:buNone/>
            </a:pPr>
            <a:r>
              <a:rPr lang="it" u="sng">
                <a:solidFill>
                  <a:schemeClr val="hlink"/>
                </a:solidFill>
                <a:hlinkClick r:id="rId3"/>
              </a:rPr>
              <a:t>https://www.nngroup.com/articles/personas-archetypes/</a:t>
            </a:r>
            <a:r>
              <a:rPr lang="it"/>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PERSONAS &amp; ARCHETYPES</a:t>
            </a:r>
            <a:endParaRPr/>
          </a:p>
        </p:txBody>
      </p:sp>
      <p:sp>
        <p:nvSpPr>
          <p:cNvPr id="129" name="Google Shape;129;p25"/>
          <p:cNvSpPr txBox="1"/>
          <p:nvPr>
            <p:ph idx="1" type="body"/>
          </p:nvPr>
        </p:nvSpPr>
        <p:spPr>
          <a:xfrm>
            <a:off x="311700" y="1103275"/>
            <a:ext cx="8520600" cy="293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An example of a possible archetype can be:</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it" sz="2400"/>
              <a:t>“The unlikely hero with humble beginnings”</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PERSONAS &amp; ARCHETYPES</a:t>
            </a:r>
            <a:endParaRPr/>
          </a:p>
        </p:txBody>
      </p:sp>
      <p:sp>
        <p:nvSpPr>
          <p:cNvPr id="135" name="Google Shape;135;p26"/>
          <p:cNvSpPr txBox="1"/>
          <p:nvPr>
            <p:ph idx="1" type="body"/>
          </p:nvPr>
        </p:nvSpPr>
        <p:spPr>
          <a:xfrm>
            <a:off x="311700" y="1103275"/>
            <a:ext cx="8520600" cy="525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Instead the personas could be:</a:t>
            </a:r>
            <a:endParaRPr sz="2400"/>
          </a:p>
        </p:txBody>
      </p:sp>
      <p:pic>
        <p:nvPicPr>
          <p:cNvPr id="136" name="Google Shape;136;p26"/>
          <p:cNvPicPr preferRelativeResize="0"/>
          <p:nvPr/>
        </p:nvPicPr>
        <p:blipFill>
          <a:blip r:embed="rId3">
            <a:alphaModFix/>
          </a:blip>
          <a:stretch>
            <a:fillRect/>
          </a:stretch>
        </p:blipFill>
        <p:spPr>
          <a:xfrm>
            <a:off x="152400" y="1734800"/>
            <a:ext cx="4297125" cy="2860651"/>
          </a:xfrm>
          <a:prstGeom prst="rect">
            <a:avLst/>
          </a:prstGeom>
          <a:noFill/>
          <a:ln>
            <a:noFill/>
          </a:ln>
        </p:spPr>
      </p:pic>
      <p:pic>
        <p:nvPicPr>
          <p:cNvPr id="137" name="Google Shape;137;p26"/>
          <p:cNvPicPr preferRelativeResize="0"/>
          <p:nvPr/>
        </p:nvPicPr>
        <p:blipFill rotWithShape="1">
          <a:blip r:embed="rId4">
            <a:alphaModFix/>
          </a:blip>
          <a:srcRect b="10897" l="0" r="0" t="0"/>
          <a:stretch/>
        </p:blipFill>
        <p:spPr>
          <a:xfrm>
            <a:off x="4601925" y="1734800"/>
            <a:ext cx="4312501" cy="2860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Why personas fail?</a:t>
            </a:r>
            <a:endParaRPr/>
          </a:p>
        </p:txBody>
      </p:sp>
      <p:sp>
        <p:nvSpPr>
          <p:cNvPr id="143" name="Google Shape;143;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u="sng">
                <a:solidFill>
                  <a:schemeClr val="hlink"/>
                </a:solidFill>
                <a:hlinkClick r:id="rId3"/>
              </a:rPr>
              <a:t>https://www.youtube.com/watch?v=fal4Wylyt3M</a:t>
            </a:r>
            <a:r>
              <a:rPr lang="it"/>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Personas recap</a:t>
            </a:r>
            <a:endParaRPr/>
          </a:p>
        </p:txBody>
      </p:sp>
      <p:sp>
        <p:nvSpPr>
          <p:cNvPr id="149" name="Google Shape;149;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solidFill>
                  <a:schemeClr val="hlink"/>
                </a:solidFill>
                <a:hlinkClick r:id="rId3"/>
              </a:rPr>
              <a:t>https://www.smaply.com/blog/personas</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REQUIREMENTS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Requirements</a:t>
            </a:r>
            <a:endParaRPr/>
          </a:p>
        </p:txBody>
      </p:sp>
      <p:sp>
        <p:nvSpPr>
          <p:cNvPr id="160" name="Google Shape;160;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requirement is </a:t>
            </a:r>
            <a:r>
              <a:rPr b="1" lang="it"/>
              <a:t>a service, function or feature that a user needs.</a:t>
            </a:r>
            <a:r>
              <a:rPr lang="it"/>
              <a:t> </a:t>
            </a:r>
            <a:endParaRPr/>
          </a:p>
          <a:p>
            <a:pPr indent="0" lvl="0" marL="0" rtl="0" algn="l">
              <a:spcBef>
                <a:spcPts val="1600"/>
              </a:spcBef>
              <a:spcAft>
                <a:spcPts val="0"/>
              </a:spcAft>
              <a:buNone/>
            </a:pPr>
            <a:r>
              <a:rPr lang="it"/>
              <a:t>Requirements can be functions, constraints, business rules or other elements that </a:t>
            </a:r>
            <a:r>
              <a:rPr b="1" lang="it"/>
              <a:t>must be present</a:t>
            </a:r>
            <a:r>
              <a:rPr lang="it"/>
              <a:t> to meet the need of the intended users.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61" name="Google Shape;161;p30"/>
          <p:cNvPicPr preferRelativeResize="0"/>
          <p:nvPr/>
        </p:nvPicPr>
        <p:blipFill>
          <a:blip r:embed="rId3">
            <a:alphaModFix/>
          </a:blip>
          <a:stretch>
            <a:fillRect/>
          </a:stretch>
        </p:blipFill>
        <p:spPr>
          <a:xfrm>
            <a:off x="1714500" y="2432150"/>
            <a:ext cx="5715000" cy="1905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Requirements</a:t>
            </a:r>
            <a:endParaRPr/>
          </a:p>
        </p:txBody>
      </p:sp>
      <p:sp>
        <p:nvSpPr>
          <p:cNvPr id="167" name="Google Shape;167;p3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For example:</a:t>
            </a:r>
            <a:endParaRPr/>
          </a:p>
          <a:p>
            <a:pPr indent="0" lvl="0" marL="0" rtl="0" algn="l">
              <a:spcBef>
                <a:spcPts val="1600"/>
              </a:spcBef>
              <a:spcAft>
                <a:spcPts val="0"/>
              </a:spcAft>
              <a:buClr>
                <a:schemeClr val="dk1"/>
              </a:buClr>
              <a:buSzPts val="1100"/>
              <a:buFont typeface="Arial"/>
              <a:buNone/>
            </a:pPr>
            <a:r>
              <a:rPr lang="it"/>
              <a:t>In a training company with its own training centre:</a:t>
            </a:r>
            <a:endParaRPr/>
          </a:p>
          <a:p>
            <a:pPr indent="-342900" lvl="0" marL="457200" rtl="0" algn="l">
              <a:spcBef>
                <a:spcPts val="1600"/>
              </a:spcBef>
              <a:spcAft>
                <a:spcPts val="0"/>
              </a:spcAft>
              <a:buSzPts val="1800"/>
              <a:buChar char="●"/>
            </a:pPr>
            <a:r>
              <a:rPr b="1" lang="it"/>
              <a:t>The Course Manager</a:t>
            </a:r>
            <a:r>
              <a:rPr lang="it"/>
              <a:t> has a requirement to </a:t>
            </a:r>
            <a:r>
              <a:rPr b="1" lang="it"/>
              <a:t>schedule training courses</a:t>
            </a:r>
            <a:r>
              <a:rPr lang="it"/>
              <a:t> and reserve rooms, in order to make available courses visible and to ensure courses run effectively</a:t>
            </a:r>
            <a:endParaRPr/>
          </a:p>
          <a:p>
            <a:pPr indent="-342900" lvl="0" marL="457200" rtl="0" algn="l">
              <a:spcBef>
                <a:spcPts val="1600"/>
              </a:spcBef>
              <a:spcAft>
                <a:spcPts val="0"/>
              </a:spcAft>
              <a:buSzPts val="1800"/>
              <a:buChar char="●"/>
            </a:pPr>
            <a:r>
              <a:rPr lang="it"/>
              <a:t>The </a:t>
            </a:r>
            <a:r>
              <a:rPr b="1" lang="it"/>
              <a:t>Training </a:t>
            </a:r>
            <a:r>
              <a:rPr b="1" lang="it"/>
              <a:t>Centre Manager</a:t>
            </a:r>
            <a:r>
              <a:rPr lang="it"/>
              <a:t> has a requirement to </a:t>
            </a:r>
            <a:r>
              <a:rPr b="1" lang="it"/>
              <a:t>keep track of what training is running</a:t>
            </a:r>
            <a:r>
              <a:rPr lang="it"/>
              <a:t>, in order to ensure appropriate allocation of trainers to courses</a:t>
            </a:r>
            <a:endParaRPr/>
          </a:p>
          <a:p>
            <a:pPr indent="-342900" lvl="0" marL="457200" rtl="0" algn="l">
              <a:spcBef>
                <a:spcPts val="1600"/>
              </a:spcBef>
              <a:spcAft>
                <a:spcPts val="0"/>
              </a:spcAft>
              <a:buSzPts val="1800"/>
              <a:buChar char="●"/>
            </a:pPr>
            <a:r>
              <a:rPr lang="it"/>
              <a:t>The </a:t>
            </a:r>
            <a:r>
              <a:rPr b="1" lang="it"/>
              <a:t>Financial Accountant</a:t>
            </a:r>
            <a:r>
              <a:rPr lang="it"/>
              <a:t> has a requirement to </a:t>
            </a:r>
            <a:r>
              <a:rPr b="1" lang="it"/>
              <a:t>maximise the amount of time that the training rooms are in use</a:t>
            </a:r>
            <a:r>
              <a:rPr lang="it"/>
              <a:t>, in order to maximise revenue from the rooms</a:t>
            </a:r>
            <a:endParaRPr/>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Requirements</a:t>
            </a:r>
            <a:endParaRPr/>
          </a:p>
        </p:txBody>
      </p:sp>
      <p:sp>
        <p:nvSpPr>
          <p:cNvPr id="173" name="Google Shape;173;p32"/>
          <p:cNvSpPr txBox="1"/>
          <p:nvPr>
            <p:ph idx="1" type="body"/>
          </p:nvPr>
        </p:nvSpPr>
        <p:spPr>
          <a:xfrm>
            <a:off x="311700" y="619075"/>
            <a:ext cx="8520600" cy="40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Usually you will also find this type of explanation of the possible requirements:</a:t>
            </a:r>
            <a:endParaRPr/>
          </a:p>
        </p:txBody>
      </p:sp>
      <p:pic>
        <p:nvPicPr>
          <p:cNvPr id="174" name="Google Shape;174;p32"/>
          <p:cNvPicPr preferRelativeResize="0"/>
          <p:nvPr/>
        </p:nvPicPr>
        <p:blipFill>
          <a:blip r:embed="rId3">
            <a:alphaModFix/>
          </a:blip>
          <a:stretch>
            <a:fillRect/>
          </a:stretch>
        </p:blipFill>
        <p:spPr>
          <a:xfrm>
            <a:off x="1767300" y="1069712"/>
            <a:ext cx="6087425" cy="3102275"/>
          </a:xfrm>
          <a:prstGeom prst="rect">
            <a:avLst/>
          </a:prstGeom>
          <a:noFill/>
          <a:ln>
            <a:noFill/>
          </a:ln>
        </p:spPr>
      </p:pic>
      <p:sp>
        <p:nvSpPr>
          <p:cNvPr id="175" name="Google Shape;175;p32"/>
          <p:cNvSpPr txBox="1"/>
          <p:nvPr/>
        </p:nvSpPr>
        <p:spPr>
          <a:xfrm>
            <a:off x="251075" y="4604975"/>
            <a:ext cx="612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u="sng">
                <a:solidFill>
                  <a:schemeClr val="hlink"/>
                </a:solidFill>
                <a:hlinkClick r:id="rId4"/>
              </a:rPr>
              <a:t>https://usabilitygeek.com/requirements-gathering-user-experience-pt1/</a:t>
            </a:r>
            <a:r>
              <a:rPr lang="it"/>
              <a:t> </a:t>
            </a:r>
            <a:endParaRPr/>
          </a:p>
        </p:txBody>
      </p:sp>
      <p:sp>
        <p:nvSpPr>
          <p:cNvPr id="176" name="Google Shape;176;p32"/>
          <p:cNvSpPr txBox="1"/>
          <p:nvPr>
            <p:ph idx="1" type="body"/>
          </p:nvPr>
        </p:nvSpPr>
        <p:spPr>
          <a:xfrm>
            <a:off x="136925" y="4172000"/>
            <a:ext cx="8520600" cy="40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We are focusing on user requirements.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Requirements</a:t>
            </a:r>
            <a:endParaRPr/>
          </a:p>
        </p:txBody>
      </p:sp>
      <p:sp>
        <p:nvSpPr>
          <p:cNvPr id="182" name="Google Shape;182;p3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However, the attempt to define a full and detailed set of requirements too early in a project often proves to be counterproductive, restrictive and wasteful. </a:t>
            </a:r>
            <a:endParaRPr u="sng"/>
          </a:p>
          <a:p>
            <a:pPr indent="0" lvl="0" marL="0" rtl="0" algn="l">
              <a:spcBef>
                <a:spcPts val="1600"/>
              </a:spcBef>
              <a:spcAft>
                <a:spcPts val="0"/>
              </a:spcAft>
              <a:buNone/>
            </a:pPr>
            <a:r>
              <a:rPr lang="it"/>
              <a:t>It is not possible to define all of the detailed requirements at the outset of a long project. </a:t>
            </a:r>
            <a:endParaRPr/>
          </a:p>
          <a:p>
            <a:pPr indent="0" lvl="0" marL="0" rtl="0" algn="l">
              <a:spcBef>
                <a:spcPts val="1600"/>
              </a:spcBef>
              <a:spcAft>
                <a:spcPts val="0"/>
              </a:spcAft>
              <a:buNone/>
            </a:pPr>
            <a:r>
              <a:rPr b="1" lang="it"/>
              <a:t>The business environment changes as time progresses;</a:t>
            </a:r>
            <a:r>
              <a:rPr lang="it"/>
              <a:t> new requirements and opportunities present themselves. As the project progresses, the team understand more about the business need. </a:t>
            </a:r>
            <a:endParaRPr/>
          </a:p>
          <a:p>
            <a:pPr indent="0" lvl="0" marL="0" rtl="0" algn="l">
              <a:spcBef>
                <a:spcPts val="1600"/>
              </a:spcBef>
              <a:spcAft>
                <a:spcPts val="1600"/>
              </a:spcAft>
              <a:buNone/>
            </a:pPr>
            <a:r>
              <a:rPr lang="it"/>
              <a:t>Defining detailed requirements too early means either needing to change the specification later, which wastes the original work, or delivering to the originally-specified requirements and subsequently failing to adequately satisfy the business need.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Requirements</a:t>
            </a:r>
            <a:endParaRPr/>
          </a:p>
        </p:txBody>
      </p:sp>
      <p:sp>
        <p:nvSpPr>
          <p:cNvPr id="188" name="Google Shape;188;p3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success of any solution is the product of two aspects:</a:t>
            </a:r>
            <a:endParaRPr/>
          </a:p>
          <a:p>
            <a:pPr indent="-342900" lvl="0" marL="457200" rtl="0" algn="l">
              <a:spcBef>
                <a:spcPts val="1600"/>
              </a:spcBef>
              <a:spcAft>
                <a:spcPts val="0"/>
              </a:spcAft>
              <a:buSzPts val="1800"/>
              <a:buChar char="●"/>
            </a:pPr>
            <a:r>
              <a:rPr b="1" lang="it"/>
              <a:t>what it does</a:t>
            </a:r>
            <a:r>
              <a:rPr lang="it"/>
              <a:t> (functionality, features)</a:t>
            </a:r>
            <a:endParaRPr/>
          </a:p>
          <a:p>
            <a:pPr indent="-342900" lvl="0" marL="457200" rtl="0" algn="l">
              <a:spcBef>
                <a:spcPts val="1600"/>
              </a:spcBef>
              <a:spcAft>
                <a:spcPts val="1600"/>
              </a:spcAft>
              <a:buSzPts val="1800"/>
              <a:buChar char="●"/>
            </a:pPr>
            <a:r>
              <a:rPr b="1" lang="it"/>
              <a:t>how well it performs against defined parameters</a:t>
            </a:r>
            <a:r>
              <a:rPr lang="it"/>
              <a:t> (non-functional attributes, acceptance criteria, service levels)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Categories of Requirements </a:t>
            </a:r>
            <a:endParaRPr/>
          </a:p>
        </p:txBody>
      </p:sp>
      <p:sp>
        <p:nvSpPr>
          <p:cNvPr id="194" name="Google Shape;194;p3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Functional Requirements (FRs) </a:t>
            </a:r>
            <a:r>
              <a:rPr lang="it"/>
              <a:t>express </a:t>
            </a:r>
            <a:r>
              <a:rPr b="1" lang="it"/>
              <a:t>function or feature and define what</a:t>
            </a:r>
            <a:r>
              <a:rPr lang="it"/>
              <a:t> is required, e.g.</a:t>
            </a:r>
            <a:endParaRPr/>
          </a:p>
          <a:p>
            <a:pPr indent="-342900" lvl="0" marL="457200" rtl="0" algn="l">
              <a:spcBef>
                <a:spcPts val="1600"/>
              </a:spcBef>
              <a:spcAft>
                <a:spcPts val="0"/>
              </a:spcAft>
              <a:buSzPts val="1800"/>
              <a:buChar char="●"/>
            </a:pPr>
            <a:r>
              <a:rPr lang="it"/>
              <a:t>Visit customer site</a:t>
            </a:r>
            <a:endParaRPr/>
          </a:p>
          <a:p>
            <a:pPr indent="-342900" lvl="0" marL="457200" rtl="0" algn="l">
              <a:spcBef>
                <a:spcPts val="1600"/>
              </a:spcBef>
              <a:spcAft>
                <a:spcPts val="0"/>
              </a:spcAft>
              <a:buSzPts val="1800"/>
              <a:buChar char="●"/>
            </a:pPr>
            <a:r>
              <a:rPr lang="it"/>
              <a:t>Obtain conference venue</a:t>
            </a:r>
            <a:endParaRPr/>
          </a:p>
          <a:p>
            <a:pPr indent="0" lvl="0" marL="0" rtl="0" algn="l">
              <a:spcBef>
                <a:spcPts val="1600"/>
              </a:spcBef>
              <a:spcAft>
                <a:spcPts val="0"/>
              </a:spcAft>
              <a:buClr>
                <a:schemeClr val="dk1"/>
              </a:buClr>
              <a:buSzPts val="1100"/>
              <a:buFont typeface="Arial"/>
              <a:buNone/>
            </a:pPr>
            <a:r>
              <a:rPr lang="it" u="sng"/>
              <a:t>The requirements do not state how</a:t>
            </a:r>
            <a:r>
              <a:rPr lang="it"/>
              <a:t> a solution will be physically achieved.</a:t>
            </a:r>
            <a:endParaRPr/>
          </a:p>
          <a:p>
            <a:pPr indent="-342900" lvl="0" marL="457200" rtl="0" algn="l">
              <a:spcBef>
                <a:spcPts val="1600"/>
              </a:spcBef>
              <a:spcAft>
                <a:spcPts val="0"/>
              </a:spcAft>
              <a:buSzPts val="1800"/>
              <a:buChar char="●"/>
            </a:pPr>
            <a:r>
              <a:rPr lang="it"/>
              <a:t>Drive to customer site is one possible solution. However, fly to customer site or travel by train to customer site are potential alternative solutions which may be worth consideration</a:t>
            </a:r>
            <a:endParaRPr/>
          </a:p>
          <a:p>
            <a:pPr indent="-342900" lvl="0" marL="457200" rtl="0" algn="l">
              <a:spcBef>
                <a:spcPts val="1600"/>
              </a:spcBef>
              <a:spcAft>
                <a:spcPts val="1600"/>
              </a:spcAft>
              <a:buSzPts val="1800"/>
              <a:buChar char="●"/>
            </a:pPr>
            <a:r>
              <a:rPr lang="it"/>
              <a:t>Build conference centre is one possible solution. Hire a hotel room is an alternative solution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Categories of Requirements </a:t>
            </a:r>
            <a:endParaRPr/>
          </a:p>
          <a:p>
            <a:pPr indent="0" lvl="0" marL="0" rtl="0" algn="l">
              <a:spcBef>
                <a:spcPts val="0"/>
              </a:spcBef>
              <a:spcAft>
                <a:spcPts val="0"/>
              </a:spcAft>
              <a:buNone/>
            </a:pPr>
            <a:r>
              <a:t/>
            </a:r>
            <a:endParaRPr/>
          </a:p>
        </p:txBody>
      </p:sp>
      <p:sp>
        <p:nvSpPr>
          <p:cNvPr id="200" name="Google Shape;200;p3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Non-functional Requirements (NFRs) </a:t>
            </a:r>
            <a:r>
              <a:rPr lang="it" u="sng"/>
              <a:t>define how well, or to what level</a:t>
            </a:r>
            <a:r>
              <a:rPr lang="it"/>
              <a:t> a solution needs to behave. </a:t>
            </a:r>
            <a:endParaRPr/>
          </a:p>
          <a:p>
            <a:pPr indent="0" lvl="0" marL="0" rtl="0" algn="l">
              <a:spcBef>
                <a:spcPts val="1600"/>
              </a:spcBef>
              <a:spcAft>
                <a:spcPts val="0"/>
              </a:spcAft>
              <a:buClr>
                <a:schemeClr val="dk1"/>
              </a:buClr>
              <a:buSzPts val="1100"/>
              <a:buFont typeface="Arial"/>
              <a:buNone/>
            </a:pPr>
            <a:r>
              <a:rPr lang="it"/>
              <a:t>They describe </a:t>
            </a:r>
            <a:r>
              <a:rPr lang="it" u="sng"/>
              <a:t>solution attributes such as security, reliability, maintainability, availability</a:t>
            </a:r>
            <a:r>
              <a:rPr lang="it"/>
              <a:t> (and many other “...ilities”), performance and response time, e.g.</a:t>
            </a:r>
            <a:endParaRPr/>
          </a:p>
          <a:p>
            <a:pPr indent="-342900" lvl="0" marL="457200" rtl="0" algn="l">
              <a:spcBef>
                <a:spcPts val="1600"/>
              </a:spcBef>
              <a:spcAft>
                <a:spcPts val="0"/>
              </a:spcAft>
              <a:buSzPts val="1800"/>
              <a:buChar char="●"/>
            </a:pPr>
            <a:r>
              <a:rPr lang="it"/>
              <a:t>responding within 2 seconds</a:t>
            </a:r>
            <a:endParaRPr/>
          </a:p>
          <a:p>
            <a:pPr indent="-342900" lvl="0" marL="457200" rtl="0" algn="l">
              <a:spcBef>
                <a:spcPts val="1600"/>
              </a:spcBef>
              <a:spcAft>
                <a:spcPts val="0"/>
              </a:spcAft>
              <a:buSzPts val="1800"/>
              <a:buChar char="●"/>
            </a:pPr>
            <a:r>
              <a:rPr lang="it"/>
              <a:t>being available 24 hours per day, every day</a:t>
            </a:r>
            <a:endParaRPr/>
          </a:p>
          <a:p>
            <a:pPr indent="0" lvl="0" marL="0" rtl="0" algn="l">
              <a:spcBef>
                <a:spcPts val="160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Categories of Requirements </a:t>
            </a:r>
            <a:endParaRPr/>
          </a:p>
          <a:p>
            <a:pPr indent="0" lvl="0" marL="0" rtl="0" algn="l">
              <a:spcBef>
                <a:spcPts val="0"/>
              </a:spcBef>
              <a:spcAft>
                <a:spcPts val="0"/>
              </a:spcAft>
              <a:buNone/>
            </a:pPr>
            <a:r>
              <a:t/>
            </a:r>
            <a:endParaRPr/>
          </a:p>
        </p:txBody>
      </p:sp>
      <p:sp>
        <p:nvSpPr>
          <p:cNvPr id="206" name="Google Shape;206;p3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NFRs may be:</a:t>
            </a:r>
            <a:endParaRPr/>
          </a:p>
          <a:p>
            <a:pPr indent="-342900" lvl="0" marL="457200" rtl="0" algn="l">
              <a:spcBef>
                <a:spcPts val="1600"/>
              </a:spcBef>
              <a:spcAft>
                <a:spcPts val="0"/>
              </a:spcAft>
              <a:buSzPts val="1800"/>
              <a:buChar char="●"/>
            </a:pPr>
            <a:r>
              <a:rPr lang="it"/>
              <a:t>Solution-wide or impacting a group of functional requirements: e.g.</a:t>
            </a:r>
            <a:endParaRPr/>
          </a:p>
          <a:p>
            <a:pPr indent="-317500" lvl="1" marL="914400" rtl="0" algn="l">
              <a:spcBef>
                <a:spcPts val="1600"/>
              </a:spcBef>
              <a:spcAft>
                <a:spcPts val="0"/>
              </a:spcAft>
              <a:buSzPts val="1400"/>
              <a:buChar char="○"/>
            </a:pPr>
            <a:r>
              <a:rPr lang="it"/>
              <a:t>All customer facing functionality must carry the company logo</a:t>
            </a:r>
            <a:endParaRPr/>
          </a:p>
          <a:p>
            <a:pPr indent="-317500" lvl="1" marL="914400" rtl="0" algn="l">
              <a:spcBef>
                <a:spcPts val="1600"/>
              </a:spcBef>
              <a:spcAft>
                <a:spcPts val="0"/>
              </a:spcAft>
              <a:buSzPts val="1400"/>
              <a:buChar char="○"/>
            </a:pPr>
            <a:r>
              <a:rPr lang="it"/>
              <a:t>All customer-facing functionality must respond within 2 seconds to requests</a:t>
            </a:r>
            <a:endParaRPr/>
          </a:p>
          <a:p>
            <a:pPr indent="-342900" lvl="0" marL="457200" rtl="0" algn="l">
              <a:spcBef>
                <a:spcPts val="1600"/>
              </a:spcBef>
              <a:spcAft>
                <a:spcPts val="0"/>
              </a:spcAft>
              <a:buSzPts val="1800"/>
              <a:buChar char="●"/>
            </a:pPr>
            <a:r>
              <a:rPr lang="it"/>
              <a:t>Related to a particular functional requirement, e.g.</a:t>
            </a:r>
            <a:endParaRPr/>
          </a:p>
          <a:p>
            <a:pPr indent="-317500" lvl="1" marL="914400" rtl="0" algn="l">
              <a:spcBef>
                <a:spcPts val="1600"/>
              </a:spcBef>
              <a:spcAft>
                <a:spcPts val="0"/>
              </a:spcAft>
              <a:buSzPts val="1400"/>
              <a:buChar char="○"/>
            </a:pPr>
            <a:r>
              <a:rPr lang="it"/>
              <a:t>Hire conference venue might have NFRs of accessibility, security, and availability</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USER STORIES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User stories</a:t>
            </a:r>
            <a:endParaRPr/>
          </a:p>
        </p:txBody>
      </p:sp>
      <p:sp>
        <p:nvSpPr>
          <p:cNvPr id="217" name="Google Shape;217;p3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user story is a </a:t>
            </a:r>
            <a:r>
              <a:rPr b="1" lang="it"/>
              <a:t>short statement or abstract that identifies the user and their need/goal.</a:t>
            </a:r>
            <a:r>
              <a:rPr lang="it"/>
              <a:t> It determines who the user is, what they need and why they need it. </a:t>
            </a:r>
            <a:endParaRPr/>
          </a:p>
          <a:p>
            <a:pPr indent="0" lvl="0" marL="0" rtl="0" algn="l">
              <a:spcBef>
                <a:spcPts val="1600"/>
              </a:spcBef>
              <a:spcAft>
                <a:spcPts val="0"/>
              </a:spcAft>
              <a:buNone/>
            </a:pPr>
            <a:r>
              <a:rPr lang="it" u="sng"/>
              <a:t>There is no ideal number of user story per user persona. </a:t>
            </a:r>
            <a:endParaRPr u="sng"/>
          </a:p>
          <a:p>
            <a:pPr indent="0" lvl="0" marL="0" rtl="0" algn="l">
              <a:spcBef>
                <a:spcPts val="1600"/>
              </a:spcBef>
              <a:spcAft>
                <a:spcPts val="0"/>
              </a:spcAft>
              <a:buNone/>
            </a:pPr>
            <a:r>
              <a:rPr lang="it"/>
              <a:t>but </a:t>
            </a:r>
            <a:r>
              <a:rPr lang="it"/>
              <a:t>there are often multiple user personas – it’s a good thing that user stories are brief!</a:t>
            </a:r>
            <a:endParaRPr/>
          </a:p>
          <a:p>
            <a:pPr indent="0" lvl="0" marL="0" rtl="0" algn="l">
              <a:spcBef>
                <a:spcPts val="1600"/>
              </a:spcBef>
              <a:spcAft>
                <a:spcPts val="0"/>
              </a:spcAft>
              <a:buNone/>
            </a:pPr>
            <a:r>
              <a:rPr lang="it"/>
              <a:t>stories are at the center of the user experience. Why? They put things in context and focus on the ‘holistic’ rather than the ‘artifact’.</a:t>
            </a:r>
            <a:endParaRPr/>
          </a:p>
          <a:p>
            <a:pPr indent="0" lvl="0" marL="0" rtl="0" algn="l">
              <a:spcBef>
                <a:spcPts val="1600"/>
              </a:spcBef>
              <a:spcAft>
                <a:spcPts val="0"/>
              </a:spcAft>
              <a:buClr>
                <a:schemeClr val="dk1"/>
              </a:buClr>
              <a:buSzPts val="1100"/>
              <a:buFont typeface="Arial"/>
              <a:buNone/>
            </a:pPr>
            <a:r>
              <a:rPr b="1" lang="it"/>
              <a:t>A User Story is a requirement expressed from the perspective of an end-user goal.</a:t>
            </a:r>
            <a:endParaRPr b="1"/>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User stories</a:t>
            </a:r>
            <a:endParaRPr/>
          </a:p>
          <a:p>
            <a:pPr indent="0" lvl="0" marL="0" rtl="0" algn="l">
              <a:spcBef>
                <a:spcPts val="0"/>
              </a:spcBef>
              <a:spcAft>
                <a:spcPts val="0"/>
              </a:spcAft>
              <a:buNone/>
            </a:pPr>
            <a:r>
              <a:t/>
            </a:r>
            <a:endParaRPr/>
          </a:p>
        </p:txBody>
      </p:sp>
      <p:sp>
        <p:nvSpPr>
          <p:cNvPr id="223" name="Google Shape;223;p4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 example: </a:t>
            </a:r>
            <a:endParaRPr/>
          </a:p>
          <a:p>
            <a:pPr indent="0" lvl="0" marL="0" rtl="0" algn="l">
              <a:spcBef>
                <a:spcPts val="1600"/>
              </a:spcBef>
              <a:spcAft>
                <a:spcPts val="0"/>
              </a:spcAft>
              <a:buNone/>
            </a:pPr>
            <a:r>
              <a:rPr lang="it"/>
              <a:t>“As a UX Manager, John oversees all the design projects, including assets creation and prototyping efforts, at the design consultancy where he works. He needs easy access to a design tool that allows him to centralize UI libraries so that multiple designers to work simultaneously on a prototype.”</a:t>
            </a:r>
            <a:endParaRPr/>
          </a:p>
          <a:p>
            <a:pPr indent="0" lvl="0" marL="0" rtl="0" algn="l">
              <a:spcBef>
                <a:spcPts val="1600"/>
              </a:spcBef>
              <a:spcAft>
                <a:spcPts val="0"/>
              </a:spcAft>
              <a:buNone/>
            </a:pPr>
            <a:r>
              <a:t/>
            </a:r>
            <a:endParaRPr/>
          </a:p>
          <a:p>
            <a:pPr indent="0" lvl="0" marL="0" rtl="0" algn="l">
              <a:spcBef>
                <a:spcPts val="1600"/>
              </a:spcBef>
              <a:spcAft>
                <a:spcPts val="0"/>
              </a:spcAft>
              <a:buNone/>
            </a:pPr>
            <a:r>
              <a:rPr i="1" lang="it" sz="1400"/>
              <a:t>Requirements example: </a:t>
            </a:r>
            <a:r>
              <a:rPr b="1" i="1" lang="it" sz="1400"/>
              <a:t>The Course Manager</a:t>
            </a:r>
            <a:r>
              <a:rPr i="1" lang="it" sz="1400"/>
              <a:t> has a requirement to </a:t>
            </a:r>
            <a:r>
              <a:rPr b="1" i="1" lang="it" sz="1400"/>
              <a:t>schedule training courses</a:t>
            </a:r>
            <a:r>
              <a:rPr i="1" lang="it" sz="1400"/>
              <a:t> and reserve rooms, in order to make available courses visible and to ensure courses run effectively</a:t>
            </a:r>
            <a:endParaRPr i="1" sz="1400"/>
          </a:p>
          <a:p>
            <a:pPr indent="0" lvl="0" marL="0" rtl="0" algn="l">
              <a:spcBef>
                <a:spcPts val="1600"/>
              </a:spcBef>
              <a:spcAft>
                <a:spcPts val="0"/>
              </a:spcAft>
              <a:buNone/>
            </a:pPr>
            <a:r>
              <a:t/>
            </a:r>
            <a:endParaRPr/>
          </a:p>
          <a:p>
            <a:pPr indent="0" lvl="0" marL="0" rtl="0" algn="l">
              <a:spcBef>
                <a:spcPts val="1600"/>
              </a:spcBef>
              <a:spcAft>
                <a:spcPts val="1600"/>
              </a:spcAft>
              <a:buClr>
                <a:schemeClr val="dk1"/>
              </a:buClr>
              <a:buSzPts val="1100"/>
              <a:buFont typeface="Arial"/>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User stories</a:t>
            </a:r>
            <a:endParaRPr/>
          </a:p>
          <a:p>
            <a:pPr indent="0" lvl="0" marL="0" rtl="0" algn="l">
              <a:spcBef>
                <a:spcPts val="0"/>
              </a:spcBef>
              <a:spcAft>
                <a:spcPts val="0"/>
              </a:spcAft>
              <a:buNone/>
            </a:pPr>
            <a:r>
              <a:t/>
            </a:r>
            <a:endParaRPr/>
          </a:p>
        </p:txBody>
      </p:sp>
      <p:sp>
        <p:nvSpPr>
          <p:cNvPr id="229" name="Google Shape;229;p4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User stories help to document practical information about users, such as the different needs and motivations for accessing a website or app. </a:t>
            </a:r>
            <a:endParaRPr/>
          </a:p>
          <a:p>
            <a:pPr indent="0" lvl="0" marL="0" rtl="0" algn="l">
              <a:spcBef>
                <a:spcPts val="1600"/>
              </a:spcBef>
              <a:spcAft>
                <a:spcPts val="1600"/>
              </a:spcAft>
              <a:buNone/>
            </a:pPr>
            <a:r>
              <a:rPr lang="it"/>
              <a:t>They also help the development team estimate a roadmap needed to deliver the end product.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User stories</a:t>
            </a:r>
            <a:endParaRPr/>
          </a:p>
          <a:p>
            <a:pPr indent="0" lvl="0" marL="0" rtl="0" algn="l">
              <a:spcBef>
                <a:spcPts val="0"/>
              </a:spcBef>
              <a:spcAft>
                <a:spcPts val="0"/>
              </a:spcAft>
              <a:buNone/>
            </a:pPr>
            <a:r>
              <a:t/>
            </a:r>
            <a:endParaRPr/>
          </a:p>
        </p:txBody>
      </p:sp>
      <p:sp>
        <p:nvSpPr>
          <p:cNvPr id="235" name="Google Shape;235;p4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How to write a user story:</a:t>
            </a:r>
            <a:endParaRPr b="1"/>
          </a:p>
          <a:p>
            <a:pPr indent="0" lvl="0" marL="0" rtl="0" algn="l">
              <a:spcBef>
                <a:spcPts val="1600"/>
              </a:spcBef>
              <a:spcAft>
                <a:spcPts val="0"/>
              </a:spcAft>
              <a:buNone/>
            </a:pPr>
            <a:r>
              <a:rPr lang="it"/>
              <a:t>It’s super simple to write a user story. </a:t>
            </a:r>
            <a:endParaRPr/>
          </a:p>
          <a:p>
            <a:pPr indent="0" lvl="0" marL="0" rtl="0" algn="l">
              <a:spcBef>
                <a:spcPts val="1600"/>
              </a:spcBef>
              <a:spcAft>
                <a:spcPts val="0"/>
              </a:spcAft>
              <a:buClr>
                <a:schemeClr val="dk1"/>
              </a:buClr>
              <a:buSzPts val="1100"/>
              <a:buFont typeface="Arial"/>
              <a:buNone/>
            </a:pPr>
            <a:r>
              <a:rPr b="1" lang="it"/>
              <a:t>“As a [role], I want [feature] because [reason].”</a:t>
            </a:r>
            <a:endParaRPr b="1"/>
          </a:p>
          <a:p>
            <a:pPr indent="0" lvl="0" marL="0" rtl="0" algn="l">
              <a:spcBef>
                <a:spcPts val="1600"/>
              </a:spcBef>
              <a:spcAft>
                <a:spcPts val="0"/>
              </a:spcAft>
              <a:buNone/>
            </a:pPr>
            <a:r>
              <a:t/>
            </a:r>
            <a:endParaRPr/>
          </a:p>
          <a:p>
            <a:pPr indent="0" lvl="0" marL="0" rtl="0" algn="l">
              <a:spcBef>
                <a:spcPts val="1600"/>
              </a:spcBef>
              <a:spcAft>
                <a:spcPts val="0"/>
              </a:spcAft>
              <a:buNone/>
            </a:pPr>
            <a:r>
              <a:rPr lang="it"/>
              <a:t>For example: “As UX Manager, John wants centralized assets management so that his designers are in sync.”</a:t>
            </a:r>
            <a:endParaRPr/>
          </a:p>
          <a:p>
            <a:pPr indent="0" lvl="0" marL="0" rtl="0" algn="l">
              <a:spcBef>
                <a:spcPts val="1600"/>
              </a:spcBef>
              <a:spcAft>
                <a:spcPts val="0"/>
              </a:spcAft>
              <a:buNone/>
            </a:pPr>
            <a:r>
              <a:t/>
            </a:r>
            <a:endParaRPr/>
          </a:p>
          <a:p>
            <a:pPr indent="0" lvl="0" marL="0" rtl="0" algn="l">
              <a:spcBef>
                <a:spcPts val="1600"/>
              </a:spcBef>
              <a:spcAft>
                <a:spcPts val="0"/>
              </a:spcAft>
              <a:buClr>
                <a:schemeClr val="dk1"/>
              </a:buClr>
              <a:buSzPts val="1100"/>
              <a:buFont typeface="Arial"/>
              <a:buNone/>
            </a:pPr>
            <a:r>
              <a:rPr lang="it" u="sng"/>
              <a:t>this approach helps you to think about who a certain feature is built for and why</a:t>
            </a:r>
            <a:endParaRPr u="sng"/>
          </a:p>
          <a:p>
            <a:pPr indent="0" lvl="0" marL="0" rtl="0" algn="l">
              <a:spcBef>
                <a:spcPts val="1600"/>
              </a:spcBef>
              <a:spcAft>
                <a:spcPts val="16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Who writes user stories?</a:t>
            </a:r>
            <a:endParaRPr/>
          </a:p>
        </p:txBody>
      </p:sp>
      <p:sp>
        <p:nvSpPr>
          <p:cNvPr id="241" name="Google Shape;241;p4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None/>
            </a:pPr>
            <a:r>
              <a:rPr lang="it" u="sng"/>
              <a:t>Anyone can write user stories. </a:t>
            </a:r>
            <a:endParaRPr u="sng"/>
          </a:p>
          <a:p>
            <a:pPr indent="0" lvl="0" marL="0" rtl="0" algn="l">
              <a:spcBef>
                <a:spcPts val="1600"/>
              </a:spcBef>
              <a:spcAft>
                <a:spcPts val="0"/>
              </a:spcAft>
              <a:buNone/>
            </a:pPr>
            <a:r>
              <a:rPr lang="it"/>
              <a:t>It's the </a:t>
            </a:r>
            <a:r>
              <a:rPr b="1" lang="it"/>
              <a:t>product owner's responsibility</a:t>
            </a:r>
            <a:r>
              <a:rPr lang="it"/>
              <a:t> to make sure a product backlog of user stories exists, but </a:t>
            </a:r>
            <a:r>
              <a:rPr b="1" lang="it"/>
              <a:t>that doesn’t mean that the product owner is the one who writes</a:t>
            </a:r>
            <a:r>
              <a:rPr lang="it"/>
              <a:t> them. </a:t>
            </a:r>
            <a:endParaRPr/>
          </a:p>
          <a:p>
            <a:pPr indent="0" lvl="0" marL="0" rtl="0" algn="l">
              <a:spcBef>
                <a:spcPts val="1600"/>
              </a:spcBef>
              <a:spcAft>
                <a:spcPts val="0"/>
              </a:spcAft>
              <a:buClr>
                <a:schemeClr val="dk1"/>
              </a:buClr>
              <a:buSzPts val="1100"/>
              <a:buFont typeface="Arial"/>
              <a:buNone/>
            </a:pPr>
            <a:r>
              <a:rPr lang="it"/>
              <a:t>Over the course of a good agile project, you should expect to have user story examples </a:t>
            </a:r>
            <a:r>
              <a:rPr b="1" lang="it"/>
              <a:t>written by each team member</a:t>
            </a:r>
            <a:r>
              <a:rPr lang="it"/>
              <a:t>.</a:t>
            </a:r>
            <a:endParaRPr/>
          </a:p>
          <a:p>
            <a:pPr indent="0" lvl="0" marL="0" rtl="0" algn="l">
              <a:spcBef>
                <a:spcPts val="1600"/>
              </a:spcBef>
              <a:spcAft>
                <a:spcPts val="0"/>
              </a:spcAft>
              <a:buClr>
                <a:schemeClr val="dk1"/>
              </a:buClr>
              <a:buSzPts val="1100"/>
              <a:buFont typeface="Arial"/>
              <a:buNone/>
            </a:pPr>
            <a:r>
              <a:rPr lang="it"/>
              <a:t>Also, note that </a:t>
            </a:r>
            <a:r>
              <a:rPr lang="it" u="sng"/>
              <a:t>who writes a user story is far less important </a:t>
            </a:r>
            <a:br>
              <a:rPr lang="it" u="sng"/>
            </a:br>
            <a:r>
              <a:rPr lang="it" u="sng"/>
              <a:t>than who is involved in the discussions of it.</a:t>
            </a:r>
            <a:endParaRPr sz="1400" u="sng">
              <a:solidFill>
                <a:schemeClr val="dk1"/>
              </a:solidFill>
            </a:endParaRPr>
          </a:p>
          <a:p>
            <a:pPr indent="0" lvl="0" marL="0" rtl="0" algn="l">
              <a:spcBef>
                <a:spcPts val="1600"/>
              </a:spcBef>
              <a:spcAft>
                <a:spcPts val="1600"/>
              </a:spcAft>
              <a:buNone/>
            </a:pPr>
            <a:r>
              <a:t/>
            </a:r>
            <a:endParaRPr/>
          </a:p>
        </p:txBody>
      </p:sp>
      <p:pic>
        <p:nvPicPr>
          <p:cNvPr id="242" name="Google Shape;242;p43"/>
          <p:cNvPicPr preferRelativeResize="0"/>
          <p:nvPr/>
        </p:nvPicPr>
        <p:blipFill>
          <a:blip r:embed="rId3">
            <a:alphaModFix/>
          </a:blip>
          <a:stretch>
            <a:fillRect/>
          </a:stretch>
        </p:blipFill>
        <p:spPr>
          <a:xfrm>
            <a:off x="6621500" y="3106325"/>
            <a:ext cx="2424300" cy="19941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User stories</a:t>
            </a:r>
            <a:endParaRPr/>
          </a:p>
          <a:p>
            <a:pPr indent="0" lvl="0" marL="0" rtl="0" algn="l">
              <a:spcBef>
                <a:spcPts val="0"/>
              </a:spcBef>
              <a:spcAft>
                <a:spcPts val="0"/>
              </a:spcAft>
              <a:buNone/>
            </a:pPr>
            <a:r>
              <a:t/>
            </a:r>
            <a:endParaRPr/>
          </a:p>
        </p:txBody>
      </p:sp>
      <p:sp>
        <p:nvSpPr>
          <p:cNvPr id="248" name="Google Shape;248;p4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One of the benefits of user stories is that t</a:t>
            </a:r>
            <a:r>
              <a:rPr lang="it" u="sng"/>
              <a:t>hey can be written at varying levels of detail. </a:t>
            </a:r>
            <a:endParaRPr u="sng"/>
          </a:p>
          <a:p>
            <a:pPr indent="0" lvl="0" marL="0" rtl="0" algn="l">
              <a:spcBef>
                <a:spcPts val="1600"/>
              </a:spcBef>
              <a:spcAft>
                <a:spcPts val="0"/>
              </a:spcAft>
              <a:buNone/>
            </a:pPr>
            <a:r>
              <a:rPr lang="it"/>
              <a:t>We can write a user story to cover large amounts of functionality. These </a:t>
            </a:r>
            <a:r>
              <a:rPr b="1" lang="it"/>
              <a:t>large user</a:t>
            </a:r>
            <a:r>
              <a:rPr lang="it"/>
              <a:t> stories are generally known as </a:t>
            </a:r>
            <a:r>
              <a:rPr b="1" lang="it"/>
              <a:t>epics</a:t>
            </a:r>
            <a:r>
              <a:rPr lang="it"/>
              <a:t>. </a:t>
            </a:r>
            <a:endParaRPr/>
          </a:p>
          <a:p>
            <a:pPr indent="0" lvl="0" marL="0" rtl="0" algn="l">
              <a:spcBef>
                <a:spcPts val="1600"/>
              </a:spcBef>
              <a:spcAft>
                <a:spcPts val="0"/>
              </a:spcAft>
              <a:buClr>
                <a:schemeClr val="dk1"/>
              </a:buClr>
              <a:buSzPts val="1100"/>
              <a:buFont typeface="Arial"/>
              <a:buNone/>
            </a:pPr>
            <a:r>
              <a:rPr lang="it"/>
              <a:t>Here is an epic agile user story example from a desktop backup product:</a:t>
            </a:r>
            <a:endParaRPr/>
          </a:p>
          <a:p>
            <a:pPr indent="-342900" lvl="0" marL="457200" rtl="0" algn="l">
              <a:spcBef>
                <a:spcPts val="1600"/>
              </a:spcBef>
              <a:spcAft>
                <a:spcPts val="0"/>
              </a:spcAft>
              <a:buSzPts val="1800"/>
              <a:buChar char="●"/>
            </a:pPr>
            <a:r>
              <a:rPr lang="it"/>
              <a:t>As a user, I can backup my entire hard drive.</a:t>
            </a:r>
            <a:endParaRPr/>
          </a:p>
          <a:p>
            <a:pPr indent="0" lvl="0" marL="0" rtl="0" algn="l">
              <a:spcBef>
                <a:spcPts val="1600"/>
              </a:spcBef>
              <a:spcAft>
                <a:spcPts val="16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How is detail added to user stories?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54" name="Google Shape;254;p4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Because </a:t>
            </a:r>
            <a:r>
              <a:rPr lang="it" u="sng"/>
              <a:t>an epic is generally too large</a:t>
            </a:r>
            <a:r>
              <a:rPr lang="it"/>
              <a:t> for a design team to complete in one iteration, it is split into multiple smaller user stories before it is worked on. </a:t>
            </a:r>
            <a:endParaRPr/>
          </a:p>
          <a:p>
            <a:pPr indent="0" lvl="0" marL="0" rtl="0" algn="l">
              <a:spcBef>
                <a:spcPts val="1600"/>
              </a:spcBef>
              <a:spcAft>
                <a:spcPts val="0"/>
              </a:spcAft>
              <a:buClr>
                <a:schemeClr val="dk1"/>
              </a:buClr>
              <a:buSzPts val="1100"/>
              <a:buFont typeface="Arial"/>
              <a:buNone/>
            </a:pPr>
            <a:r>
              <a:rPr lang="it"/>
              <a:t>The epic in the previous slide could be split into dozens (or possibly hundreds), including these two:</a:t>
            </a:r>
            <a:endParaRPr/>
          </a:p>
          <a:p>
            <a:pPr indent="-342900" lvl="0" marL="457200" rtl="0" algn="l">
              <a:spcBef>
                <a:spcPts val="1600"/>
              </a:spcBef>
              <a:spcAft>
                <a:spcPts val="0"/>
              </a:spcAft>
              <a:buSzPts val="1800"/>
              <a:buChar char="●"/>
            </a:pPr>
            <a:r>
              <a:rPr lang="it">
                <a:highlight>
                  <a:srgbClr val="00FF00"/>
                </a:highlight>
              </a:rPr>
              <a:t>As a power user,</a:t>
            </a:r>
            <a:r>
              <a:rPr lang="it"/>
              <a:t> I can specify files or folders to backup based on file size, date created and date modified.</a:t>
            </a:r>
            <a:endParaRPr/>
          </a:p>
          <a:p>
            <a:pPr indent="-342900" lvl="0" marL="457200" rtl="0" algn="l">
              <a:spcBef>
                <a:spcPts val="1600"/>
              </a:spcBef>
              <a:spcAft>
                <a:spcPts val="0"/>
              </a:spcAft>
              <a:buSzPts val="1800"/>
              <a:buChar char="●"/>
            </a:pPr>
            <a:r>
              <a:rPr lang="it">
                <a:highlight>
                  <a:srgbClr val="FF0000"/>
                </a:highlight>
              </a:rPr>
              <a:t>As a user,</a:t>
            </a:r>
            <a:r>
              <a:rPr lang="it"/>
              <a:t> I can indicate folders not to backup so that my backup drive isn't filled up with things I don't need saved.</a:t>
            </a:r>
            <a:endParaRPr/>
          </a:p>
          <a:p>
            <a:pPr indent="0" lvl="0" marL="0" rtl="0" algn="l">
              <a:spcBef>
                <a:spcPts val="1600"/>
              </a:spcBef>
              <a:spcAft>
                <a:spcPts val="16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How is detail added to user stories?</a:t>
            </a:r>
            <a:endParaRPr/>
          </a:p>
          <a:p>
            <a:pPr indent="0" lvl="0" marL="0" rtl="0" algn="l">
              <a:spcBef>
                <a:spcPts val="0"/>
              </a:spcBef>
              <a:spcAft>
                <a:spcPts val="0"/>
              </a:spcAft>
              <a:buNone/>
            </a:pPr>
            <a:r>
              <a:t/>
            </a:r>
            <a:endParaRPr/>
          </a:p>
        </p:txBody>
      </p:sp>
      <p:sp>
        <p:nvSpPr>
          <p:cNvPr id="260" name="Google Shape;260;p4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1450">
                <a:solidFill>
                  <a:srgbClr val="4C4D52"/>
                </a:solidFill>
                <a:highlight>
                  <a:srgbClr val="FFFFFF"/>
                </a:highlight>
              </a:rPr>
              <a:t>Detail can be added to user stories in two ways:</a:t>
            </a:r>
            <a:endParaRPr sz="1450">
              <a:solidFill>
                <a:srgbClr val="4C4D52"/>
              </a:solidFill>
              <a:highlight>
                <a:srgbClr val="FFFFFF"/>
              </a:highlight>
            </a:endParaRPr>
          </a:p>
          <a:p>
            <a:pPr indent="-320675" lvl="0" marL="457200" rtl="0" algn="l">
              <a:spcBef>
                <a:spcPts val="1400"/>
              </a:spcBef>
              <a:spcAft>
                <a:spcPts val="0"/>
              </a:spcAft>
              <a:buClr>
                <a:srgbClr val="4C4D52"/>
              </a:buClr>
              <a:buSzPts val="1450"/>
              <a:buChar char="●"/>
            </a:pPr>
            <a:r>
              <a:rPr lang="it" sz="1450">
                <a:solidFill>
                  <a:srgbClr val="4C4D52"/>
                </a:solidFill>
                <a:highlight>
                  <a:srgbClr val="FFFFFF"/>
                </a:highlight>
              </a:rPr>
              <a:t>By splitting a user story into multiple, smaller user stories.</a:t>
            </a:r>
            <a:endParaRPr sz="1450">
              <a:solidFill>
                <a:srgbClr val="4C4D52"/>
              </a:solidFill>
              <a:highlight>
                <a:srgbClr val="FFFFFF"/>
              </a:highlight>
            </a:endParaRPr>
          </a:p>
          <a:p>
            <a:pPr indent="-320675" lvl="0" marL="457200" rtl="0" algn="l">
              <a:spcBef>
                <a:spcPts val="0"/>
              </a:spcBef>
              <a:spcAft>
                <a:spcPts val="0"/>
              </a:spcAft>
              <a:buClr>
                <a:srgbClr val="4C4D52"/>
              </a:buClr>
              <a:buSzPts val="1450"/>
              <a:buChar char="●"/>
            </a:pPr>
            <a:r>
              <a:rPr lang="it" sz="1450">
                <a:solidFill>
                  <a:srgbClr val="4C4D52"/>
                </a:solidFill>
                <a:highlight>
                  <a:srgbClr val="FFFFFF"/>
                </a:highlight>
              </a:rPr>
              <a:t>By adding “conditions of satisfaction.”</a:t>
            </a:r>
            <a:endParaRPr sz="1450">
              <a:solidFill>
                <a:srgbClr val="4C4D52"/>
              </a:solidFill>
              <a:highlight>
                <a:srgbClr val="FFFFFF"/>
              </a:highlight>
            </a:endParaRPr>
          </a:p>
          <a:p>
            <a:pPr indent="0" lvl="0" marL="0" rtl="0" algn="l">
              <a:spcBef>
                <a:spcPts val="1400"/>
              </a:spcBef>
              <a:spcAft>
                <a:spcPts val="0"/>
              </a:spcAft>
              <a:buClr>
                <a:schemeClr val="dk1"/>
              </a:buClr>
              <a:buSzPts val="1100"/>
              <a:buFont typeface="Arial"/>
              <a:buNone/>
            </a:pPr>
            <a:r>
              <a:rPr lang="it" sz="1450">
                <a:solidFill>
                  <a:srgbClr val="4C4D52"/>
                </a:solidFill>
                <a:highlight>
                  <a:srgbClr val="FFFFFF"/>
                </a:highlight>
              </a:rPr>
              <a:t>When a relatively large story is split into multiple, smaller agile user stories, it is natural to assume that detail has been added. After all, more has been written.</a:t>
            </a:r>
            <a:endParaRPr sz="1450">
              <a:solidFill>
                <a:srgbClr val="4C4D52"/>
              </a:solidFill>
              <a:highlight>
                <a:srgbClr val="FFFFFF"/>
              </a:highlight>
            </a:endParaRPr>
          </a:p>
          <a:p>
            <a:pPr indent="0" lvl="0" marL="0" rtl="0" algn="l">
              <a:spcBef>
                <a:spcPts val="2100"/>
              </a:spcBef>
              <a:spcAft>
                <a:spcPts val="0"/>
              </a:spcAft>
              <a:buNone/>
            </a:pPr>
            <a:r>
              <a:rPr lang="it" sz="1450">
                <a:solidFill>
                  <a:srgbClr val="4C4D52"/>
                </a:solidFill>
                <a:highlight>
                  <a:srgbClr val="FFFFFF"/>
                </a:highlight>
              </a:rPr>
              <a:t>The conditions of satisfaction is simply a high-level acceptance test that will be true after the agile user story is complete. </a:t>
            </a:r>
            <a:endParaRPr sz="1450">
              <a:solidFill>
                <a:srgbClr val="4C4D52"/>
              </a:solidFill>
              <a:highlight>
                <a:srgbClr val="FFFFFF"/>
              </a:highlight>
            </a:endParaRPr>
          </a:p>
          <a:p>
            <a:pPr indent="0" lvl="0" marL="0" rtl="0" algn="l">
              <a:spcBef>
                <a:spcPts val="0"/>
              </a:spcBef>
              <a:spcAft>
                <a:spcPts val="16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How is detail added to user stories?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66" name="Google Shape;266;p4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2100"/>
              </a:spcBef>
              <a:spcAft>
                <a:spcPts val="0"/>
              </a:spcAft>
              <a:buClr>
                <a:schemeClr val="dk1"/>
              </a:buClr>
              <a:buSzPts val="1100"/>
              <a:buFont typeface="Arial"/>
              <a:buNone/>
            </a:pPr>
            <a:r>
              <a:rPr lang="it" sz="1450">
                <a:solidFill>
                  <a:srgbClr val="4C4D52"/>
                </a:solidFill>
                <a:highlight>
                  <a:srgbClr val="FFFFFF"/>
                </a:highlight>
              </a:rPr>
              <a:t>Consider the following as another agile user story example:</a:t>
            </a:r>
            <a:endParaRPr sz="1450">
              <a:solidFill>
                <a:srgbClr val="4C4D52"/>
              </a:solidFill>
              <a:highlight>
                <a:srgbClr val="FFFFFF"/>
              </a:highlight>
            </a:endParaRPr>
          </a:p>
          <a:p>
            <a:pPr indent="0" lvl="0" marL="0" rtl="0" algn="l">
              <a:spcBef>
                <a:spcPts val="2100"/>
              </a:spcBef>
              <a:spcAft>
                <a:spcPts val="0"/>
              </a:spcAft>
              <a:buClr>
                <a:schemeClr val="dk1"/>
              </a:buClr>
              <a:buSzPts val="1100"/>
              <a:buFont typeface="Arial"/>
              <a:buNone/>
            </a:pPr>
            <a:r>
              <a:rPr lang="it" sz="1450">
                <a:solidFill>
                  <a:srgbClr val="4C4D52"/>
                </a:solidFill>
                <a:highlight>
                  <a:srgbClr val="FFFFFF"/>
                </a:highlight>
              </a:rPr>
              <a:t>As a vice president of marketing, I want to select a holiday season to be used when reviewing the performance of past advertising campaigns so that I can identify profitable ones.</a:t>
            </a:r>
            <a:endParaRPr sz="1450">
              <a:solidFill>
                <a:srgbClr val="4C4D52"/>
              </a:solidFill>
              <a:highlight>
                <a:srgbClr val="FFFFFF"/>
              </a:highlight>
            </a:endParaRPr>
          </a:p>
          <a:p>
            <a:pPr indent="0" lvl="0" marL="0" rtl="0" algn="l">
              <a:spcBef>
                <a:spcPts val="2100"/>
              </a:spcBef>
              <a:spcAft>
                <a:spcPts val="0"/>
              </a:spcAft>
              <a:buClr>
                <a:schemeClr val="dk1"/>
              </a:buClr>
              <a:buSzPts val="1100"/>
              <a:buFont typeface="Arial"/>
              <a:buNone/>
            </a:pPr>
            <a:r>
              <a:rPr lang="it" sz="1450">
                <a:solidFill>
                  <a:srgbClr val="4C4D52"/>
                </a:solidFill>
                <a:highlight>
                  <a:srgbClr val="FFFFFF"/>
                </a:highlight>
              </a:rPr>
              <a:t>Detail could be added to that user story example by adding the following conditions of satisfaction:</a:t>
            </a:r>
            <a:endParaRPr sz="1450">
              <a:solidFill>
                <a:srgbClr val="4C4D52"/>
              </a:solidFill>
              <a:highlight>
                <a:srgbClr val="FFFFFF"/>
              </a:highlight>
            </a:endParaRPr>
          </a:p>
          <a:p>
            <a:pPr indent="-320675" lvl="0" marL="457200" rtl="0" algn="l">
              <a:spcBef>
                <a:spcPts val="1400"/>
              </a:spcBef>
              <a:spcAft>
                <a:spcPts val="0"/>
              </a:spcAft>
              <a:buClr>
                <a:srgbClr val="4C4D52"/>
              </a:buClr>
              <a:buSzPts val="1450"/>
              <a:buChar char="●"/>
            </a:pPr>
            <a:r>
              <a:rPr lang="it" sz="1450">
                <a:solidFill>
                  <a:srgbClr val="4C4D52"/>
                </a:solidFill>
                <a:highlight>
                  <a:srgbClr val="FFFFFF"/>
                </a:highlight>
              </a:rPr>
              <a:t>Make sure it works with major retail holidays: Christmas, Easter, President’s Day, Mother’s Day, Father’s Day, Labor Day, New Year’s Day.</a:t>
            </a:r>
            <a:endParaRPr sz="1450">
              <a:solidFill>
                <a:srgbClr val="4C4D52"/>
              </a:solidFill>
              <a:highlight>
                <a:srgbClr val="FFFFFF"/>
              </a:highlight>
            </a:endParaRPr>
          </a:p>
          <a:p>
            <a:pPr indent="-320675" lvl="0" marL="457200" rtl="0" algn="l">
              <a:spcBef>
                <a:spcPts val="0"/>
              </a:spcBef>
              <a:spcAft>
                <a:spcPts val="0"/>
              </a:spcAft>
              <a:buClr>
                <a:srgbClr val="4C4D52"/>
              </a:buClr>
              <a:buSzPts val="1450"/>
              <a:buChar char="●"/>
            </a:pPr>
            <a:r>
              <a:rPr lang="it" sz="1450">
                <a:solidFill>
                  <a:srgbClr val="4C4D52"/>
                </a:solidFill>
                <a:highlight>
                  <a:srgbClr val="FFFFFF"/>
                </a:highlight>
              </a:rPr>
              <a:t>Support holidays that span two calendar years (none span three).</a:t>
            </a:r>
            <a:endParaRPr sz="1450">
              <a:solidFill>
                <a:srgbClr val="4C4D52"/>
              </a:solidFill>
              <a:highlight>
                <a:srgbClr val="FFFFFF"/>
              </a:highlight>
            </a:endParaRPr>
          </a:p>
          <a:p>
            <a:pPr indent="-320675" lvl="0" marL="457200" rtl="0" algn="l">
              <a:spcBef>
                <a:spcPts val="0"/>
              </a:spcBef>
              <a:spcAft>
                <a:spcPts val="0"/>
              </a:spcAft>
              <a:buClr>
                <a:srgbClr val="4C4D52"/>
              </a:buClr>
              <a:buSzPts val="1450"/>
              <a:buChar char="●"/>
            </a:pPr>
            <a:r>
              <a:rPr lang="it" sz="1450">
                <a:solidFill>
                  <a:srgbClr val="4C4D52"/>
                </a:solidFill>
                <a:highlight>
                  <a:srgbClr val="FFFFFF"/>
                </a:highlight>
              </a:rPr>
              <a:t>Holiday seasons can be set from one holiday to the next (such as Thanksgiving to Christmas).</a:t>
            </a:r>
            <a:endParaRPr sz="1450">
              <a:solidFill>
                <a:srgbClr val="4C4D52"/>
              </a:solidFill>
              <a:highlight>
                <a:srgbClr val="FFFFFF"/>
              </a:highlight>
            </a:endParaRPr>
          </a:p>
          <a:p>
            <a:pPr indent="-320675" lvl="0" marL="457200" rtl="0" algn="l">
              <a:spcBef>
                <a:spcPts val="0"/>
              </a:spcBef>
              <a:spcAft>
                <a:spcPts val="0"/>
              </a:spcAft>
              <a:buClr>
                <a:srgbClr val="4C4D52"/>
              </a:buClr>
              <a:buSzPts val="1450"/>
              <a:buChar char="●"/>
            </a:pPr>
            <a:r>
              <a:rPr lang="it" sz="1450">
                <a:solidFill>
                  <a:srgbClr val="4C4D52"/>
                </a:solidFill>
                <a:highlight>
                  <a:srgbClr val="FFFFFF"/>
                </a:highlight>
              </a:rPr>
              <a:t>Holiday seasons can be set to be a number of days prior to the holiday.</a:t>
            </a:r>
            <a:endParaRPr sz="1450">
              <a:solidFill>
                <a:srgbClr val="4C4D52"/>
              </a:solidFill>
              <a:highlight>
                <a:srgbClr val="FFFFFF"/>
              </a:highlight>
            </a:endParaRPr>
          </a:p>
          <a:p>
            <a:pPr indent="0" lvl="0" marL="0" rtl="0" algn="l">
              <a:spcBef>
                <a:spcPts val="14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Using personas and user stories together</a:t>
            </a:r>
            <a:endParaRPr/>
          </a:p>
        </p:txBody>
      </p:sp>
      <p:sp>
        <p:nvSpPr>
          <p:cNvPr id="272" name="Google Shape;272;p4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To prioritize features:</a:t>
            </a:r>
            <a:endParaRPr/>
          </a:p>
          <a:p>
            <a:pPr indent="0" lvl="0" marL="0" rtl="0" algn="l">
              <a:spcBef>
                <a:spcPts val="1600"/>
              </a:spcBef>
              <a:spcAft>
                <a:spcPts val="1600"/>
              </a:spcAft>
              <a:buNone/>
            </a:pPr>
            <a:r>
              <a:rPr lang="it" u="sng">
                <a:solidFill>
                  <a:schemeClr val="hlink"/>
                </a:solidFill>
                <a:hlinkClick r:id="rId3"/>
              </a:rPr>
              <a:t>https://www.youtube.com/watch?v=xamf6hpD5nw</a:t>
            </a:r>
            <a:r>
              <a:rPr lang="it"/>
              <a: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SCENARIOS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Scenarios</a:t>
            </a:r>
            <a:endParaRPr/>
          </a:p>
        </p:txBody>
      </p:sp>
      <p:sp>
        <p:nvSpPr>
          <p:cNvPr id="283" name="Google Shape;283;p5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A scenario is a situation that captures how users perform tasks on your site or app.</a:t>
            </a:r>
            <a:r>
              <a:rPr lang="it"/>
              <a:t> </a:t>
            </a:r>
            <a:endParaRPr/>
          </a:p>
          <a:p>
            <a:pPr indent="0" lvl="0" marL="0" rtl="0" algn="l">
              <a:spcBef>
                <a:spcPts val="1600"/>
              </a:spcBef>
              <a:spcAft>
                <a:spcPts val="0"/>
              </a:spcAft>
              <a:buNone/>
            </a:pPr>
            <a:r>
              <a:rPr lang="it"/>
              <a:t>Scenarios describe the user’s motivations for being onsite (their task or goal) and/or a question they need answered, and suggest possible ways to accomplish these objectives. </a:t>
            </a:r>
            <a:endParaRPr/>
          </a:p>
          <a:p>
            <a:pPr indent="0" lvl="0" marL="0" rtl="0" algn="l">
              <a:spcBef>
                <a:spcPts val="1600"/>
              </a:spcBef>
              <a:spcAft>
                <a:spcPts val="0"/>
              </a:spcAft>
              <a:buNone/>
            </a:pPr>
            <a:r>
              <a:rPr b="1" lang="it"/>
              <a:t>It is essentially a development of the user story,</a:t>
            </a:r>
            <a:r>
              <a:rPr lang="it"/>
              <a:t> and can relate to multiple target users. </a:t>
            </a:r>
            <a:endParaRPr/>
          </a:p>
          <a:p>
            <a:pPr indent="0" lvl="0" marL="0" rtl="0" algn="l">
              <a:spcBef>
                <a:spcPts val="1600"/>
              </a:spcBef>
              <a:spcAft>
                <a:spcPts val="0"/>
              </a:spcAft>
              <a:buClr>
                <a:schemeClr val="dk1"/>
              </a:buClr>
              <a:buSzPts val="1100"/>
              <a:buFont typeface="Arial"/>
              <a:buNone/>
            </a:pPr>
            <a:r>
              <a:rPr lang="it"/>
              <a:t>However, </a:t>
            </a:r>
            <a:r>
              <a:rPr lang="it" u="sng"/>
              <a:t>scenarios can also be broken down into use cases</a:t>
            </a:r>
            <a:r>
              <a:rPr lang="it"/>
              <a:t> that describe the flow of tasks that any one user takes in a given functionality or path.</a:t>
            </a:r>
            <a:endParaRPr/>
          </a:p>
          <a:p>
            <a:pPr indent="0" lvl="0" marL="0" rtl="0" algn="l">
              <a:spcBef>
                <a:spcPts val="1600"/>
              </a:spcBef>
              <a:spcAft>
                <a:spcPts val="16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Scenarios</a:t>
            </a:r>
            <a:endParaRPr/>
          </a:p>
        </p:txBody>
      </p:sp>
      <p:sp>
        <p:nvSpPr>
          <p:cNvPr id="289" name="Google Shape;289;p5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 example, a scenario could outline how John uses a mobile app to buy a ticket to a design workshop whilst on his way to work.</a:t>
            </a:r>
            <a:endParaRPr/>
          </a:p>
          <a:p>
            <a:pPr indent="0" lvl="0" marL="0" rtl="0" algn="l">
              <a:spcBef>
                <a:spcPts val="1600"/>
              </a:spcBef>
              <a:spcAft>
                <a:spcPts val="0"/>
              </a:spcAft>
              <a:buNone/>
            </a:pPr>
            <a:r>
              <a:rPr lang="it" u="sng"/>
              <a:t>Scenarios help stakeholders envision the ideas of the design team by providing context to the intended user experience</a:t>
            </a:r>
            <a:r>
              <a:rPr lang="it"/>
              <a:t> – frequently bridging communication gaps between creative and business thinking. </a:t>
            </a:r>
            <a:endParaRPr/>
          </a:p>
          <a:p>
            <a:pPr indent="0" lvl="0" marL="0" rtl="0" algn="l">
              <a:spcBef>
                <a:spcPts val="1600"/>
              </a:spcBef>
              <a:spcAft>
                <a:spcPts val="0"/>
              </a:spcAft>
              <a:buNone/>
            </a:pPr>
            <a:r>
              <a:rPr lang="it" u="sng"/>
              <a:t>For the design team, scenarios help them imagine the ideal solution for a user’s problem.</a:t>
            </a:r>
            <a:endParaRPr u="sng"/>
          </a:p>
          <a:p>
            <a:pPr indent="0" lvl="0" marL="0" rtl="0" algn="l">
              <a:spcBef>
                <a:spcPts val="1600"/>
              </a:spcBef>
              <a:spcAft>
                <a:spcPts val="0"/>
              </a:spcAft>
              <a:buNone/>
            </a:pPr>
            <a:r>
              <a:rPr i="1" lang="it"/>
              <a:t>“Scenarios are the engine we use to drive our designs.”</a:t>
            </a:r>
            <a:r>
              <a:rPr lang="it"/>
              <a:t> </a:t>
            </a:r>
            <a:r>
              <a:rPr lang="it" sz="1000"/>
              <a:t>(UX influencer, </a:t>
            </a:r>
            <a:r>
              <a:rPr lang="it" sz="1000" u="sng">
                <a:solidFill>
                  <a:schemeClr val="accent5"/>
                </a:solidFill>
                <a:hlinkClick r:id="rId3">
                  <a:extLst>
                    <a:ext uri="{A12FA001-AC4F-418D-AE19-62706E023703}">
                      <ahyp:hlinkClr val="tx"/>
                    </a:ext>
                  </a:extLst>
                </a:hlinkClick>
              </a:rPr>
              <a:t>Kim Goodwin</a:t>
            </a:r>
            <a:r>
              <a:rPr lang="it" sz="1000" u="sng">
                <a:solidFill>
                  <a:srgbClr val="21C0C0"/>
                </a:solidFill>
              </a:rPr>
              <a:t>)</a:t>
            </a:r>
            <a:endParaRPr sz="1000" u="sng">
              <a:solidFill>
                <a:srgbClr val="21C0C0"/>
              </a:solidFill>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What to Consider When Writing Scenarios</a:t>
            </a:r>
            <a:endParaRPr/>
          </a:p>
        </p:txBody>
      </p:sp>
      <p:sp>
        <p:nvSpPr>
          <p:cNvPr id="295" name="Google Shape;295;p52"/>
          <p:cNvSpPr txBox="1"/>
          <p:nvPr>
            <p:ph idx="1" type="body"/>
          </p:nvPr>
        </p:nvSpPr>
        <p:spPr>
          <a:xfrm>
            <a:off x="311700" y="4934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Good scenarios are </a:t>
            </a:r>
            <a:r>
              <a:rPr b="1" lang="it"/>
              <a:t>concise </a:t>
            </a:r>
            <a:r>
              <a:rPr lang="it"/>
              <a:t>but answer the following key questions:</a:t>
            </a:r>
            <a:endParaRPr/>
          </a:p>
          <a:p>
            <a:pPr indent="-342900" lvl="0" marL="457200" rtl="0" algn="l">
              <a:spcBef>
                <a:spcPts val="1600"/>
              </a:spcBef>
              <a:spcAft>
                <a:spcPts val="0"/>
              </a:spcAft>
              <a:buSzPts val="1800"/>
              <a:buChar char="●"/>
            </a:pPr>
            <a:r>
              <a:rPr b="1" lang="it"/>
              <a:t>Who is the user?</a:t>
            </a:r>
            <a:r>
              <a:rPr lang="it"/>
              <a:t> Use the personas that have been developed to reflect the real, major user groups coming to your site.</a:t>
            </a:r>
            <a:endParaRPr/>
          </a:p>
          <a:p>
            <a:pPr indent="-342900" lvl="0" marL="457200" rtl="0" algn="l">
              <a:spcBef>
                <a:spcPts val="1600"/>
              </a:spcBef>
              <a:spcAft>
                <a:spcPts val="0"/>
              </a:spcAft>
              <a:buSzPts val="1800"/>
              <a:buChar char="●"/>
            </a:pPr>
            <a:r>
              <a:rPr b="1" lang="it"/>
              <a:t>Why does the user come to the site?</a:t>
            </a:r>
            <a:r>
              <a:rPr lang="it"/>
              <a:t>  Note what motivates the user to come to the site and their expectations upon arrival, if any.</a:t>
            </a:r>
            <a:endParaRPr/>
          </a:p>
          <a:p>
            <a:pPr indent="-342900" lvl="0" marL="457200" rtl="0" algn="l">
              <a:spcBef>
                <a:spcPts val="1600"/>
              </a:spcBef>
              <a:spcAft>
                <a:spcPts val="0"/>
              </a:spcAft>
              <a:buSzPts val="1800"/>
              <a:buChar char="●"/>
            </a:pPr>
            <a:r>
              <a:rPr b="1" lang="it"/>
              <a:t>What goals does he/she have?</a:t>
            </a:r>
            <a:r>
              <a:rPr lang="it"/>
              <a:t> Through task analysis, you can better understand the what the user wants on your site and therefore what the site must have for them to leave satisfied. </a:t>
            </a:r>
            <a:endParaRPr/>
          </a:p>
          <a:p>
            <a:pPr indent="0" lvl="0" marL="0" rtl="0" algn="l">
              <a:spcBef>
                <a:spcPts val="1600"/>
              </a:spcBef>
              <a:spcAft>
                <a:spcPts val="0"/>
              </a:spcAft>
              <a:buNone/>
            </a:pPr>
            <a:r>
              <a:rPr b="1" lang="it" u="sng"/>
              <a:t>Some </a:t>
            </a:r>
            <a:r>
              <a:rPr lang="it"/>
              <a:t>scenarios also answer: </a:t>
            </a:r>
            <a:r>
              <a:rPr b="1" lang="it"/>
              <a:t>How can the user achieve</a:t>
            </a:r>
            <a:r>
              <a:rPr lang="it"/>
              <a:t> their goals on the site? Define how the user can achieve his/ her goal on the site, identifying the various possibilities and any potential barriers.</a:t>
            </a:r>
            <a:endParaRPr/>
          </a:p>
          <a:p>
            <a:pPr indent="0" lvl="0" marL="0" rtl="0" algn="l">
              <a:spcBef>
                <a:spcPts val="1600"/>
              </a:spcBef>
              <a:spcAft>
                <a:spcPts val="16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How to write a scenario</a:t>
            </a:r>
            <a:endParaRPr/>
          </a:p>
        </p:txBody>
      </p:sp>
      <p:sp>
        <p:nvSpPr>
          <p:cNvPr id="301" name="Google Shape;301;p5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Scenario planning starts with scenario mapping.</a:t>
            </a:r>
            <a:r>
              <a:rPr lang="it"/>
              <a:t> </a:t>
            </a:r>
            <a:endParaRPr/>
          </a:p>
          <a:p>
            <a:pPr indent="0" lvl="0" marL="0" rtl="0" algn="l">
              <a:spcBef>
                <a:spcPts val="1600"/>
              </a:spcBef>
              <a:spcAft>
                <a:spcPts val="0"/>
              </a:spcAft>
              <a:buNone/>
            </a:pPr>
            <a:r>
              <a:rPr lang="it"/>
              <a:t>The design team, developers and product owner will meet to exchange ideas and create a strategy based on their user personas. </a:t>
            </a:r>
            <a:endParaRPr/>
          </a:p>
          <a:p>
            <a:pPr indent="0" lvl="0" marL="0" rtl="0" algn="l">
              <a:spcBef>
                <a:spcPts val="1600"/>
              </a:spcBef>
              <a:spcAft>
                <a:spcPts val="0"/>
              </a:spcAft>
              <a:buNone/>
            </a:pPr>
            <a:r>
              <a:rPr lang="it"/>
              <a:t>With the </a:t>
            </a:r>
            <a:r>
              <a:rPr b="1" lang="it"/>
              <a:t>primary user defined through persona</a:t>
            </a:r>
            <a:r>
              <a:rPr lang="it"/>
              <a:t> development, they can now consider </a:t>
            </a:r>
            <a:r>
              <a:rPr b="1" lang="it"/>
              <a:t>the </a:t>
            </a:r>
            <a:r>
              <a:rPr b="1" lang="it" u="sng"/>
              <a:t>key task</a:t>
            </a:r>
            <a:r>
              <a:rPr b="1" lang="it"/>
              <a:t> that the user hopes to achieve</a:t>
            </a:r>
            <a:r>
              <a:rPr lang="it"/>
              <a:t>. </a:t>
            </a:r>
            <a:endParaRPr/>
          </a:p>
          <a:p>
            <a:pPr indent="0" lvl="0" marL="0" rtl="0" algn="l">
              <a:spcBef>
                <a:spcPts val="1600"/>
              </a:spcBef>
              <a:spcAft>
                <a:spcPts val="1600"/>
              </a:spcAft>
              <a:buNone/>
            </a:pPr>
            <a:r>
              <a:rPr lang="it"/>
              <a:t>The next step is to perform a scenario analysis, </a:t>
            </a:r>
            <a:r>
              <a:rPr b="1" lang="it"/>
              <a:t>put the user’s goals into context</a:t>
            </a:r>
            <a:r>
              <a:rPr lang="it"/>
              <a:t> and walk through the steps that the user would take.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How to write a scenario</a:t>
            </a:r>
            <a:endParaRPr/>
          </a:p>
          <a:p>
            <a:pPr indent="0" lvl="0" marL="0" rtl="0" algn="l">
              <a:spcBef>
                <a:spcPts val="0"/>
              </a:spcBef>
              <a:spcAft>
                <a:spcPts val="0"/>
              </a:spcAft>
              <a:buNone/>
            </a:pPr>
            <a:r>
              <a:t/>
            </a:r>
            <a:endParaRPr/>
          </a:p>
        </p:txBody>
      </p:sp>
      <p:sp>
        <p:nvSpPr>
          <p:cNvPr id="307" name="Google Shape;307;p5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Creating Scenarios requires a special mindset.</a:t>
            </a:r>
            <a:r>
              <a:rPr lang="it"/>
              <a:t> </a:t>
            </a:r>
            <a:endParaRPr/>
          </a:p>
          <a:p>
            <a:pPr indent="0" lvl="0" marL="0" rtl="0" algn="l">
              <a:spcBef>
                <a:spcPts val="1600"/>
              </a:spcBef>
              <a:spcAft>
                <a:spcPts val="0"/>
              </a:spcAft>
              <a:buNone/>
            </a:pPr>
            <a:r>
              <a:rPr lang="it"/>
              <a:t>It is about </a:t>
            </a:r>
            <a:r>
              <a:rPr b="1" lang="it"/>
              <a:t>focusing on the users’ goals</a:t>
            </a:r>
            <a:r>
              <a:rPr lang="it"/>
              <a:t>: what will they try to accomplish on a website or inside an app? </a:t>
            </a:r>
            <a:endParaRPr/>
          </a:p>
          <a:p>
            <a:pPr indent="0" lvl="0" marL="0" rtl="0" algn="l">
              <a:spcBef>
                <a:spcPts val="1600"/>
              </a:spcBef>
              <a:spcAft>
                <a:spcPts val="1600"/>
              </a:spcAft>
              <a:buNone/>
            </a:pPr>
            <a:r>
              <a:rPr lang="it"/>
              <a:t>Additionally, it is also important to think about their context, their prior knowledge and background.</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How to write a scenario</a:t>
            </a:r>
            <a:endParaRPr/>
          </a:p>
          <a:p>
            <a:pPr indent="0" lvl="0" marL="0" rtl="0" algn="l">
              <a:spcBef>
                <a:spcPts val="0"/>
              </a:spcBef>
              <a:spcAft>
                <a:spcPts val="0"/>
              </a:spcAft>
              <a:buNone/>
            </a:pPr>
            <a:r>
              <a:t/>
            </a:r>
            <a:endParaRPr/>
          </a:p>
        </p:txBody>
      </p:sp>
      <p:sp>
        <p:nvSpPr>
          <p:cNvPr id="313" name="Google Shape;313;p5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Thanks to Scenarios, we can determine:</a:t>
            </a:r>
            <a:endParaRPr/>
          </a:p>
          <a:p>
            <a:pPr indent="-342900" lvl="0" marL="457200" rtl="0" algn="l">
              <a:spcBef>
                <a:spcPts val="1600"/>
              </a:spcBef>
              <a:spcAft>
                <a:spcPts val="0"/>
              </a:spcAft>
              <a:buSzPts val="1800"/>
              <a:buChar char="●"/>
            </a:pPr>
            <a:r>
              <a:rPr lang="it"/>
              <a:t>the most important points to focus on during the UX design process</a:t>
            </a:r>
            <a:endParaRPr/>
          </a:p>
          <a:p>
            <a:pPr indent="-342900" lvl="0" marL="457200" rtl="0" algn="l">
              <a:spcBef>
                <a:spcPts val="1600"/>
              </a:spcBef>
              <a:spcAft>
                <a:spcPts val="0"/>
              </a:spcAft>
              <a:buSzPts val="1800"/>
              <a:buChar char="●"/>
            </a:pPr>
            <a:r>
              <a:rPr lang="it"/>
              <a:t>which steps of the process would require additional help to your users</a:t>
            </a:r>
            <a:endParaRPr/>
          </a:p>
          <a:p>
            <a:pPr indent="-342900" lvl="0" marL="457200" rtl="0" algn="l">
              <a:spcBef>
                <a:spcPts val="1600"/>
              </a:spcBef>
              <a:spcAft>
                <a:spcPts val="0"/>
              </a:spcAft>
              <a:buSzPts val="1800"/>
              <a:buChar char="●"/>
            </a:pPr>
            <a:r>
              <a:rPr lang="it"/>
              <a:t>the main needs and motivations of your users.</a:t>
            </a:r>
            <a:endParaRPr/>
          </a:p>
          <a:p>
            <a:pPr indent="0" lvl="0" marL="0" rtl="0" algn="l">
              <a:spcBef>
                <a:spcPts val="1600"/>
              </a:spcBef>
              <a:spcAft>
                <a:spcPts val="0"/>
              </a:spcAft>
              <a:buClr>
                <a:schemeClr val="dk1"/>
              </a:buClr>
              <a:buSzPts val="1100"/>
              <a:buFont typeface="Arial"/>
              <a:buNone/>
            </a:pPr>
            <a:r>
              <a:rPr b="1" lang="it"/>
              <a:t>Scenarios are built upon User Story</a:t>
            </a:r>
            <a:r>
              <a:rPr lang="it"/>
              <a:t>: these short statements describe what a certain User Persona needs, and why. </a:t>
            </a:r>
            <a:r>
              <a:rPr lang="it" u="sng"/>
              <a:t>Scenarios take User Stories to the next level by adding the interaction with the product or service to the story.</a:t>
            </a:r>
            <a:endParaRPr u="sng"/>
          </a:p>
          <a:p>
            <a:pPr indent="0" lvl="0" marL="0" rtl="0" algn="l">
              <a:spcBef>
                <a:spcPts val="1600"/>
              </a:spcBef>
              <a:spcAft>
                <a:spcPts val="16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How to write a scenario</a:t>
            </a:r>
            <a:endParaRPr/>
          </a:p>
          <a:p>
            <a:pPr indent="0" lvl="0" marL="0" rtl="0" algn="l">
              <a:spcBef>
                <a:spcPts val="0"/>
              </a:spcBef>
              <a:spcAft>
                <a:spcPts val="0"/>
              </a:spcAft>
              <a:buNone/>
            </a:pPr>
            <a:r>
              <a:t/>
            </a:r>
            <a:endParaRPr/>
          </a:p>
        </p:txBody>
      </p:sp>
      <p:sp>
        <p:nvSpPr>
          <p:cNvPr id="319" name="Google Shape;319;p56"/>
          <p:cNvSpPr txBox="1"/>
          <p:nvPr>
            <p:ph idx="1" type="body"/>
          </p:nvPr>
        </p:nvSpPr>
        <p:spPr>
          <a:xfrm>
            <a:off x="311700" y="785950"/>
            <a:ext cx="8520600" cy="336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sz="1100" u="sng">
                <a:solidFill>
                  <a:schemeClr val="hlink"/>
                </a:solidFill>
                <a:hlinkClick r:id="rId3"/>
              </a:rPr>
              <a:t>https://uxknowledgebase.com/scenarios-43e05671b07</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Type of scenarios</a:t>
            </a:r>
            <a:endParaRPr/>
          </a:p>
        </p:txBody>
      </p:sp>
      <p:sp>
        <p:nvSpPr>
          <p:cNvPr id="325" name="Google Shape;325;p5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sz="1100" u="sng">
                <a:solidFill>
                  <a:schemeClr val="hlink"/>
                </a:solidFill>
                <a:hlinkClick r:id="rId3"/>
              </a:rPr>
              <a:t>https://www.usability.gov/how-to-and-tools/methods/scenarios.html</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Scenarios recap</a:t>
            </a:r>
            <a:endParaRPr/>
          </a:p>
        </p:txBody>
      </p:sp>
      <p:sp>
        <p:nvSpPr>
          <p:cNvPr id="331" name="Google Shape;331;p5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u="sng">
                <a:solidFill>
                  <a:schemeClr val="hlink"/>
                </a:solidFill>
                <a:hlinkClick r:id="rId3"/>
              </a:rPr>
              <a:t>https://www.interaction-design.org/literature/topics/user-scenarios</a:t>
            </a:r>
            <a:r>
              <a:rPr lang="it"/>
              <a:t>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USE CASES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6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 Cases</a:t>
            </a:r>
            <a:endParaRPr/>
          </a:p>
        </p:txBody>
      </p:sp>
      <p:sp>
        <p:nvSpPr>
          <p:cNvPr id="342" name="Google Shape;342;p6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use case is a written description of how users will perform tasks on your app.  </a:t>
            </a:r>
            <a:endParaRPr/>
          </a:p>
          <a:p>
            <a:pPr indent="0" lvl="0" marL="0" rtl="0" algn="l">
              <a:spcBef>
                <a:spcPts val="1600"/>
              </a:spcBef>
              <a:spcAft>
                <a:spcPts val="0"/>
              </a:spcAft>
              <a:buNone/>
            </a:pPr>
            <a:r>
              <a:rPr b="1" lang="it" u="sng"/>
              <a:t>It outlines, from a user’s point of view</a:t>
            </a:r>
            <a:r>
              <a:rPr lang="it" u="sng"/>
              <a:t>,</a:t>
            </a:r>
            <a:r>
              <a:rPr lang="it"/>
              <a:t> a system’s behavior as it responds to a request. </a:t>
            </a:r>
            <a:endParaRPr/>
          </a:p>
          <a:p>
            <a:pPr indent="0" lvl="0" marL="0" rtl="0" algn="l">
              <a:spcBef>
                <a:spcPts val="1600"/>
              </a:spcBef>
              <a:spcAft>
                <a:spcPts val="0"/>
              </a:spcAft>
              <a:buClr>
                <a:schemeClr val="dk1"/>
              </a:buClr>
              <a:buSzPts val="1100"/>
              <a:buFont typeface="Arial"/>
              <a:buNone/>
            </a:pPr>
            <a:r>
              <a:rPr lang="it" u="sng"/>
              <a:t>Each use case is represented as a sequence of simple steps</a:t>
            </a:r>
            <a:r>
              <a:rPr lang="it"/>
              <a:t>, beginning with a user's goal and ending when that goal is fulfilled.</a:t>
            </a:r>
            <a:endParaRPr/>
          </a:p>
          <a:p>
            <a:pPr indent="0" lvl="0" marL="0" rtl="0" algn="l">
              <a:spcBef>
                <a:spcPts val="1600"/>
              </a:spcBef>
              <a:spcAft>
                <a:spcPts val="160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6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Scenarios vs </a:t>
            </a:r>
            <a:r>
              <a:rPr lang="it"/>
              <a:t>Use Cases</a:t>
            </a:r>
            <a:endParaRPr/>
          </a:p>
        </p:txBody>
      </p:sp>
      <p:sp>
        <p:nvSpPr>
          <p:cNvPr id="348" name="Google Shape;348;p61"/>
          <p:cNvSpPr txBox="1"/>
          <p:nvPr>
            <p:ph idx="1" type="body"/>
          </p:nvPr>
        </p:nvSpPr>
        <p:spPr>
          <a:xfrm>
            <a:off x="311700" y="619075"/>
            <a:ext cx="8520600" cy="39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A Scenario</a:t>
            </a:r>
            <a:r>
              <a:rPr lang="it"/>
              <a:t> involves a </a:t>
            </a:r>
            <a:r>
              <a:rPr lang="it" u="sng"/>
              <a:t>situation</a:t>
            </a:r>
            <a:r>
              <a:rPr lang="it"/>
              <a:t> that may have single or multiple actors that take a given functionality or path to achieve their goal</a:t>
            </a:r>
            <a:endParaRPr/>
          </a:p>
          <a:p>
            <a:pPr indent="0" lvl="0" marL="0" rtl="0" algn="l">
              <a:spcBef>
                <a:spcPts val="1600"/>
              </a:spcBef>
              <a:spcAft>
                <a:spcPts val="0"/>
              </a:spcAft>
              <a:buClr>
                <a:schemeClr val="dk1"/>
              </a:buClr>
              <a:buSzPts val="1100"/>
              <a:buFont typeface="Arial"/>
              <a:buNone/>
            </a:pPr>
            <a:r>
              <a:rPr b="1" lang="it"/>
              <a:t>A use case</a:t>
            </a:r>
            <a:r>
              <a:rPr lang="it"/>
              <a:t> involves </a:t>
            </a:r>
            <a:r>
              <a:rPr lang="it" u="sng"/>
              <a:t>an actor</a:t>
            </a:r>
            <a:r>
              <a:rPr lang="it"/>
              <a:t> and </a:t>
            </a:r>
            <a:r>
              <a:rPr b="1" lang="it"/>
              <a:t>the flow</a:t>
            </a:r>
            <a:r>
              <a:rPr lang="it"/>
              <a:t> that a particular actor takes in a given functionality or path. </a:t>
            </a:r>
            <a:r>
              <a:rPr lang="it" u="sng"/>
              <a:t>These often get grouped so you have a "set" of use cases to account for each scenario.</a:t>
            </a:r>
            <a:endParaRPr sz="1150">
              <a:solidFill>
                <a:srgbClr val="242729"/>
              </a:solidFill>
              <a:highlight>
                <a:srgbClr val="FFFFFF"/>
              </a:highlight>
            </a:endParaRPr>
          </a:p>
          <a:p>
            <a:pPr indent="0" lvl="0" marL="0" rtl="0" algn="l">
              <a:spcBef>
                <a:spcPts val="1600"/>
              </a:spcBef>
              <a:spcAft>
                <a:spcPts val="0"/>
              </a:spcAft>
              <a:buNone/>
            </a:pPr>
            <a:r>
              <a:rPr b="1" lang="it"/>
              <a:t>T</a:t>
            </a:r>
            <a:r>
              <a:rPr b="1" lang="it"/>
              <a:t>he main difference is "perspective". </a:t>
            </a:r>
            <a:endParaRPr b="1"/>
          </a:p>
          <a:p>
            <a:pPr indent="0" lvl="0" marL="0" rtl="0" algn="l">
              <a:spcBef>
                <a:spcPts val="1600"/>
              </a:spcBef>
              <a:spcAft>
                <a:spcPts val="0"/>
              </a:spcAft>
              <a:buNone/>
            </a:pPr>
            <a:r>
              <a:rPr lang="it"/>
              <a:t>The use case is more granular than the scenario. </a:t>
            </a:r>
            <a:endParaRPr/>
          </a:p>
          <a:p>
            <a:pPr indent="0" lvl="0" marL="0" rtl="0" algn="l">
              <a:spcBef>
                <a:spcPts val="1600"/>
              </a:spcBef>
              <a:spcAft>
                <a:spcPts val="0"/>
              </a:spcAft>
              <a:buNone/>
            </a:pPr>
            <a:r>
              <a:rPr lang="it"/>
              <a:t>it usually involves coming up with a scenario and then defines all the use cases that fit into that particular scenario. </a:t>
            </a:r>
            <a:endParaRPr/>
          </a:p>
          <a:p>
            <a:pPr indent="0" lvl="0" marL="0" rtl="0" algn="l">
              <a:spcBef>
                <a:spcPts val="1600"/>
              </a:spcBef>
              <a:spcAft>
                <a:spcPts val="1600"/>
              </a:spcAft>
              <a:buNone/>
            </a:pPr>
            <a:r>
              <a:t/>
            </a:r>
            <a:endParaRPr i="1"/>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6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 cases</a:t>
            </a:r>
            <a:endParaRPr/>
          </a:p>
        </p:txBody>
      </p:sp>
      <p:sp>
        <p:nvSpPr>
          <p:cNvPr id="354" name="Google Shape;354;p6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 cases add value because </a:t>
            </a:r>
            <a:r>
              <a:rPr lang="it" u="sng"/>
              <a:t>they help explain how the system should behave and in the process</a:t>
            </a:r>
            <a:r>
              <a:rPr lang="it"/>
              <a:t>, they also help brainstorm what could go wrong.  </a:t>
            </a:r>
            <a:endParaRPr/>
          </a:p>
          <a:p>
            <a:pPr indent="0" lvl="0" marL="0" rtl="0" algn="l">
              <a:spcBef>
                <a:spcPts val="1600"/>
              </a:spcBef>
              <a:spcAft>
                <a:spcPts val="0"/>
              </a:spcAft>
              <a:buNone/>
            </a:pPr>
            <a:r>
              <a:rPr lang="it"/>
              <a:t>They </a:t>
            </a:r>
            <a:r>
              <a:rPr lang="it" u="sng"/>
              <a:t>provide a list of goals</a:t>
            </a:r>
            <a:r>
              <a:rPr lang="it"/>
              <a:t> and this list can be used to establish the cost and complexity of the system. </a:t>
            </a:r>
            <a:endParaRPr/>
          </a:p>
          <a:p>
            <a:pPr indent="0" lvl="0" marL="0" rtl="0" algn="l">
              <a:spcBef>
                <a:spcPts val="1600"/>
              </a:spcBef>
              <a:spcAft>
                <a:spcPts val="1600"/>
              </a:spcAft>
              <a:buNone/>
            </a:pPr>
            <a:r>
              <a:rPr lang="it"/>
              <a:t>Project teams can then negotiate which functions become requirements  and are built.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 cases</a:t>
            </a:r>
            <a:endParaRPr/>
          </a:p>
          <a:p>
            <a:pPr indent="0" lvl="0" marL="0" rtl="0" algn="l">
              <a:spcBef>
                <a:spcPts val="0"/>
              </a:spcBef>
              <a:spcAft>
                <a:spcPts val="0"/>
              </a:spcAft>
              <a:buNone/>
            </a:pPr>
            <a:r>
              <a:t/>
            </a:r>
            <a:endParaRPr/>
          </a:p>
        </p:txBody>
      </p:sp>
      <p:pic>
        <p:nvPicPr>
          <p:cNvPr id="360" name="Google Shape;360;p63"/>
          <p:cNvPicPr preferRelativeResize="0"/>
          <p:nvPr/>
        </p:nvPicPr>
        <p:blipFill>
          <a:blip r:embed="rId3">
            <a:alphaModFix/>
          </a:blip>
          <a:stretch>
            <a:fillRect/>
          </a:stretch>
        </p:blipFill>
        <p:spPr>
          <a:xfrm>
            <a:off x="732538" y="897703"/>
            <a:ext cx="7678919" cy="33481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Elements of a Use Case</a:t>
            </a:r>
            <a:endParaRPr/>
          </a:p>
        </p:txBody>
      </p:sp>
      <p:sp>
        <p:nvSpPr>
          <p:cNvPr id="366" name="Google Shape;366;p6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Depending on how in depth and complex you want or need to get, use cases describe a combination of the following elements:</a:t>
            </a:r>
            <a:endParaRPr/>
          </a:p>
          <a:p>
            <a:pPr indent="-342900" lvl="0" marL="457200" rtl="0" algn="l">
              <a:spcBef>
                <a:spcPts val="1600"/>
              </a:spcBef>
              <a:spcAft>
                <a:spcPts val="0"/>
              </a:spcAft>
              <a:buSzPts val="1800"/>
              <a:buChar char="●"/>
            </a:pPr>
            <a:r>
              <a:rPr b="1" lang="it"/>
              <a:t>Actor </a:t>
            </a:r>
            <a:r>
              <a:rPr lang="it"/>
              <a:t>– anyone or anything that performs a behavior (who is using the system)</a:t>
            </a:r>
            <a:endParaRPr/>
          </a:p>
          <a:p>
            <a:pPr indent="-342900" lvl="0" marL="457200" rtl="0" algn="l">
              <a:spcBef>
                <a:spcPts val="1600"/>
              </a:spcBef>
              <a:spcAft>
                <a:spcPts val="0"/>
              </a:spcAft>
              <a:buSzPts val="1800"/>
              <a:buChar char="●"/>
            </a:pPr>
            <a:r>
              <a:rPr b="1" lang="it"/>
              <a:t>Stakeholder </a:t>
            </a:r>
            <a:r>
              <a:rPr lang="it"/>
              <a:t>– someone or something with vested interests in the behavior of the system under discussion (SUD)</a:t>
            </a:r>
            <a:endParaRPr/>
          </a:p>
          <a:p>
            <a:pPr indent="-342900" lvl="0" marL="457200" rtl="0" algn="l">
              <a:spcBef>
                <a:spcPts val="1600"/>
              </a:spcBef>
              <a:spcAft>
                <a:spcPts val="0"/>
              </a:spcAft>
              <a:buSzPts val="1800"/>
              <a:buChar char="●"/>
            </a:pPr>
            <a:r>
              <a:rPr b="1" lang="it"/>
              <a:t>Primary Actor</a:t>
            </a:r>
            <a:r>
              <a:rPr lang="it"/>
              <a:t> – stakeholder who initiates an interaction with the system to achieve a goal</a:t>
            </a:r>
            <a:endParaRPr/>
          </a:p>
          <a:p>
            <a:pPr indent="-342900" lvl="0" marL="457200" rtl="0" algn="l">
              <a:spcBef>
                <a:spcPts val="1600"/>
              </a:spcBef>
              <a:spcAft>
                <a:spcPts val="0"/>
              </a:spcAft>
              <a:buSzPts val="1800"/>
              <a:buChar char="●"/>
            </a:pPr>
            <a:r>
              <a:rPr b="1" lang="it"/>
              <a:t>Preconditions </a:t>
            </a:r>
            <a:r>
              <a:rPr lang="it"/>
              <a:t>– what must be true or happen before and after the use case runs.</a:t>
            </a:r>
            <a:endParaRPr/>
          </a:p>
          <a:p>
            <a:pPr indent="0" lvl="0" marL="0" rtl="0" algn="l">
              <a:spcBef>
                <a:spcPts val="1600"/>
              </a:spcBef>
              <a:spcAft>
                <a:spcPts val="16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Elements of a Use Case</a:t>
            </a:r>
            <a:endParaRPr/>
          </a:p>
          <a:p>
            <a:pPr indent="0" lvl="0" marL="0" rtl="0" algn="l">
              <a:spcBef>
                <a:spcPts val="0"/>
              </a:spcBef>
              <a:spcAft>
                <a:spcPts val="0"/>
              </a:spcAft>
              <a:buNone/>
            </a:pPr>
            <a:r>
              <a:t/>
            </a:r>
            <a:endParaRPr/>
          </a:p>
        </p:txBody>
      </p:sp>
      <p:sp>
        <p:nvSpPr>
          <p:cNvPr id="372" name="Google Shape;372;p6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it"/>
              <a:t>Triggers </a:t>
            </a:r>
            <a:r>
              <a:rPr lang="it"/>
              <a:t>– this is the event that causes the use case to be initiated.</a:t>
            </a:r>
            <a:endParaRPr/>
          </a:p>
          <a:p>
            <a:pPr indent="-342900" lvl="0" marL="457200" rtl="0" algn="l">
              <a:spcBef>
                <a:spcPts val="1600"/>
              </a:spcBef>
              <a:spcAft>
                <a:spcPts val="0"/>
              </a:spcAft>
              <a:buSzPts val="1800"/>
              <a:buChar char="●"/>
            </a:pPr>
            <a:r>
              <a:rPr b="1" lang="it"/>
              <a:t>Main success scenarios [Basic Flow]</a:t>
            </a:r>
            <a:r>
              <a:rPr lang="it"/>
              <a:t> – use case in which nothing goes wrong.</a:t>
            </a:r>
            <a:endParaRPr/>
          </a:p>
          <a:p>
            <a:pPr indent="-342900" lvl="0" marL="457200" rtl="0" algn="l">
              <a:spcBef>
                <a:spcPts val="1600"/>
              </a:spcBef>
              <a:spcAft>
                <a:spcPts val="0"/>
              </a:spcAft>
              <a:buSzPts val="1800"/>
              <a:buChar char="●"/>
            </a:pPr>
            <a:r>
              <a:rPr b="1" lang="it"/>
              <a:t>Alternative paths [Alternative Flow]</a:t>
            </a:r>
            <a:r>
              <a:rPr lang="it"/>
              <a:t> – these paths are a variation on the main theme. These exceptions are what happen when things go wrong at the system level.</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 case?</a:t>
            </a:r>
            <a:endParaRPr/>
          </a:p>
        </p:txBody>
      </p:sp>
      <p:sp>
        <p:nvSpPr>
          <p:cNvPr id="378" name="Google Shape;378;p6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u="sng">
                <a:solidFill>
                  <a:schemeClr val="hlink"/>
                </a:solidFill>
                <a:hlinkClick r:id="rId3"/>
              </a:rPr>
              <a:t>https://www.youtube.com/watch?v=Ct-lOOUqmyY&amp;ab_channel=NowI%27veSeenEverything</a:t>
            </a:r>
            <a:r>
              <a:rPr lang="it"/>
              <a:t>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How to write a use case</a:t>
            </a:r>
            <a:endParaRPr/>
          </a:p>
        </p:txBody>
      </p:sp>
      <p:sp>
        <p:nvSpPr>
          <p:cNvPr id="384" name="Google Shape;384;p6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100" u="sng">
                <a:solidFill>
                  <a:schemeClr val="hlink"/>
                </a:solidFill>
                <a:hlinkClick r:id="rId3"/>
              </a:rPr>
              <a:t>https://www.usability.gov/how-to-and-tools/methods/use-cases.html</a:t>
            </a:r>
            <a:endParaRPr/>
          </a:p>
          <a:p>
            <a:pPr indent="0" lvl="0" marL="0" rtl="0" algn="l">
              <a:spcBef>
                <a:spcPts val="1600"/>
              </a:spcBef>
              <a:spcAft>
                <a:spcPts val="0"/>
              </a:spcAft>
              <a:buClr>
                <a:schemeClr val="dk1"/>
              </a:buClr>
              <a:buSzPts val="1100"/>
              <a:buFont typeface="Arial"/>
              <a:buNone/>
            </a:pPr>
            <a:r>
              <a:rPr lang="it"/>
              <a:t>Kenworthy (1997) outlines the following steps:</a:t>
            </a:r>
            <a:endParaRPr/>
          </a:p>
          <a:p>
            <a:pPr indent="-342900" lvl="0" marL="457200" rtl="0" algn="l">
              <a:spcBef>
                <a:spcPts val="1600"/>
              </a:spcBef>
              <a:spcAft>
                <a:spcPts val="0"/>
              </a:spcAft>
              <a:buSzPts val="1800"/>
              <a:buAutoNum type="arabicPeriod"/>
            </a:pPr>
            <a:r>
              <a:rPr lang="it"/>
              <a:t>Identify who is going to be using the website.</a:t>
            </a:r>
            <a:endParaRPr/>
          </a:p>
          <a:p>
            <a:pPr indent="-342900" lvl="0" marL="457200" rtl="0" algn="l">
              <a:spcBef>
                <a:spcPts val="1600"/>
              </a:spcBef>
              <a:spcAft>
                <a:spcPts val="0"/>
              </a:spcAft>
              <a:buSzPts val="1800"/>
              <a:buAutoNum type="arabicPeriod"/>
            </a:pPr>
            <a:r>
              <a:rPr lang="it"/>
              <a:t>Pick one of those users.</a:t>
            </a:r>
            <a:endParaRPr/>
          </a:p>
          <a:p>
            <a:pPr indent="-342900" lvl="0" marL="457200" rtl="0" algn="l">
              <a:spcBef>
                <a:spcPts val="1600"/>
              </a:spcBef>
              <a:spcAft>
                <a:spcPts val="0"/>
              </a:spcAft>
              <a:buSzPts val="1800"/>
              <a:buAutoNum type="arabicPeriod"/>
            </a:pPr>
            <a:r>
              <a:rPr lang="it"/>
              <a:t>Define what that user wants to do on the site. Each thing the use does on the site becomes a use case.</a:t>
            </a:r>
            <a:endParaRPr/>
          </a:p>
          <a:p>
            <a:pPr indent="-342900" lvl="0" marL="457200" rtl="0" algn="l">
              <a:spcBef>
                <a:spcPts val="1600"/>
              </a:spcBef>
              <a:spcAft>
                <a:spcPts val="0"/>
              </a:spcAft>
              <a:buSzPts val="1800"/>
              <a:buAutoNum type="arabicPeriod"/>
            </a:pPr>
            <a:r>
              <a:rPr lang="it"/>
              <a:t>For each use case, decide on the normal course of events when that user is using the site.</a:t>
            </a:r>
            <a:endParaRPr/>
          </a:p>
          <a:p>
            <a:pPr indent="0" lvl="0" marL="0" rtl="0" algn="l">
              <a:spcBef>
                <a:spcPts val="1600"/>
              </a:spcBef>
              <a:spcAft>
                <a:spcPts val="160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How to write a use case</a:t>
            </a:r>
            <a:endParaRPr/>
          </a:p>
        </p:txBody>
      </p:sp>
      <p:sp>
        <p:nvSpPr>
          <p:cNvPr id="390" name="Google Shape;390;p6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100" u="sng">
                <a:solidFill>
                  <a:schemeClr val="hlink"/>
                </a:solidFill>
                <a:hlinkClick r:id="rId3"/>
              </a:rPr>
              <a:t>https://www.usability.gov/how-to-and-tools/methods/use-cases.html</a:t>
            </a:r>
            <a:endParaRPr/>
          </a:p>
          <a:p>
            <a:pPr indent="0" lvl="0" marL="457200" rtl="0" algn="l">
              <a:spcBef>
                <a:spcPts val="1600"/>
              </a:spcBef>
              <a:spcAft>
                <a:spcPts val="0"/>
              </a:spcAft>
              <a:buNone/>
            </a:pPr>
            <a:r>
              <a:rPr lang="it"/>
              <a:t>5. </a:t>
            </a:r>
            <a:r>
              <a:rPr lang="it"/>
              <a:t>Describe the basic course in the description for the use case. Describe it in terms of what the user does and what the system does in response that the user should be aware of.</a:t>
            </a:r>
            <a:endParaRPr/>
          </a:p>
          <a:p>
            <a:pPr indent="0" lvl="0" marL="457200" rtl="0" algn="l">
              <a:spcBef>
                <a:spcPts val="1600"/>
              </a:spcBef>
              <a:spcAft>
                <a:spcPts val="0"/>
              </a:spcAft>
              <a:buNone/>
            </a:pPr>
            <a:r>
              <a:rPr lang="it"/>
              <a:t>6. When the basic course is described, consider alternate courses of events and add those to "extend" the use case.</a:t>
            </a:r>
            <a:endParaRPr/>
          </a:p>
          <a:p>
            <a:pPr indent="0" lvl="0" marL="457200" rtl="0" algn="l">
              <a:spcBef>
                <a:spcPts val="1600"/>
              </a:spcBef>
              <a:spcAft>
                <a:spcPts val="0"/>
              </a:spcAft>
              <a:buNone/>
            </a:pPr>
            <a:r>
              <a:rPr lang="it"/>
              <a:t>7. Look for commonalities among the use cases. Extract these and note them as common course use cases.</a:t>
            </a:r>
            <a:endParaRPr/>
          </a:p>
          <a:p>
            <a:pPr indent="0" lvl="0" marL="457200" rtl="0" algn="l">
              <a:spcBef>
                <a:spcPts val="1600"/>
              </a:spcBef>
              <a:spcAft>
                <a:spcPts val="0"/>
              </a:spcAft>
              <a:buNone/>
            </a:pPr>
            <a:r>
              <a:rPr lang="it"/>
              <a:t>8. Repeat the steps 2 through 7 for all other users.</a:t>
            </a:r>
            <a:endParaRPr/>
          </a:p>
          <a:p>
            <a:pPr indent="0" lvl="0" marL="0" rtl="0" algn="l">
              <a:spcBef>
                <a:spcPts val="1600"/>
              </a:spcBef>
              <a:spcAft>
                <a:spcPts val="0"/>
              </a:spcAft>
              <a:buNone/>
            </a:pPr>
            <a:r>
              <a:t/>
            </a:r>
            <a:endParaRPr/>
          </a:p>
          <a:p>
            <a:pPr indent="0" lvl="0" marL="45720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Takeaway</a:t>
            </a:r>
            <a:endParaRPr/>
          </a:p>
        </p:txBody>
      </p:sp>
      <p:sp>
        <p:nvSpPr>
          <p:cNvPr id="396" name="Google Shape;396;p6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Engaging in user persona, user story, scenario and/or use case development will help you to identify key information about your users and build products that will delight your users time and time again. </a:t>
            </a:r>
            <a:endParaRPr/>
          </a:p>
          <a:p>
            <a:pPr indent="0" lvl="0" marL="0" rtl="0" algn="l">
              <a:spcBef>
                <a:spcPts val="1600"/>
              </a:spcBef>
              <a:spcAft>
                <a:spcPts val="1600"/>
              </a:spcAft>
              <a:buNone/>
            </a:pPr>
            <a:r>
              <a:rPr b="1" lang="it"/>
              <a:t>Everything we do to get closer to users is a step in the right direction.</a:t>
            </a:r>
            <a:endParaRPr b="1"/>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7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examples</a:t>
            </a:r>
            <a:endParaRPr/>
          </a:p>
        </p:txBody>
      </p:sp>
      <p:sp>
        <p:nvSpPr>
          <p:cNvPr id="402" name="Google Shape;402;p7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100" u="sng">
                <a:solidFill>
                  <a:schemeClr val="hlink"/>
                </a:solidFill>
                <a:hlinkClick r:id="rId3"/>
              </a:rPr>
              <a:t>https://uxplanet.org/5-examples-of-brilliant-ux-design-8e847bf0bcc0</a:t>
            </a:r>
            <a:endParaRPr/>
          </a:p>
          <a:p>
            <a:pPr indent="0" lvl="0" marL="0" rtl="0" algn="l">
              <a:spcBef>
                <a:spcPts val="1600"/>
              </a:spcBef>
              <a:spcAft>
                <a:spcPts val="0"/>
              </a:spcAft>
              <a:buNone/>
            </a:pPr>
            <a:r>
              <a:rPr lang="it" sz="1100" u="sng">
                <a:solidFill>
                  <a:schemeClr val="hlink"/>
                </a:solidFill>
                <a:hlinkClick r:id="rId4"/>
              </a:rPr>
              <a:t>https://uxdesign.cc/fitbit-a-usability-case-study-b23e4c539c3c</a:t>
            </a:r>
            <a:endParaRPr/>
          </a:p>
          <a:p>
            <a:pPr indent="0" lvl="0" marL="0" rtl="0" algn="l">
              <a:spcBef>
                <a:spcPts val="1600"/>
              </a:spcBef>
              <a:spcAft>
                <a:spcPts val="1600"/>
              </a:spcAft>
              <a:buNone/>
            </a:pPr>
            <a:r>
              <a:rPr lang="it" sz="1100" u="sng">
                <a:solidFill>
                  <a:schemeClr val="hlink"/>
                </a:solidFill>
                <a:hlinkClick r:id="rId5"/>
              </a:rPr>
              <a:t>https://uxplanet.org/foodmix-cooking-app-ux-case-study-d046c1f5896b</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7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Hands-on activity</a:t>
            </a:r>
            <a:endParaRPr/>
          </a:p>
        </p:txBody>
      </p:sp>
      <p:sp>
        <p:nvSpPr>
          <p:cNvPr id="408" name="Google Shape;408;p7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Select</a:t>
            </a:r>
            <a:r>
              <a:rPr b="1" lang="it"/>
              <a:t> one </a:t>
            </a:r>
            <a:r>
              <a:rPr lang="it"/>
              <a:t>of the following app: </a:t>
            </a:r>
            <a:r>
              <a:rPr lang="it"/>
              <a:t>Notion, Trello, Canva, ChatGPT</a:t>
            </a:r>
            <a:endParaRPr/>
          </a:p>
          <a:p>
            <a:pPr indent="0" lvl="0" marL="0" rtl="0" algn="l">
              <a:spcBef>
                <a:spcPts val="1600"/>
              </a:spcBef>
              <a:spcAft>
                <a:spcPts val="0"/>
              </a:spcAft>
              <a:buNone/>
            </a:pPr>
            <a:r>
              <a:rPr lang="it"/>
              <a:t>and write:</a:t>
            </a:r>
            <a:endParaRPr/>
          </a:p>
          <a:p>
            <a:pPr indent="-342900" lvl="0" marL="457200" rtl="0" algn="l">
              <a:spcBef>
                <a:spcPts val="1600"/>
              </a:spcBef>
              <a:spcAft>
                <a:spcPts val="0"/>
              </a:spcAft>
              <a:buSzPts val="1800"/>
              <a:buChar char="●"/>
            </a:pPr>
            <a:r>
              <a:rPr lang="it"/>
              <a:t>3 personas</a:t>
            </a:r>
            <a:endParaRPr/>
          </a:p>
          <a:p>
            <a:pPr indent="-342900" lvl="0" marL="457200" rtl="0" algn="l">
              <a:spcBef>
                <a:spcPts val="0"/>
              </a:spcBef>
              <a:spcAft>
                <a:spcPts val="0"/>
              </a:spcAft>
              <a:buSzPts val="1800"/>
              <a:buChar char="●"/>
            </a:pPr>
            <a:r>
              <a:rPr lang="it"/>
              <a:t>3 user stories per persona</a:t>
            </a:r>
            <a:endParaRPr/>
          </a:p>
          <a:p>
            <a:pPr indent="-342900" lvl="0" marL="457200" rtl="0" algn="l">
              <a:spcBef>
                <a:spcPts val="0"/>
              </a:spcBef>
              <a:spcAft>
                <a:spcPts val="0"/>
              </a:spcAft>
              <a:buSzPts val="1800"/>
              <a:buChar char="●"/>
            </a:pPr>
            <a:r>
              <a:rPr lang="it"/>
              <a:t>rank personas and rank user stories (you can use the feature matrix)</a:t>
            </a:r>
            <a:endParaRPr/>
          </a:p>
          <a:p>
            <a:pPr indent="-342900" lvl="0" marL="457200" rtl="0" algn="l">
              <a:spcBef>
                <a:spcPts val="0"/>
              </a:spcBef>
              <a:spcAft>
                <a:spcPts val="0"/>
              </a:spcAft>
              <a:buSzPts val="1800"/>
              <a:buChar char="●"/>
            </a:pPr>
            <a:r>
              <a:rPr lang="it"/>
              <a:t>the scenario of the most important user story.</a:t>
            </a:r>
            <a:endParaRPr/>
          </a:p>
          <a:p>
            <a:pPr indent="0" lvl="0" marL="45720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