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9e183b752d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9e183b752d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9e183b752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9e183b752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9e183b752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9e183b752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9e183b752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9e183b752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9e183b752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9e183b752d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9e183b752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9e183b752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9e183b752d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9e183b752d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9e183b752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9e183b752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e183b752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e183b752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9e183b752d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9e183b752d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e183b752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9e183b752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9e183b752d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9e183b752d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9e183b752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9e183b752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e183b752d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e183b752d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9e183b752d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9e183b752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e183b752d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9e183b752d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9e183b752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9e183b752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9e183b752d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9e183b752d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9e183b752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9e183b752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 </a:t>
            </a:r>
            <a:r>
              <a:rPr lang="it" sz="1000"/>
              <a:t>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myharmony.com/en-e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it"/>
              <a:t>CONSTRAINTS,</a:t>
            </a:r>
            <a:endParaRPr/>
          </a:p>
          <a:p>
            <a:pPr indent="0" lvl="0" marL="0" rtl="0" algn="ctr">
              <a:spcBef>
                <a:spcPts val="0"/>
              </a:spcBef>
              <a:spcAft>
                <a:spcPts val="0"/>
              </a:spcAft>
              <a:buClr>
                <a:schemeClr val="dk1"/>
              </a:buClr>
              <a:buSzPts val="1100"/>
              <a:buFont typeface="Arial"/>
              <a:buNone/>
            </a:pPr>
            <a:r>
              <a:rPr lang="it"/>
              <a:t>DISCOVERABILITY</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CONSTRAINTS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67" name="Google Shape;67;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it"/>
              <a:t>How do we determine how to operate something that we have never seen before? </a:t>
            </a:r>
            <a:r>
              <a:rPr lang="it"/>
              <a:t>We have no choice but to </a:t>
            </a:r>
            <a:r>
              <a:rPr b="1" lang="it"/>
              <a:t>combine knowledge in the world with that in the head.</a:t>
            </a:r>
            <a:endParaRPr b="1"/>
          </a:p>
          <a:p>
            <a:pPr indent="0" lvl="0" marL="0" rtl="0" algn="l">
              <a:spcBef>
                <a:spcPts val="1600"/>
              </a:spcBef>
              <a:spcAft>
                <a:spcPts val="0"/>
              </a:spcAft>
              <a:buClr>
                <a:schemeClr val="dk1"/>
              </a:buClr>
              <a:buSzPts val="1100"/>
              <a:buFont typeface="Arial"/>
              <a:buNone/>
            </a:pPr>
            <a:r>
              <a:rPr lang="it"/>
              <a:t>Knowledge in the world includes perceived affordances and signifiers, the mappings between the parts that appear to be controls or places to manipulate and the resulting actions, and the physical constraints that limit what can be done.</a:t>
            </a:r>
            <a:endParaRPr/>
          </a:p>
          <a:p>
            <a:pPr indent="0" lvl="0" marL="0" rtl="0" algn="l">
              <a:spcBef>
                <a:spcPts val="1600"/>
              </a:spcBef>
              <a:spcAft>
                <a:spcPts val="0"/>
              </a:spcAft>
              <a:buClr>
                <a:schemeClr val="dk1"/>
              </a:buClr>
              <a:buSzPts val="1100"/>
              <a:buFont typeface="Arial"/>
              <a:buNone/>
            </a:pPr>
            <a:r>
              <a:rPr lang="it"/>
              <a:t>Knowledge in the head includes conceptual models; cultural, semantic, and logical constraints on behavior; and analogies between the current situation and previous experiences with other situations.</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73" name="Google Shape;73;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sizes and shapes of the parts suggested their operation. Physical constraints limited what parts would fit together. </a:t>
            </a:r>
            <a:endParaRPr/>
          </a:p>
          <a:p>
            <a:pPr indent="0" lvl="0" marL="0" rtl="0" algn="l">
              <a:spcBef>
                <a:spcPts val="1600"/>
              </a:spcBef>
              <a:spcAft>
                <a:spcPts val="1600"/>
              </a:spcAft>
              <a:buClr>
                <a:schemeClr val="dk1"/>
              </a:buClr>
              <a:buSzPts val="1100"/>
              <a:buFont typeface="Arial"/>
              <a:buNone/>
            </a:pPr>
            <a:r>
              <a:rPr lang="it"/>
              <a:t>Cultural and semantic constraints provided strong restrictions on what would make sense for all but one of the remaining pieces, and with just one piece left and only one place it could possibly go, simple logic...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80" name="Google Shape;80;p17"/>
          <p:cNvPicPr preferRelativeResize="0"/>
          <p:nvPr/>
        </p:nvPicPr>
        <p:blipFill>
          <a:blip r:embed="rId3">
            <a:alphaModFix/>
          </a:blip>
          <a:stretch>
            <a:fillRect/>
          </a:stretch>
        </p:blipFill>
        <p:spPr>
          <a:xfrm>
            <a:off x="897244" y="0"/>
            <a:ext cx="7349513"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Constraints</a:t>
            </a:r>
            <a:endParaRPr/>
          </a:p>
        </p:txBody>
      </p:sp>
      <p:sp>
        <p:nvSpPr>
          <p:cNvPr id="86" name="Google Shape;86;p18"/>
          <p:cNvSpPr txBox="1"/>
          <p:nvPr>
            <p:ph idx="1" type="body"/>
          </p:nvPr>
        </p:nvSpPr>
        <p:spPr>
          <a:xfrm>
            <a:off x="311700" y="1152475"/>
            <a:ext cx="5205900" cy="303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4 classes of constraints seem to be universal, appearing in a wide variety of situations: </a:t>
            </a:r>
            <a:endParaRPr/>
          </a:p>
          <a:p>
            <a:pPr indent="-342900" lvl="0" marL="457200" rtl="0" algn="l">
              <a:spcBef>
                <a:spcPts val="1600"/>
              </a:spcBef>
              <a:spcAft>
                <a:spcPts val="0"/>
              </a:spcAft>
              <a:buSzPts val="1800"/>
              <a:buChar char="●"/>
            </a:pPr>
            <a:r>
              <a:rPr lang="it"/>
              <a:t>physical</a:t>
            </a:r>
            <a:endParaRPr/>
          </a:p>
          <a:p>
            <a:pPr indent="-342900" lvl="0" marL="457200" rtl="0" algn="l">
              <a:spcBef>
                <a:spcPts val="0"/>
              </a:spcBef>
              <a:spcAft>
                <a:spcPts val="0"/>
              </a:spcAft>
              <a:buSzPts val="1800"/>
              <a:buChar char="●"/>
            </a:pPr>
            <a:r>
              <a:rPr lang="it"/>
              <a:t>cultural</a:t>
            </a:r>
            <a:endParaRPr/>
          </a:p>
          <a:p>
            <a:pPr indent="-342900" lvl="0" marL="457200" rtl="0" algn="l">
              <a:spcBef>
                <a:spcPts val="0"/>
              </a:spcBef>
              <a:spcAft>
                <a:spcPts val="0"/>
              </a:spcAft>
              <a:buSzPts val="1800"/>
              <a:buChar char="●"/>
            </a:pPr>
            <a:r>
              <a:rPr lang="it"/>
              <a:t>semantic</a:t>
            </a:r>
            <a:endParaRPr/>
          </a:p>
          <a:p>
            <a:pPr indent="-342900" lvl="0" marL="457200" rtl="0" algn="l">
              <a:spcBef>
                <a:spcPts val="0"/>
              </a:spcBef>
              <a:spcAft>
                <a:spcPts val="0"/>
              </a:spcAft>
              <a:buSzPts val="1800"/>
              <a:buChar char="●"/>
            </a:pPr>
            <a:r>
              <a:rPr lang="it"/>
              <a:t>logical</a:t>
            </a:r>
            <a:endParaRPr/>
          </a:p>
          <a:p>
            <a:pPr indent="0" lvl="0" marL="0" rtl="0" algn="l">
              <a:spcBef>
                <a:spcPts val="1600"/>
              </a:spcBef>
              <a:spcAft>
                <a:spcPts val="1600"/>
              </a:spcAft>
              <a:buClr>
                <a:schemeClr val="dk1"/>
              </a:buClr>
              <a:buSzPts val="1100"/>
              <a:buFont typeface="Arial"/>
              <a:buNone/>
            </a:pPr>
            <a:r>
              <a:rPr lang="it"/>
              <a:t>Constraints are powerful clues, limiting the set of possible actions. </a:t>
            </a:r>
            <a:endParaRPr/>
          </a:p>
        </p:txBody>
      </p:sp>
      <p:pic>
        <p:nvPicPr>
          <p:cNvPr id="87" name="Google Shape;87;p18"/>
          <p:cNvPicPr preferRelativeResize="0"/>
          <p:nvPr/>
        </p:nvPicPr>
        <p:blipFill>
          <a:blip r:embed="rId3">
            <a:alphaModFix/>
          </a:blip>
          <a:stretch>
            <a:fillRect/>
          </a:stretch>
        </p:blipFill>
        <p:spPr>
          <a:xfrm>
            <a:off x="5398750" y="1289550"/>
            <a:ext cx="3640624" cy="3033850"/>
          </a:xfrm>
          <a:prstGeom prst="rect">
            <a:avLst/>
          </a:prstGeom>
          <a:noFill/>
          <a:ln>
            <a:noFill/>
          </a:ln>
        </p:spPr>
      </p:pic>
      <p:sp>
        <p:nvSpPr>
          <p:cNvPr id="88" name="Google Shape;88;p18"/>
          <p:cNvSpPr txBox="1"/>
          <p:nvPr/>
        </p:nvSpPr>
        <p:spPr>
          <a:xfrm>
            <a:off x="279900" y="4171300"/>
            <a:ext cx="7341600" cy="12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800">
                <a:solidFill>
                  <a:schemeClr val="dk2"/>
                </a:solidFill>
              </a:rPr>
              <a:t>The thoughtful use of constraints in design lets people readily determine the proper course of action, even in a novel situation.</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4762" y="285750"/>
            <a:ext cx="6105525" cy="4572000"/>
          </a:xfrm>
          <a:prstGeom prst="rect">
            <a:avLst/>
          </a:prstGeom>
          <a:noFill/>
          <a:ln>
            <a:noFill/>
          </a:ln>
        </p:spPr>
      </p:pic>
      <p:pic>
        <p:nvPicPr>
          <p:cNvPr id="94" name="Google Shape;94;p19"/>
          <p:cNvPicPr preferRelativeResize="0"/>
          <p:nvPr/>
        </p:nvPicPr>
        <p:blipFill>
          <a:blip r:embed="rId4">
            <a:alphaModFix/>
          </a:blip>
          <a:stretch>
            <a:fillRect/>
          </a:stretch>
        </p:blipFill>
        <p:spPr>
          <a:xfrm>
            <a:off x="6090713" y="2533650"/>
            <a:ext cx="3095625" cy="2324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Lack of constraints and mapping</a:t>
            </a:r>
            <a:endParaRPr/>
          </a:p>
        </p:txBody>
      </p:sp>
      <p:sp>
        <p:nvSpPr>
          <p:cNvPr id="100" name="Google Shape;100;p20"/>
          <p:cNvSpPr txBox="1"/>
          <p:nvPr>
            <p:ph idx="1" type="body"/>
          </p:nvPr>
        </p:nvSpPr>
        <p:spPr>
          <a:xfrm>
            <a:off x="311700" y="1152475"/>
            <a:ext cx="4831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lack of clear communication among the people and organizations constructing parts of a system is perhaps the most common cause of complicated, confusing designs. </a:t>
            </a:r>
            <a:endParaRPr/>
          </a:p>
          <a:p>
            <a:pPr indent="0" lvl="0" marL="0" rtl="0" algn="l">
              <a:spcBef>
                <a:spcPts val="1600"/>
              </a:spcBef>
              <a:spcAft>
                <a:spcPts val="1600"/>
              </a:spcAft>
              <a:buClr>
                <a:schemeClr val="dk1"/>
              </a:buClr>
              <a:buSzPts val="1100"/>
              <a:buFont typeface="Arial"/>
              <a:buNone/>
            </a:pPr>
            <a:r>
              <a:rPr lang="it"/>
              <a:t>A usable design starts with careful observations of how the tasks being supported are actually performed, followed by a design process that results in a good fit to the actual ways the tasks get performed.</a:t>
            </a:r>
            <a:endParaRPr/>
          </a:p>
        </p:txBody>
      </p:sp>
      <p:pic>
        <p:nvPicPr>
          <p:cNvPr id="101" name="Google Shape;101;p20"/>
          <p:cNvPicPr preferRelativeResize="0"/>
          <p:nvPr/>
        </p:nvPicPr>
        <p:blipFill>
          <a:blip r:embed="rId3">
            <a:alphaModFix/>
          </a:blip>
          <a:stretch>
            <a:fillRect/>
          </a:stretch>
        </p:blipFill>
        <p:spPr>
          <a:xfrm>
            <a:off x="5500150" y="733475"/>
            <a:ext cx="3262275" cy="2081187"/>
          </a:xfrm>
          <a:prstGeom prst="rect">
            <a:avLst/>
          </a:prstGeom>
          <a:noFill/>
          <a:ln>
            <a:noFill/>
          </a:ln>
        </p:spPr>
      </p:pic>
      <p:pic>
        <p:nvPicPr>
          <p:cNvPr id="102" name="Google Shape;102;p20"/>
          <p:cNvPicPr preferRelativeResize="0"/>
          <p:nvPr/>
        </p:nvPicPr>
        <p:blipFill>
          <a:blip r:embed="rId4">
            <a:alphaModFix/>
          </a:blip>
          <a:stretch>
            <a:fillRect/>
          </a:stretch>
        </p:blipFill>
        <p:spPr>
          <a:xfrm>
            <a:off x="5500138" y="2654876"/>
            <a:ext cx="3255375" cy="2221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Constraints That Force the Desired Behavior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a:t>
            </a:r>
            <a:endParaRPr/>
          </a:p>
        </p:txBody>
      </p:sp>
      <p:sp>
        <p:nvSpPr>
          <p:cNvPr id="113" name="Google Shape;113;p2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Forcing functions </a:t>
            </a:r>
            <a:r>
              <a:rPr lang="it" u="sng"/>
              <a:t>are a form of physical constraint</a:t>
            </a:r>
            <a:r>
              <a:rPr lang="it"/>
              <a:t>: situations in which the actions are constrained so that failure at one stage prevents the next step from happening.</a:t>
            </a:r>
            <a:endParaRPr/>
          </a:p>
          <a:p>
            <a:pPr indent="0" lvl="0" marL="0" rtl="0" algn="l">
              <a:spcBef>
                <a:spcPts val="1600"/>
              </a:spcBef>
              <a:spcAft>
                <a:spcPts val="0"/>
              </a:spcAft>
              <a:buClr>
                <a:schemeClr val="dk1"/>
              </a:buClr>
              <a:buSzPts val="1100"/>
              <a:buFont typeface="Arial"/>
              <a:buNone/>
            </a:pPr>
            <a:r>
              <a:rPr lang="it"/>
              <a:t>Forcing functions are the </a:t>
            </a:r>
            <a:r>
              <a:rPr lang="it" u="sng"/>
              <a:t>extreme case of strong constraints that can prevent inappropriate behavior</a:t>
            </a:r>
            <a:r>
              <a:rPr lang="it"/>
              <a:t>. </a:t>
            </a:r>
            <a:endParaRPr/>
          </a:p>
          <a:p>
            <a:pPr indent="0" lvl="0" marL="0" rtl="0" algn="l">
              <a:spcBef>
                <a:spcPts val="1600"/>
              </a:spcBef>
              <a:spcAft>
                <a:spcPts val="0"/>
              </a:spcAft>
              <a:buClr>
                <a:schemeClr val="dk1"/>
              </a:buClr>
              <a:buSzPts val="1100"/>
              <a:buFont typeface="Arial"/>
              <a:buNone/>
            </a:pPr>
            <a:r>
              <a:rPr lang="it"/>
              <a:t>Not every situation allows such strong constraints to operate, but the general principle can be extended to a wide variety of situations.</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INTERLOCKS</a:t>
            </a:r>
            <a:endParaRPr/>
          </a:p>
        </p:txBody>
      </p:sp>
      <p:sp>
        <p:nvSpPr>
          <p:cNvPr id="119" name="Google Shape;119;p23"/>
          <p:cNvSpPr txBox="1"/>
          <p:nvPr>
            <p:ph idx="1" type="body"/>
          </p:nvPr>
        </p:nvSpPr>
        <p:spPr>
          <a:xfrm>
            <a:off x="311700" y="1152475"/>
            <a:ext cx="6814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An interlock forces operations to take place in proper sequence.</a:t>
            </a:r>
            <a:endParaRPr/>
          </a:p>
        </p:txBody>
      </p:sp>
      <p:pic>
        <p:nvPicPr>
          <p:cNvPr id="120" name="Google Shape;120;p23"/>
          <p:cNvPicPr preferRelativeResize="0"/>
          <p:nvPr/>
        </p:nvPicPr>
        <p:blipFill>
          <a:blip r:embed="rId3">
            <a:alphaModFix/>
          </a:blip>
          <a:stretch>
            <a:fillRect/>
          </a:stretch>
        </p:blipFill>
        <p:spPr>
          <a:xfrm>
            <a:off x="4768975" y="1831275"/>
            <a:ext cx="4296801" cy="3224624"/>
          </a:xfrm>
          <a:prstGeom prst="rect">
            <a:avLst/>
          </a:prstGeom>
          <a:noFill/>
          <a:ln>
            <a:noFill/>
          </a:ln>
        </p:spPr>
      </p:pic>
      <p:pic>
        <p:nvPicPr>
          <p:cNvPr id="121" name="Google Shape;121;p23"/>
          <p:cNvPicPr preferRelativeResize="0"/>
          <p:nvPr/>
        </p:nvPicPr>
        <p:blipFill>
          <a:blip r:embed="rId4">
            <a:alphaModFix/>
          </a:blip>
          <a:stretch>
            <a:fillRect/>
          </a:stretch>
        </p:blipFill>
        <p:spPr>
          <a:xfrm>
            <a:off x="464100" y="1831275"/>
            <a:ext cx="3829719" cy="3224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LOCK-INS</a:t>
            </a:r>
            <a:endParaRPr/>
          </a:p>
        </p:txBody>
      </p:sp>
      <p:sp>
        <p:nvSpPr>
          <p:cNvPr id="127" name="Google Shape;127;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 lock-in keeps an operation active, preventing someone from prematurely stopping it. </a:t>
            </a:r>
            <a:endParaRPr/>
          </a:p>
          <a:p>
            <a:pPr indent="0" lvl="0" marL="0" rtl="0" algn="l">
              <a:spcBef>
                <a:spcPts val="1600"/>
              </a:spcBef>
              <a:spcAft>
                <a:spcPts val="0"/>
              </a:spcAft>
              <a:buNone/>
            </a:pPr>
            <a:r>
              <a:rPr lang="it"/>
              <a:t>Standard lock-ins exist on many computer applications, where any attempt to exit the application without saving work is prevented by a message prompt asking whether that is what is really wanted </a:t>
            </a:r>
            <a:endParaRPr/>
          </a:p>
          <a:p>
            <a:pPr indent="0" lvl="0" marL="0" rtl="0" algn="l">
              <a:spcBef>
                <a:spcPts val="1600"/>
              </a:spcBef>
              <a:spcAft>
                <a:spcPts val="0"/>
              </a:spcAft>
              <a:buClr>
                <a:schemeClr val="dk1"/>
              </a:buClr>
              <a:buSzPts val="1100"/>
              <a:buFont typeface="Arial"/>
              <a:buNone/>
            </a:pPr>
            <a:r>
              <a:rPr lang="it"/>
              <a:t>These are so effective that people uses them </a:t>
            </a:r>
            <a:br>
              <a:rPr lang="it"/>
            </a:br>
            <a:r>
              <a:rPr lang="it"/>
              <a:t>deliberately as standard way of exiting. </a:t>
            </a:r>
            <a:br>
              <a:rPr lang="it"/>
            </a:br>
            <a:r>
              <a:rPr lang="it"/>
              <a:t>Rather than saving a file and then exiting the </a:t>
            </a:r>
            <a:br>
              <a:rPr lang="it"/>
            </a:br>
            <a:r>
              <a:rPr lang="it"/>
              <a:t>program</a:t>
            </a:r>
            <a:endParaRPr/>
          </a:p>
          <a:p>
            <a:pPr indent="0" lvl="0" marL="0" rtl="0" algn="l">
              <a:spcBef>
                <a:spcPts val="1600"/>
              </a:spcBef>
              <a:spcAft>
                <a:spcPts val="1600"/>
              </a:spcAft>
              <a:buNone/>
            </a:pPr>
            <a:r>
              <a:t/>
            </a:r>
            <a:endParaRPr/>
          </a:p>
        </p:txBody>
      </p:sp>
      <p:pic>
        <p:nvPicPr>
          <p:cNvPr id="128" name="Google Shape;128;p24"/>
          <p:cNvPicPr preferRelativeResize="0"/>
          <p:nvPr/>
        </p:nvPicPr>
        <p:blipFill>
          <a:blip r:embed="rId3">
            <a:alphaModFix/>
          </a:blip>
          <a:stretch>
            <a:fillRect/>
          </a:stretch>
        </p:blipFill>
        <p:spPr>
          <a:xfrm>
            <a:off x="5312000" y="2936088"/>
            <a:ext cx="3790950" cy="1819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FORCING FUNCTIONS: Lockout</a:t>
            </a:r>
            <a:endParaRPr/>
          </a:p>
        </p:txBody>
      </p:sp>
      <p:sp>
        <p:nvSpPr>
          <p:cNvPr id="134" name="Google Shape;134;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Whereas a lock-in keeps someone in a space or prevents an action until the desired operations have been done, a lockout prevents someone from entering a space that is dangerous, or prevents an event from occurring.</a:t>
            </a:r>
            <a:endParaRPr/>
          </a:p>
          <a:p>
            <a:pPr indent="0" lvl="0" marL="0" rtl="0" algn="l">
              <a:spcBef>
                <a:spcPts val="1600"/>
              </a:spcBef>
              <a:spcAft>
                <a:spcPts val="1600"/>
              </a:spcAft>
              <a:buNone/>
            </a:pPr>
            <a:r>
              <a:t/>
            </a:r>
            <a:endParaRPr/>
          </a:p>
        </p:txBody>
      </p:sp>
      <p:pic>
        <p:nvPicPr>
          <p:cNvPr id="135" name="Google Shape;135;p25"/>
          <p:cNvPicPr preferRelativeResize="0"/>
          <p:nvPr/>
        </p:nvPicPr>
        <p:blipFill>
          <a:blip r:embed="rId3">
            <a:alphaModFix/>
          </a:blip>
          <a:stretch>
            <a:fillRect/>
          </a:stretch>
        </p:blipFill>
        <p:spPr>
          <a:xfrm>
            <a:off x="1624000" y="1905000"/>
            <a:ext cx="5895975" cy="2781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ACTIVITY-CENTERED CONTROLS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Activity-centered design (ACD) is an extension of the Human-centered design paradigm in interaction design.</a:t>
            </a:r>
            <a:endParaRPr/>
          </a:p>
          <a:p>
            <a:pPr indent="0" lvl="0" marL="0" rtl="0" algn="l">
              <a:spcBef>
                <a:spcPts val="1600"/>
              </a:spcBef>
              <a:spcAft>
                <a:spcPts val="0"/>
              </a:spcAft>
              <a:buNone/>
            </a:pPr>
            <a:r>
              <a:rPr lang="it"/>
              <a:t>ACD features heavier emphasis on the activities that a user would perform with a given piece of technology. </a:t>
            </a:r>
            <a:endParaRPr/>
          </a:p>
          <a:p>
            <a:pPr indent="0" lvl="0" marL="0" rtl="0" algn="l">
              <a:spcBef>
                <a:spcPts val="1600"/>
              </a:spcBef>
              <a:spcAft>
                <a:spcPts val="0"/>
              </a:spcAft>
              <a:buNone/>
            </a:pPr>
            <a:r>
              <a:rPr lang="it"/>
              <a:t>ACD has its theoretical underpinnings in activity theory, from which activities can be defined as actions taken by a user to achieve a goal.</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b="1" lang="it"/>
              <a:t>It’s important to note that ACD is a model, not a process.</a:t>
            </a:r>
            <a:r>
              <a:rPr lang="it"/>
              <a:t> ACD is just one of many perspectives you can employ when designing.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Activity-Centered Controls</a:t>
            </a:r>
            <a:endParaRPr/>
          </a:p>
        </p:txBody>
      </p:sp>
      <p:sp>
        <p:nvSpPr>
          <p:cNvPr id="152" name="Google Shape;152;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Spatial mapping [of switches] is not always appropriate. </a:t>
            </a:r>
            <a:endParaRPr/>
          </a:p>
          <a:p>
            <a:pPr indent="0" lvl="0" marL="0" rtl="0" algn="l">
              <a:spcBef>
                <a:spcPts val="1600"/>
              </a:spcBef>
              <a:spcAft>
                <a:spcPts val="0"/>
              </a:spcAft>
              <a:buNone/>
            </a:pPr>
            <a:r>
              <a:rPr lang="it"/>
              <a:t>In many cases it is better to have [switches] that control activities: </a:t>
            </a:r>
            <a:r>
              <a:rPr b="1" lang="it"/>
              <a:t>activity-centered control. </a:t>
            </a:r>
            <a:endParaRPr b="1"/>
          </a:p>
          <a:p>
            <a:pPr indent="0" lvl="0" marL="0" rtl="0" algn="l">
              <a:spcBef>
                <a:spcPts val="1600"/>
              </a:spcBef>
              <a:spcAft>
                <a:spcPts val="0"/>
              </a:spcAft>
              <a:buClr>
                <a:schemeClr val="dk1"/>
              </a:buClr>
              <a:buSzPts val="1100"/>
              <a:buFont typeface="Arial"/>
              <a:buNone/>
            </a:pPr>
            <a:r>
              <a:rPr lang="it"/>
              <a:t>Many auditoriums in schools and companies have computer-based controls, with switches labeled with such phrases as “video,” “computer,” “full lights,” and “lecture.”</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Activity-Centered Controls</a:t>
            </a:r>
            <a:endParaRPr/>
          </a:p>
          <a:p>
            <a:pPr indent="0" lvl="0" marL="0" rtl="0" algn="l">
              <a:spcBef>
                <a:spcPts val="0"/>
              </a:spcBef>
              <a:spcAft>
                <a:spcPts val="0"/>
              </a:spcAft>
              <a:buNone/>
            </a:pPr>
            <a:r>
              <a:t/>
            </a:r>
            <a:endParaRPr/>
          </a:p>
        </p:txBody>
      </p:sp>
      <p:sp>
        <p:nvSpPr>
          <p:cNvPr id="158" name="Google Shape;158;p29"/>
          <p:cNvSpPr txBox="1"/>
          <p:nvPr>
            <p:ph idx="1" type="body"/>
          </p:nvPr>
        </p:nvSpPr>
        <p:spPr>
          <a:xfrm>
            <a:off x="311700" y="847675"/>
            <a:ext cx="8520600" cy="399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Activity-based controls are excellent in theory, but the practice is difficult to get right. </a:t>
            </a:r>
            <a:r>
              <a:rPr lang="it" u="sng"/>
              <a:t>When it is done badly, it creates difficulties.</a:t>
            </a:r>
            <a:endParaRPr u="sng"/>
          </a:p>
          <a:p>
            <a:pPr indent="0" lvl="0" marL="0" rtl="0" algn="l">
              <a:spcBef>
                <a:spcPts val="1600"/>
              </a:spcBef>
              <a:spcAft>
                <a:spcPts val="0"/>
              </a:spcAft>
              <a:buNone/>
            </a:pPr>
            <a:r>
              <a:rPr b="1" lang="it"/>
              <a:t>Activity-Centered Controls must be </a:t>
            </a:r>
            <a:r>
              <a:rPr b="1" lang="it" u="sng"/>
              <a:t>User-Activity-centered</a:t>
            </a:r>
            <a:endParaRPr b="1" sz="2800" u="sng">
              <a:solidFill>
                <a:schemeClr val="dk1"/>
              </a:solidFill>
            </a:endParaRPr>
          </a:p>
          <a:p>
            <a:pPr indent="0" lvl="0" marL="0" rtl="0" algn="l">
              <a:spcBef>
                <a:spcPts val="1600"/>
              </a:spcBef>
              <a:spcAft>
                <a:spcPts val="0"/>
              </a:spcAft>
              <a:buNone/>
            </a:pPr>
            <a:r>
              <a:rPr lang="it"/>
              <a:t>A related but </a:t>
            </a:r>
            <a:r>
              <a:rPr lang="it" u="sng"/>
              <a:t>wrong approach is to be device-centered</a:t>
            </a:r>
            <a:r>
              <a:rPr lang="it"/>
              <a:t> rather than user-activity-centered. </a:t>
            </a:r>
            <a:endParaRPr/>
          </a:p>
          <a:p>
            <a:pPr indent="0" lvl="0" marL="0" rtl="0" algn="l">
              <a:spcBef>
                <a:spcPts val="1600"/>
              </a:spcBef>
              <a:spcAft>
                <a:spcPts val="0"/>
              </a:spcAft>
              <a:buClr>
                <a:schemeClr val="dk1"/>
              </a:buClr>
              <a:buSzPts val="1100"/>
              <a:buFont typeface="Arial"/>
              <a:buNone/>
            </a:pPr>
            <a:r>
              <a:rPr lang="it"/>
              <a:t>When they are device-centered </a:t>
            </a:r>
            <a:r>
              <a:rPr lang="it" u="sng"/>
              <a:t>the user would need to know the technical model behind the system!</a:t>
            </a:r>
            <a:endParaRPr u="sng"/>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solidFill>
                  <a:schemeClr val="hlink"/>
                </a:solidFill>
                <a:hlinkClick r:id="rId3"/>
              </a:rPr>
              <a:t>https://www.myharmony.com/en-en/</a:t>
            </a:r>
            <a:endParaRPr/>
          </a:p>
          <a:p>
            <a:pPr indent="0" lvl="0" marL="0" rtl="0" algn="l">
              <a:spcBef>
                <a:spcPts val="1600"/>
              </a:spcBef>
              <a:spcAft>
                <a:spcPts val="0"/>
              </a:spcAft>
              <a:buNone/>
            </a:pPr>
            <a:r>
              <a:t/>
            </a:r>
            <a:endParaRPr/>
          </a:p>
          <a:p>
            <a:pPr indent="0" lvl="0" marL="0" rtl="0" algn="l">
              <a:spcBef>
                <a:spcPts val="1600"/>
              </a:spcBef>
              <a:spcAft>
                <a:spcPts val="0"/>
              </a:spcAft>
              <a:buNone/>
            </a:pPr>
            <a:r>
              <a:rPr i="1" lang="it"/>
              <a:t>“To program the Harmony, I simply went to their website, selected the brand and model number of all the equipment I owned (and yes, they had every item), and then connected my remote to the computer via the convenient USB cord. In a matter of minutes, my remote was programmed.”</a:t>
            </a:r>
            <a:endParaRPr i="1"/>
          </a:p>
          <a:p>
            <a:pPr indent="0" lvl="0" marL="0" rtl="0" algn="l">
              <a:spcBef>
                <a:spcPts val="1600"/>
              </a:spcBef>
              <a:spcAft>
                <a:spcPts val="0"/>
              </a:spcAft>
              <a:buNone/>
            </a:pPr>
            <a:r>
              <a:t/>
            </a:r>
            <a:endParaRPr i="1"/>
          </a:p>
          <a:p>
            <a:pPr indent="0" lvl="0" marL="0" rtl="0" algn="l">
              <a:spcBef>
                <a:spcPts val="1600"/>
              </a:spcBef>
              <a:spcAft>
                <a:spcPts val="1600"/>
              </a:spcAft>
              <a:buNone/>
            </a:pPr>
            <a:r>
              <a:rPr i="1" lang="it"/>
              <a:t>https://jnd.org/activity-centered_design_why_i_like_my_harmony_remote_control/</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it"/>
              <a:t>I still use the specialized remotes, because specialization always beats general purpose devices. But I use the Harmony to set up, to change activities, and at the end, to turn off the equipment. Once in an activity, however, then I usually prefer to use the specialized controller, with its joystick or wheel, for quite often the physical controls of the specialized remote are superior to the general purpose ones of the harmony. But getting to that point is where the difficulty arises, and this is the problem the Harmony solves.</a:t>
            </a:r>
            <a:endParaRPr i="1"/>
          </a:p>
          <a:p>
            <a:pPr indent="0" lvl="0" marL="0" rtl="0" algn="l">
              <a:spcBef>
                <a:spcPts val="1600"/>
              </a:spcBef>
              <a:spcAft>
                <a:spcPts val="0"/>
              </a:spcAft>
              <a:buNone/>
            </a:pPr>
            <a:r>
              <a:rPr i="1" lang="it"/>
              <a:t>So, I use the harmony to select the activity and setup all the equipment to the proper state. Then I get the one remote specialized for the device -- TiVo, Satellite receiver, or DVD player. And the remote for the lights. And then I am truly happy. When finished, I pick up the harmony and one button push turns off all the equipment (see note).</a:t>
            </a:r>
            <a:endParaRPr i="1"/>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